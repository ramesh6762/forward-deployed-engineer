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0e9fc0-223e-f6e7-356e-4bf63966477a}">
          <p14:sldIdLst>
            <p14:sldId id="256"/>
            <p14:sldId id="257"/>
          </p14:sldIdLst>
        </p14:section>
        <p14:section name="Data" id="{99a0646e-5d6f-2cd0-7b78-ce4027068137}">
          <p14:sldIdLst>
            <p14:sldId id="258"/>
            <p14:sldId id="259"/>
            <p14:sldId id="260"/>
            <p14:sldId id="261"/>
            <p14:sldId id="262"/>
          </p14:sldIdLst>
        </p14:section>
        <p14:section name="AI and ML" id="{c3a2e218-763d-fb9f-74a9-3cee4f050d19}">
          <p14:sldIdLst>
            <p14:sldId id="263"/>
            <p14:sldId id="264"/>
            <p14:sldId id="265"/>
            <p14:sldId id="266"/>
            <p14:sldId id="267"/>
            <p14:sldId id="268"/>
            <p14:sldId id="269"/>
            <p14:sldId id="270"/>
            <p14:sldId id="271"/>
          </p14:sldIdLst>
        </p14:section>
        <p14:section name="Deep Learning" id="{6ed1eee3-4e5c-5336-fe4b-b3d891dc63da}">
          <p14:sldIdLst>
            <p14:sldId id="272"/>
            <p14:sldId id="273"/>
            <p14:sldId id="274"/>
          </p14:sldIdLst>
        </p14:section>
        <p14:section name="Wrap-up" id="{3b0d042e-b2d8-6976-b879-b96c1d2b6970}">
          <p14:sldIdLst>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journey goes from raw data to intelligent systems. We will cover what data is, how AI, machine learning and deep learning relate, the key algorithms, real-world uses and how you can build a career in AI. Keep the tone friendly: no prior AI knowledge is needed.
Animation tip: Fade in the title, then the subtitle, then let the neural network graphic wipe in from the right (Wipe, From Right, After Previous).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seven learning goals. Ask the audience which one they care about most; it helps you tailor examples later.
Animation tip: Use a Fade, After Previous animation so the eight tiles appear one by one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simply recorded information about the world. Walk through the examples, then the pipeline at the bottom: data goes in, is collected, stored, processed and finally becomes insight. Insight is the point; data on its own has no value.
Animation tip: Reveal the seven example pills one at a time (Fade), then draw the pipeline left to right with Wipe, From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people love is powered by data. Netflix learns from viewing history, Amazon from purchases, Google from searches, and self-driving cars and medical AI from huge labelled collections of sensor data and images. No data, no AI.
Animation tip: Zoom-in (Zoom, After Previous) for each tile; finish with the banner using a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falls into three families depending on how organised it is. We will look at each in detail on the next slide.
Animation tip: Build the tree top-down: root first (Fade), then the connector lines (Wipe, From Top), then each branch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data fits neatly in tables, like a bank statement. Semi-structured data has tags but no fixed table, like JSON from an API. Unstructured data has no predefined format at all and is where most of the world's data lives, which is why deep learning matters so much. The 80 percent figure is a widely quoted industry estimate.
Animation tip: Show each column with a Fade, From Left in sequence; make the 80% number Zoom in for emphasis.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work is a loop, not a line. We collect, store, clean, process and analyse data, then train a model, deploy it and monitor it. Monitoring often reveals new data problems, which sends us back to the start. Most real projects spend more time on cleaning than on modelling.
Animation tip: Appear the eight numbered nodes clockwise, one per click, starting from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the broad goal of making machines act intelligently. The examples listed are everyday AI. Compare gently: the human brain is flexible and uses common sense; today's AI learns from data and is superb at specific tasks.
Animation tip: Fade in the definition card, then the example pills one by one, then flip the two brain cards in with a Split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AI in use today is narrow AI: excellent at specific jobs. General AI, which would match a human across any task, is still a research ambition. Super AI is a thought experiment. Be careful to separate hype from reality.
Animation tip: Draw the timeline arrow first (Wipe, From Left), then reveal each card as the arrow reaches its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not a tech-industry-only tool. Healthcare uses it for diagnosis, banks for fraud, telecom for network anomalies, factories for defects, retailers for forecasting, farms for crop disease and security teams for video analytics. Ask participants to name an example from their own domain.
Animation tip: Use Fade with a small delay (0.2 s) so tiles appear in a wave from top-left to bottom-right.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traditional programming a human writes the rules. In machine learning we show the computer many examples and it works out the rules itself. ML sits inside AI; deep learning sits inside ML. Example: a spam filter learns from thousands of labelled emails.
Animation tip: Show the nested circles from the outside in: AI, then ML (with a highlight Pulse), then 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recipe: gather data, train an algorithm on it, get a model, then use the model to predict. Concrete example: feed in area, location and number of rooms from thousands of sold houses, and the model learns to predict a price for a new house.
Animation tip: Animate left to right: flow boxes (Wipe), then feature pills (Fade), then lines and model, then the Price result with a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learning uses labelled examples, like emails marked spam. Unsupervised learning has no labels and finds structure by itself, like grouping customers. Reinforcement learning learns by trying actions and receiving rewards, like a game agent.
Animation tip: Fade each column in from the bottom (Fade, Up) one per click and discuss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classic supervised algorithms. Regression predicts numbers; classification predicts categories. Suggest starting with linear and logistic regression, then decision trees and random forests, which solve most business problems on tabular data.
Animation tip: Reveal the table row by row if your tool allows it, or fade the whole table in and highlight one row at a time while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Unsupervised algorithms look for structure without answers. K-Means and hierarchical clustering group similar items, DBSCAN finds dense regions and flags outliers, and PCA reduces many features to the few that matter. Typical uses: segmenting customers, discovering patterns and spotting anomalies.
Animation tip: Fade in the four algorithm cards together, then slide in the Applications panel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takes an action in an environment and receives a reward, then adjusts to earn more reward next time. This loop is how game-playing AIs and some robots learn. Recommendation systems also use it to learn what keeps users engaged.
Animation tip: Animate the loop in order: Agent, Action arrow, Environment, then the Reward return path (Wipe), so students see the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is machine learning with many-layered neural networks, which is why it is called deep. It learns useful features by itself from raw data such as pixels and sound, but it needs lots of data and powerful hardware such as GPUs.
Animation tip: Reuse the nested-circle build from the ML slide and finish with a Pulse on the inner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neural network is layers of simple units called neurons. The input layer receives data, hidden layers combine and transform it, and the output layer gives the prediction. The idea is inspired by how brain neurons connect and strengthen links as we learn; each connection in the network has a weight that training adjusts.
Animation tip: Build layer by layer from left to right (Wipe, From Left), then show the three explanation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CNNs excel at images, RNNs and LSTMs at sequences such as speech and time series, and Transformers power today's large language models such as ChatGPT, Copilot, Gemini and Claude. Transformers have largely replaced RNNs for language tasks.
Animation tip: Zoom in each of the four cards one per click,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summary chart. AI is the broadest idea, ML is the data-driven subset and DL is the neural-network subset that needs the most data and compute. The symbol in the top right shows the nesting: AI contains ML, which contains DL.
Animation tip: Highlight one column at a time (Fade the others to 40 percent) while you talk about AI, then ML, then 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project families you can build for a portfolio. Computer vision covers pole detection, surface-defect detection and OCR; NLP covers chatbots and document analysis; predictive analytics covers demand forecasting and churn; generative AI covers Copilot, ChatGPT and content creation.
Animation tip: Fade each quadrant in clockwise, starting from the top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Careers usually progress from analysis roles to building models to running AI in production. Demand labels here are general indications, not statistics; check current job boards and salary sites for your region before making decisions. Emphasise that people can enter at any tier depending on background.
Animation tip: Slide the three tiers in from the left one by one to show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seven-step path: programming, maths, data analysis, classic machine learning, deep learning, generative AI, then projects. Stress that projects are not only the last step: build a small project after each stage so the learning sticks and the portfolio grows.
Animation tip: Reveal steps one per click in order, with the connecting arrows wiping in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messages and end with the quote: the winners will be people who learn to work with AI. Invite the audience to pick one action for this week.
Animation tip: Fade the checklist items one by one, then bring in the quote with a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Good prompts: 'Which industry would you apply AI to first?' and 'Which roadmap step will you start this week?'. Share resources afterwards.
Animation tip: Fade in 'Thank you', then the question mark graphic with a gentle Pulse while you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1645920"/>
          </a:xfrm>
          <a:prstGeom prst="rect">
            <a:avLst/>
          </a:prstGeom>
          <a:noFill/>
          <a:ln/>
        </p:spPr>
        <p:txBody>
          <a:bodyPr wrap="square" lIns="0" tIns="0" rIns="0" bIns="0" rtlCol="0" anchor="t"/>
          <a:lstStyle/>
          <a:p>
            <a:pPr algn="l" indent="0" marL="0">
              <a:buNone/>
            </a:pPr>
            <a:r>
              <a:rPr lang="en-US" sz="4400" b="1" dirty="0">
                <a:solidFill>
                  <a:schemeClr val="bg1"/>
                </a:solidFill>
              </a:rPr>
              <a:t>From Data to Intelligence</a:t>
            </a:r>
            <a:endParaRPr lang="en-US" sz="4400" dirty="0"/>
          </a:p>
        </p:txBody>
      </p:sp>
      <p:sp>
        <p:nvSpPr>
          <p:cNvPr id="3" name="Text 1"/>
          <p:cNvSpPr txBox="1"/>
          <p:nvPr/>
        </p:nvSpPr>
        <p:spPr>
          <a:xfrm>
            <a:off x="548640" y="2880360"/>
            <a:ext cx="4480560" cy="822960"/>
          </a:xfrm>
          <a:prstGeom prst="rect">
            <a:avLst/>
          </a:prstGeom>
          <a:noFill/>
          <a:ln/>
        </p:spPr>
        <p:txBody>
          <a:bodyPr wrap="square" lIns="0" tIns="0" rIns="0" bIns="0" rtlCol="0" anchor="t"/>
          <a:lstStyle/>
          <a:p>
            <a:pPr indent="0" marL="0">
              <a:buNone/>
            </a:pPr>
            <a:r>
              <a:rPr lang="en-US" sz="1800" dirty="0">
                <a:solidFill>
                  <a:schemeClr val="bg2"/>
                </a:solidFill>
              </a:rPr>
              <a:t>Understanding Data, AI, Machine Learning and Deep Learning</a:t>
            </a:r>
            <a:endParaRPr lang="en-US" sz="1800" dirty="0"/>
          </a:p>
        </p:txBody>
      </p:sp>
      <p:sp>
        <p:nvSpPr>
          <p:cNvPr id="4" name="pill"/>
          <p:cNvSpPr/>
          <p:nvPr/>
        </p:nvSpPr>
        <p:spPr>
          <a:xfrm>
            <a:off x="548640" y="3931920"/>
            <a:ext cx="2926080" cy="411480"/>
          </a:xfrm>
          <a:prstGeom prst="roundRect">
            <a:avLst>
              <a:gd name="adj" fmla="val 50000"/>
            </a:avLst>
          </a:prstGeom>
          <a:solidFill>
            <a:schemeClr val="accent5"/>
          </a:solidFill>
          <a:ln w="12700">
            <a:solidFill>
              <a:schemeClr val="accent5"/>
            </a:solidFill>
            <a:prstDash val="solid"/>
          </a:ln>
        </p:spPr>
      </p:sp>
      <p:pic>
        <p:nvPicPr>
          <p:cNvPr id="5" name="Image 0" descr="rocket">    </p:cNvPr>
          <p:cNvPicPr>
            <a:picLocks noChangeAspect="1"/>
          </p:cNvPicPr>
          <p:nvPr/>
        </p:nvPicPr>
        <p:blipFill>
          <a:blip r:embed="rId1"/>
          <a:stretch>
            <a:fillRect/>
          </a:stretch>
        </p:blipFill>
        <p:spPr>
          <a:xfrm>
            <a:off x="685800" y="4027932"/>
            <a:ext cx="219456" cy="219456"/>
          </a:xfrm>
          <a:prstGeom prst="rect">
            <a:avLst/>
          </a:prstGeom>
        </p:spPr>
      </p:pic>
      <p:sp>
        <p:nvSpPr>
          <p:cNvPr id="6" name="Text 3"/>
          <p:cNvSpPr txBox="1"/>
          <p:nvPr/>
        </p:nvSpPr>
        <p:spPr>
          <a:xfrm>
            <a:off x="1005840" y="3931920"/>
            <a:ext cx="2377440" cy="411480"/>
          </a:xfrm>
          <a:prstGeom prst="rect">
            <a:avLst/>
          </a:prstGeom>
          <a:noFill/>
          <a:ln/>
        </p:spPr>
        <p:txBody>
          <a:bodyPr wrap="square" lIns="0" tIns="0" rIns="0" bIns="0" rtlCol="0" anchor="ctr"/>
          <a:lstStyle/>
          <a:p>
            <a:pPr indent="0" marL="0">
              <a:buNone/>
            </a:pPr>
            <a:r>
              <a:rPr lang="en-US" sz="1400" b="1" dirty="0">
                <a:solidFill>
                  <a:schemeClr val="tx1"/>
                </a:solidFill>
              </a:rPr>
              <a:t>AI Masterclass 2026</a:t>
            </a:r>
            <a:endParaRPr lang="en-US" sz="1400" dirty="0"/>
          </a:p>
        </p:txBody>
      </p:sp>
      <p:sp>
        <p:nvSpPr>
          <p:cNvPr id="7" name="connection"/>
          <p:cNvSpPr/>
          <p:nvPr/>
        </p:nvSpPr>
        <p:spPr>
          <a:xfrm flipV="1">
            <a:off x="5486400" y="1463040"/>
            <a:ext cx="1036320" cy="274320"/>
          </a:xfrm>
          <a:prstGeom prst="line">
            <a:avLst/>
          </a:prstGeom>
          <a:noFill/>
          <a:ln w="9525">
            <a:solidFill>
              <a:srgbClr val="9FA8F5"/>
            </a:solidFill>
            <a:prstDash val="solid"/>
          </a:ln>
        </p:spPr>
      </p:sp>
      <p:sp>
        <p:nvSpPr>
          <p:cNvPr id="8" name="connection"/>
          <p:cNvSpPr/>
          <p:nvPr/>
        </p:nvSpPr>
        <p:spPr>
          <a:xfrm>
            <a:off x="5486400" y="1737360"/>
            <a:ext cx="1036320" cy="274320"/>
          </a:xfrm>
          <a:prstGeom prst="line">
            <a:avLst/>
          </a:prstGeom>
          <a:noFill/>
          <a:ln w="9525">
            <a:solidFill>
              <a:srgbClr val="9FA8F5"/>
            </a:solidFill>
            <a:prstDash val="solid"/>
          </a:ln>
        </p:spPr>
      </p:sp>
      <p:sp>
        <p:nvSpPr>
          <p:cNvPr id="9" name="connection"/>
          <p:cNvSpPr/>
          <p:nvPr/>
        </p:nvSpPr>
        <p:spPr>
          <a:xfrm>
            <a:off x="5486400" y="1737360"/>
            <a:ext cx="1036320" cy="822960"/>
          </a:xfrm>
          <a:prstGeom prst="line">
            <a:avLst/>
          </a:prstGeom>
          <a:noFill/>
          <a:ln w="9525">
            <a:solidFill>
              <a:srgbClr val="9FA8F5"/>
            </a:solidFill>
            <a:prstDash val="solid"/>
          </a:ln>
        </p:spPr>
      </p:sp>
      <p:sp>
        <p:nvSpPr>
          <p:cNvPr id="10" name="connection"/>
          <p:cNvSpPr/>
          <p:nvPr/>
        </p:nvSpPr>
        <p:spPr>
          <a:xfrm>
            <a:off x="5486400" y="1737360"/>
            <a:ext cx="1036320" cy="1371600"/>
          </a:xfrm>
          <a:prstGeom prst="line">
            <a:avLst/>
          </a:prstGeom>
          <a:noFill/>
          <a:ln w="9525">
            <a:solidFill>
              <a:srgbClr val="9FA8F5"/>
            </a:solidFill>
            <a:prstDash val="solid"/>
          </a:ln>
        </p:spPr>
      </p:sp>
      <p:sp>
        <p:nvSpPr>
          <p:cNvPr id="11" name="connection"/>
          <p:cNvSpPr/>
          <p:nvPr/>
        </p:nvSpPr>
        <p:spPr>
          <a:xfrm>
            <a:off x="5486400" y="1737360"/>
            <a:ext cx="1036320" cy="1920240"/>
          </a:xfrm>
          <a:prstGeom prst="line">
            <a:avLst/>
          </a:prstGeom>
          <a:noFill/>
          <a:ln w="9525">
            <a:solidFill>
              <a:srgbClr val="9FA8F5"/>
            </a:solidFill>
            <a:prstDash val="solid"/>
          </a:ln>
        </p:spPr>
      </p:sp>
      <p:sp>
        <p:nvSpPr>
          <p:cNvPr id="12" name="connection"/>
          <p:cNvSpPr/>
          <p:nvPr/>
        </p:nvSpPr>
        <p:spPr>
          <a:xfrm flipV="1">
            <a:off x="5486400" y="1463040"/>
            <a:ext cx="1036320" cy="1097280"/>
          </a:xfrm>
          <a:prstGeom prst="line">
            <a:avLst/>
          </a:prstGeom>
          <a:noFill/>
          <a:ln w="9525">
            <a:solidFill>
              <a:srgbClr val="9FA8F5"/>
            </a:solidFill>
            <a:prstDash val="solid"/>
          </a:ln>
        </p:spPr>
      </p:sp>
      <p:sp>
        <p:nvSpPr>
          <p:cNvPr id="13" name="connection"/>
          <p:cNvSpPr/>
          <p:nvPr/>
        </p:nvSpPr>
        <p:spPr>
          <a:xfrm flipV="1">
            <a:off x="5486400" y="2011680"/>
            <a:ext cx="1036320" cy="548640"/>
          </a:xfrm>
          <a:prstGeom prst="line">
            <a:avLst/>
          </a:prstGeom>
          <a:noFill/>
          <a:ln w="9525">
            <a:solidFill>
              <a:srgbClr val="9FA8F5"/>
            </a:solidFill>
            <a:prstDash val="solid"/>
          </a:ln>
        </p:spPr>
      </p:sp>
      <p:sp>
        <p:nvSpPr>
          <p:cNvPr id="14" name="connection"/>
          <p:cNvSpPr/>
          <p:nvPr/>
        </p:nvSpPr>
        <p:spPr>
          <a:xfrm>
            <a:off x="5486400" y="2560320"/>
            <a:ext cx="1036320" cy="0"/>
          </a:xfrm>
          <a:prstGeom prst="line">
            <a:avLst/>
          </a:prstGeom>
          <a:noFill/>
          <a:ln w="9525">
            <a:solidFill>
              <a:srgbClr val="9FA8F5"/>
            </a:solidFill>
            <a:prstDash val="solid"/>
          </a:ln>
        </p:spPr>
      </p:sp>
      <p:sp>
        <p:nvSpPr>
          <p:cNvPr id="15" name="connection"/>
          <p:cNvSpPr/>
          <p:nvPr/>
        </p:nvSpPr>
        <p:spPr>
          <a:xfrm>
            <a:off x="5486400" y="2560320"/>
            <a:ext cx="1036320" cy="548640"/>
          </a:xfrm>
          <a:prstGeom prst="line">
            <a:avLst/>
          </a:prstGeom>
          <a:noFill/>
          <a:ln w="9525">
            <a:solidFill>
              <a:srgbClr val="9FA8F5"/>
            </a:solidFill>
            <a:prstDash val="solid"/>
          </a:ln>
        </p:spPr>
      </p:sp>
      <p:sp>
        <p:nvSpPr>
          <p:cNvPr id="16" name="connection"/>
          <p:cNvSpPr/>
          <p:nvPr/>
        </p:nvSpPr>
        <p:spPr>
          <a:xfrm>
            <a:off x="5486400" y="2560320"/>
            <a:ext cx="1036320" cy="1097280"/>
          </a:xfrm>
          <a:prstGeom prst="line">
            <a:avLst/>
          </a:prstGeom>
          <a:noFill/>
          <a:ln w="9525">
            <a:solidFill>
              <a:srgbClr val="9FA8F5"/>
            </a:solidFill>
            <a:prstDash val="solid"/>
          </a:ln>
        </p:spPr>
      </p:sp>
      <p:sp>
        <p:nvSpPr>
          <p:cNvPr id="17" name="connection"/>
          <p:cNvSpPr/>
          <p:nvPr/>
        </p:nvSpPr>
        <p:spPr>
          <a:xfrm flipV="1">
            <a:off x="5486400" y="1463040"/>
            <a:ext cx="1036320" cy="1920240"/>
          </a:xfrm>
          <a:prstGeom prst="line">
            <a:avLst/>
          </a:prstGeom>
          <a:noFill/>
          <a:ln w="9525">
            <a:solidFill>
              <a:srgbClr val="9FA8F5"/>
            </a:solidFill>
            <a:prstDash val="solid"/>
          </a:ln>
        </p:spPr>
      </p:sp>
      <p:sp>
        <p:nvSpPr>
          <p:cNvPr id="18" name="connection"/>
          <p:cNvSpPr/>
          <p:nvPr/>
        </p:nvSpPr>
        <p:spPr>
          <a:xfrm flipV="1">
            <a:off x="5486400" y="2011680"/>
            <a:ext cx="1036320" cy="1371600"/>
          </a:xfrm>
          <a:prstGeom prst="line">
            <a:avLst/>
          </a:prstGeom>
          <a:noFill/>
          <a:ln w="9525">
            <a:solidFill>
              <a:srgbClr val="9FA8F5"/>
            </a:solidFill>
            <a:prstDash val="solid"/>
          </a:ln>
        </p:spPr>
      </p:sp>
      <p:sp>
        <p:nvSpPr>
          <p:cNvPr id="19" name="connection"/>
          <p:cNvSpPr/>
          <p:nvPr/>
        </p:nvSpPr>
        <p:spPr>
          <a:xfrm flipV="1">
            <a:off x="5486400" y="2560320"/>
            <a:ext cx="1036320" cy="822960"/>
          </a:xfrm>
          <a:prstGeom prst="line">
            <a:avLst/>
          </a:prstGeom>
          <a:noFill/>
          <a:ln w="9525">
            <a:solidFill>
              <a:srgbClr val="9FA8F5"/>
            </a:solidFill>
            <a:prstDash val="solid"/>
          </a:ln>
        </p:spPr>
      </p:sp>
      <p:sp>
        <p:nvSpPr>
          <p:cNvPr id="20" name="connection"/>
          <p:cNvSpPr/>
          <p:nvPr/>
        </p:nvSpPr>
        <p:spPr>
          <a:xfrm flipV="1">
            <a:off x="5486400" y="3108960"/>
            <a:ext cx="1036320" cy="274320"/>
          </a:xfrm>
          <a:prstGeom prst="line">
            <a:avLst/>
          </a:prstGeom>
          <a:noFill/>
          <a:ln w="9525">
            <a:solidFill>
              <a:srgbClr val="9FA8F5"/>
            </a:solidFill>
            <a:prstDash val="solid"/>
          </a:ln>
        </p:spPr>
      </p:sp>
      <p:sp>
        <p:nvSpPr>
          <p:cNvPr id="21" name="connection"/>
          <p:cNvSpPr/>
          <p:nvPr/>
        </p:nvSpPr>
        <p:spPr>
          <a:xfrm>
            <a:off x="5486400" y="3383280"/>
            <a:ext cx="1036320" cy="274320"/>
          </a:xfrm>
          <a:prstGeom prst="line">
            <a:avLst/>
          </a:prstGeom>
          <a:noFill/>
          <a:ln w="9525">
            <a:solidFill>
              <a:srgbClr val="9FA8F5"/>
            </a:solidFill>
            <a:prstDash val="solid"/>
          </a:ln>
        </p:spPr>
      </p:sp>
      <p:sp>
        <p:nvSpPr>
          <p:cNvPr id="22" name="connection"/>
          <p:cNvSpPr/>
          <p:nvPr/>
        </p:nvSpPr>
        <p:spPr>
          <a:xfrm>
            <a:off x="6522720" y="1463040"/>
            <a:ext cx="1036320" cy="0"/>
          </a:xfrm>
          <a:prstGeom prst="line">
            <a:avLst/>
          </a:prstGeom>
          <a:noFill/>
          <a:ln w="9525">
            <a:solidFill>
              <a:srgbClr val="9FA8F5"/>
            </a:solidFill>
            <a:prstDash val="solid"/>
          </a:ln>
        </p:spPr>
      </p:sp>
      <p:sp>
        <p:nvSpPr>
          <p:cNvPr id="23" name="connection"/>
          <p:cNvSpPr/>
          <p:nvPr/>
        </p:nvSpPr>
        <p:spPr>
          <a:xfrm>
            <a:off x="6522720" y="1463040"/>
            <a:ext cx="1036320" cy="548640"/>
          </a:xfrm>
          <a:prstGeom prst="line">
            <a:avLst/>
          </a:prstGeom>
          <a:noFill/>
          <a:ln w="9525">
            <a:solidFill>
              <a:srgbClr val="9FA8F5"/>
            </a:solidFill>
            <a:prstDash val="solid"/>
          </a:ln>
        </p:spPr>
      </p:sp>
      <p:sp>
        <p:nvSpPr>
          <p:cNvPr id="24" name="connection"/>
          <p:cNvSpPr/>
          <p:nvPr/>
        </p:nvSpPr>
        <p:spPr>
          <a:xfrm>
            <a:off x="6522720" y="1463040"/>
            <a:ext cx="1036320" cy="1097280"/>
          </a:xfrm>
          <a:prstGeom prst="line">
            <a:avLst/>
          </a:prstGeom>
          <a:noFill/>
          <a:ln w="9525">
            <a:solidFill>
              <a:srgbClr val="9FA8F5"/>
            </a:solidFill>
            <a:prstDash val="solid"/>
          </a:ln>
        </p:spPr>
      </p:sp>
      <p:sp>
        <p:nvSpPr>
          <p:cNvPr id="25" name="connection"/>
          <p:cNvSpPr/>
          <p:nvPr/>
        </p:nvSpPr>
        <p:spPr>
          <a:xfrm>
            <a:off x="6522720" y="1463040"/>
            <a:ext cx="1036320" cy="1645920"/>
          </a:xfrm>
          <a:prstGeom prst="line">
            <a:avLst/>
          </a:prstGeom>
          <a:noFill/>
          <a:ln w="9525">
            <a:solidFill>
              <a:srgbClr val="9FA8F5"/>
            </a:solidFill>
            <a:prstDash val="solid"/>
          </a:ln>
        </p:spPr>
      </p:sp>
      <p:sp>
        <p:nvSpPr>
          <p:cNvPr id="26" name="connection"/>
          <p:cNvSpPr/>
          <p:nvPr/>
        </p:nvSpPr>
        <p:spPr>
          <a:xfrm>
            <a:off x="6522720" y="1463040"/>
            <a:ext cx="1036320" cy="2194560"/>
          </a:xfrm>
          <a:prstGeom prst="line">
            <a:avLst/>
          </a:prstGeom>
          <a:noFill/>
          <a:ln w="9525">
            <a:solidFill>
              <a:srgbClr val="9FA8F5"/>
            </a:solidFill>
            <a:prstDash val="solid"/>
          </a:ln>
        </p:spPr>
      </p:sp>
      <p:sp>
        <p:nvSpPr>
          <p:cNvPr id="27" name="connection"/>
          <p:cNvSpPr/>
          <p:nvPr/>
        </p:nvSpPr>
        <p:spPr>
          <a:xfrm flipV="1">
            <a:off x="6522720" y="1463040"/>
            <a:ext cx="1036320" cy="548640"/>
          </a:xfrm>
          <a:prstGeom prst="line">
            <a:avLst/>
          </a:prstGeom>
          <a:noFill/>
          <a:ln w="9525">
            <a:solidFill>
              <a:srgbClr val="9FA8F5"/>
            </a:solidFill>
            <a:prstDash val="solid"/>
          </a:ln>
        </p:spPr>
      </p:sp>
      <p:sp>
        <p:nvSpPr>
          <p:cNvPr id="28" name="connection"/>
          <p:cNvSpPr/>
          <p:nvPr/>
        </p:nvSpPr>
        <p:spPr>
          <a:xfrm>
            <a:off x="6522720" y="2011680"/>
            <a:ext cx="1036320" cy="0"/>
          </a:xfrm>
          <a:prstGeom prst="line">
            <a:avLst/>
          </a:prstGeom>
          <a:noFill/>
          <a:ln w="9525">
            <a:solidFill>
              <a:srgbClr val="9FA8F5"/>
            </a:solidFill>
            <a:prstDash val="solid"/>
          </a:ln>
        </p:spPr>
      </p:sp>
      <p:sp>
        <p:nvSpPr>
          <p:cNvPr id="29" name="connection"/>
          <p:cNvSpPr/>
          <p:nvPr/>
        </p:nvSpPr>
        <p:spPr>
          <a:xfrm>
            <a:off x="6522720" y="2011680"/>
            <a:ext cx="1036320" cy="548640"/>
          </a:xfrm>
          <a:prstGeom prst="line">
            <a:avLst/>
          </a:prstGeom>
          <a:noFill/>
          <a:ln w="9525">
            <a:solidFill>
              <a:srgbClr val="9FA8F5"/>
            </a:solidFill>
            <a:prstDash val="solid"/>
          </a:ln>
        </p:spPr>
      </p:sp>
      <p:sp>
        <p:nvSpPr>
          <p:cNvPr id="30" name="connection"/>
          <p:cNvSpPr/>
          <p:nvPr/>
        </p:nvSpPr>
        <p:spPr>
          <a:xfrm>
            <a:off x="6522720" y="2011680"/>
            <a:ext cx="1036320" cy="1097280"/>
          </a:xfrm>
          <a:prstGeom prst="line">
            <a:avLst/>
          </a:prstGeom>
          <a:noFill/>
          <a:ln w="9525">
            <a:solidFill>
              <a:srgbClr val="9FA8F5"/>
            </a:solidFill>
            <a:prstDash val="solid"/>
          </a:ln>
        </p:spPr>
      </p:sp>
      <p:sp>
        <p:nvSpPr>
          <p:cNvPr id="31" name="connection"/>
          <p:cNvSpPr/>
          <p:nvPr/>
        </p:nvSpPr>
        <p:spPr>
          <a:xfrm>
            <a:off x="6522720" y="2011680"/>
            <a:ext cx="1036320" cy="1645920"/>
          </a:xfrm>
          <a:prstGeom prst="line">
            <a:avLst/>
          </a:prstGeom>
          <a:noFill/>
          <a:ln w="9525">
            <a:solidFill>
              <a:srgbClr val="9FA8F5"/>
            </a:solidFill>
            <a:prstDash val="solid"/>
          </a:ln>
        </p:spPr>
      </p:sp>
      <p:sp>
        <p:nvSpPr>
          <p:cNvPr id="32" name="connection"/>
          <p:cNvSpPr/>
          <p:nvPr/>
        </p:nvSpPr>
        <p:spPr>
          <a:xfrm flipV="1">
            <a:off x="6522720" y="1463040"/>
            <a:ext cx="1036320" cy="1097280"/>
          </a:xfrm>
          <a:prstGeom prst="line">
            <a:avLst/>
          </a:prstGeom>
          <a:noFill/>
          <a:ln w="9525">
            <a:solidFill>
              <a:srgbClr val="9FA8F5"/>
            </a:solidFill>
            <a:prstDash val="solid"/>
          </a:ln>
        </p:spPr>
      </p:sp>
      <p:sp>
        <p:nvSpPr>
          <p:cNvPr id="33" name="connection"/>
          <p:cNvSpPr/>
          <p:nvPr/>
        </p:nvSpPr>
        <p:spPr>
          <a:xfrm flipV="1">
            <a:off x="6522720" y="2011680"/>
            <a:ext cx="1036320" cy="548640"/>
          </a:xfrm>
          <a:prstGeom prst="line">
            <a:avLst/>
          </a:prstGeom>
          <a:noFill/>
          <a:ln w="9525">
            <a:solidFill>
              <a:srgbClr val="9FA8F5"/>
            </a:solidFill>
            <a:prstDash val="solid"/>
          </a:ln>
        </p:spPr>
      </p:sp>
      <p:sp>
        <p:nvSpPr>
          <p:cNvPr id="34" name="connection"/>
          <p:cNvSpPr/>
          <p:nvPr/>
        </p:nvSpPr>
        <p:spPr>
          <a:xfrm>
            <a:off x="6522720" y="2560320"/>
            <a:ext cx="1036320" cy="0"/>
          </a:xfrm>
          <a:prstGeom prst="line">
            <a:avLst/>
          </a:prstGeom>
          <a:noFill/>
          <a:ln w="9525">
            <a:solidFill>
              <a:srgbClr val="9FA8F5"/>
            </a:solidFill>
            <a:prstDash val="solid"/>
          </a:ln>
        </p:spPr>
      </p:sp>
      <p:sp>
        <p:nvSpPr>
          <p:cNvPr id="35" name="connection"/>
          <p:cNvSpPr/>
          <p:nvPr/>
        </p:nvSpPr>
        <p:spPr>
          <a:xfrm>
            <a:off x="6522720" y="2560320"/>
            <a:ext cx="1036320" cy="548640"/>
          </a:xfrm>
          <a:prstGeom prst="line">
            <a:avLst/>
          </a:prstGeom>
          <a:noFill/>
          <a:ln w="9525">
            <a:solidFill>
              <a:srgbClr val="9FA8F5"/>
            </a:solidFill>
            <a:prstDash val="solid"/>
          </a:ln>
        </p:spPr>
      </p:sp>
      <p:sp>
        <p:nvSpPr>
          <p:cNvPr id="36" name="connection"/>
          <p:cNvSpPr/>
          <p:nvPr/>
        </p:nvSpPr>
        <p:spPr>
          <a:xfrm>
            <a:off x="6522720" y="2560320"/>
            <a:ext cx="1036320" cy="1097280"/>
          </a:xfrm>
          <a:prstGeom prst="line">
            <a:avLst/>
          </a:prstGeom>
          <a:noFill/>
          <a:ln w="9525">
            <a:solidFill>
              <a:srgbClr val="9FA8F5"/>
            </a:solidFill>
            <a:prstDash val="solid"/>
          </a:ln>
        </p:spPr>
      </p:sp>
      <p:sp>
        <p:nvSpPr>
          <p:cNvPr id="37" name="connection"/>
          <p:cNvSpPr/>
          <p:nvPr/>
        </p:nvSpPr>
        <p:spPr>
          <a:xfrm flipV="1">
            <a:off x="6522720" y="1463040"/>
            <a:ext cx="1036320" cy="1645920"/>
          </a:xfrm>
          <a:prstGeom prst="line">
            <a:avLst/>
          </a:prstGeom>
          <a:noFill/>
          <a:ln w="9525">
            <a:solidFill>
              <a:srgbClr val="9FA8F5"/>
            </a:solidFill>
            <a:prstDash val="solid"/>
          </a:ln>
        </p:spPr>
      </p:sp>
      <p:sp>
        <p:nvSpPr>
          <p:cNvPr id="38" name="connection"/>
          <p:cNvSpPr/>
          <p:nvPr/>
        </p:nvSpPr>
        <p:spPr>
          <a:xfrm flipV="1">
            <a:off x="6522720" y="2011680"/>
            <a:ext cx="1036320" cy="1097280"/>
          </a:xfrm>
          <a:prstGeom prst="line">
            <a:avLst/>
          </a:prstGeom>
          <a:noFill/>
          <a:ln w="9525">
            <a:solidFill>
              <a:srgbClr val="9FA8F5"/>
            </a:solidFill>
            <a:prstDash val="solid"/>
          </a:ln>
        </p:spPr>
      </p:sp>
      <p:sp>
        <p:nvSpPr>
          <p:cNvPr id="39" name="connection"/>
          <p:cNvSpPr/>
          <p:nvPr/>
        </p:nvSpPr>
        <p:spPr>
          <a:xfrm flipV="1">
            <a:off x="6522720" y="2560320"/>
            <a:ext cx="1036320" cy="548640"/>
          </a:xfrm>
          <a:prstGeom prst="line">
            <a:avLst/>
          </a:prstGeom>
          <a:noFill/>
          <a:ln w="9525">
            <a:solidFill>
              <a:srgbClr val="9FA8F5"/>
            </a:solidFill>
            <a:prstDash val="solid"/>
          </a:ln>
        </p:spPr>
      </p:sp>
      <p:sp>
        <p:nvSpPr>
          <p:cNvPr id="40" name="connection"/>
          <p:cNvSpPr/>
          <p:nvPr/>
        </p:nvSpPr>
        <p:spPr>
          <a:xfrm>
            <a:off x="6522720" y="3108960"/>
            <a:ext cx="1036320" cy="0"/>
          </a:xfrm>
          <a:prstGeom prst="line">
            <a:avLst/>
          </a:prstGeom>
          <a:noFill/>
          <a:ln w="9525">
            <a:solidFill>
              <a:srgbClr val="9FA8F5"/>
            </a:solidFill>
            <a:prstDash val="solid"/>
          </a:ln>
        </p:spPr>
      </p:sp>
      <p:sp>
        <p:nvSpPr>
          <p:cNvPr id="41" name="connection"/>
          <p:cNvSpPr/>
          <p:nvPr/>
        </p:nvSpPr>
        <p:spPr>
          <a:xfrm>
            <a:off x="6522720" y="3108960"/>
            <a:ext cx="1036320" cy="548640"/>
          </a:xfrm>
          <a:prstGeom prst="line">
            <a:avLst/>
          </a:prstGeom>
          <a:noFill/>
          <a:ln w="9525">
            <a:solidFill>
              <a:srgbClr val="9FA8F5"/>
            </a:solidFill>
            <a:prstDash val="solid"/>
          </a:ln>
        </p:spPr>
      </p:sp>
      <p:sp>
        <p:nvSpPr>
          <p:cNvPr id="42" name="connection"/>
          <p:cNvSpPr/>
          <p:nvPr/>
        </p:nvSpPr>
        <p:spPr>
          <a:xfrm flipV="1">
            <a:off x="6522720" y="1463040"/>
            <a:ext cx="1036320" cy="2194560"/>
          </a:xfrm>
          <a:prstGeom prst="line">
            <a:avLst/>
          </a:prstGeom>
          <a:noFill/>
          <a:ln w="9525">
            <a:solidFill>
              <a:srgbClr val="9FA8F5"/>
            </a:solidFill>
            <a:prstDash val="solid"/>
          </a:ln>
        </p:spPr>
      </p:sp>
      <p:sp>
        <p:nvSpPr>
          <p:cNvPr id="43" name="connection"/>
          <p:cNvSpPr/>
          <p:nvPr/>
        </p:nvSpPr>
        <p:spPr>
          <a:xfrm flipV="1">
            <a:off x="6522720" y="2011680"/>
            <a:ext cx="1036320" cy="1645920"/>
          </a:xfrm>
          <a:prstGeom prst="line">
            <a:avLst/>
          </a:prstGeom>
          <a:noFill/>
          <a:ln w="9525">
            <a:solidFill>
              <a:srgbClr val="9FA8F5"/>
            </a:solidFill>
            <a:prstDash val="solid"/>
          </a:ln>
        </p:spPr>
      </p:sp>
      <p:sp>
        <p:nvSpPr>
          <p:cNvPr id="44" name="connection"/>
          <p:cNvSpPr/>
          <p:nvPr/>
        </p:nvSpPr>
        <p:spPr>
          <a:xfrm flipV="1">
            <a:off x="6522720" y="2560320"/>
            <a:ext cx="1036320" cy="1097280"/>
          </a:xfrm>
          <a:prstGeom prst="line">
            <a:avLst/>
          </a:prstGeom>
          <a:noFill/>
          <a:ln w="9525">
            <a:solidFill>
              <a:srgbClr val="9FA8F5"/>
            </a:solidFill>
            <a:prstDash val="solid"/>
          </a:ln>
        </p:spPr>
      </p:sp>
      <p:sp>
        <p:nvSpPr>
          <p:cNvPr id="45" name="connection"/>
          <p:cNvSpPr/>
          <p:nvPr/>
        </p:nvSpPr>
        <p:spPr>
          <a:xfrm flipV="1">
            <a:off x="6522720" y="3108960"/>
            <a:ext cx="1036320" cy="548640"/>
          </a:xfrm>
          <a:prstGeom prst="line">
            <a:avLst/>
          </a:prstGeom>
          <a:noFill/>
          <a:ln w="9525">
            <a:solidFill>
              <a:srgbClr val="9FA8F5"/>
            </a:solidFill>
            <a:prstDash val="solid"/>
          </a:ln>
        </p:spPr>
      </p:sp>
      <p:sp>
        <p:nvSpPr>
          <p:cNvPr id="46" name="connection"/>
          <p:cNvSpPr/>
          <p:nvPr/>
        </p:nvSpPr>
        <p:spPr>
          <a:xfrm>
            <a:off x="6522720" y="3657600"/>
            <a:ext cx="1036320" cy="0"/>
          </a:xfrm>
          <a:prstGeom prst="line">
            <a:avLst/>
          </a:prstGeom>
          <a:noFill/>
          <a:ln w="9525">
            <a:solidFill>
              <a:srgbClr val="9FA8F5"/>
            </a:solidFill>
            <a:prstDash val="solid"/>
          </a:ln>
        </p:spPr>
      </p:sp>
      <p:sp>
        <p:nvSpPr>
          <p:cNvPr id="47" name="connection"/>
          <p:cNvSpPr/>
          <p:nvPr/>
        </p:nvSpPr>
        <p:spPr>
          <a:xfrm>
            <a:off x="7559040" y="1463040"/>
            <a:ext cx="1036320" cy="274320"/>
          </a:xfrm>
          <a:prstGeom prst="line">
            <a:avLst/>
          </a:prstGeom>
          <a:noFill/>
          <a:ln w="9525">
            <a:solidFill>
              <a:srgbClr val="9FA8F5"/>
            </a:solidFill>
            <a:prstDash val="solid"/>
          </a:ln>
        </p:spPr>
      </p:sp>
      <p:sp>
        <p:nvSpPr>
          <p:cNvPr id="48" name="connection"/>
          <p:cNvSpPr/>
          <p:nvPr/>
        </p:nvSpPr>
        <p:spPr>
          <a:xfrm>
            <a:off x="7559040" y="1463040"/>
            <a:ext cx="1036320" cy="1097280"/>
          </a:xfrm>
          <a:prstGeom prst="line">
            <a:avLst/>
          </a:prstGeom>
          <a:noFill/>
          <a:ln w="9525">
            <a:solidFill>
              <a:srgbClr val="9FA8F5"/>
            </a:solidFill>
            <a:prstDash val="solid"/>
          </a:ln>
        </p:spPr>
      </p:sp>
      <p:sp>
        <p:nvSpPr>
          <p:cNvPr id="49" name="connection"/>
          <p:cNvSpPr/>
          <p:nvPr/>
        </p:nvSpPr>
        <p:spPr>
          <a:xfrm>
            <a:off x="7559040" y="1463040"/>
            <a:ext cx="1036320" cy="1920240"/>
          </a:xfrm>
          <a:prstGeom prst="line">
            <a:avLst/>
          </a:prstGeom>
          <a:noFill/>
          <a:ln w="9525">
            <a:solidFill>
              <a:srgbClr val="9FA8F5"/>
            </a:solidFill>
            <a:prstDash val="solid"/>
          </a:ln>
        </p:spPr>
      </p:sp>
      <p:sp>
        <p:nvSpPr>
          <p:cNvPr id="50" name="connection"/>
          <p:cNvSpPr/>
          <p:nvPr/>
        </p:nvSpPr>
        <p:spPr>
          <a:xfrm flipV="1">
            <a:off x="7559040" y="1737360"/>
            <a:ext cx="1036320" cy="274320"/>
          </a:xfrm>
          <a:prstGeom prst="line">
            <a:avLst/>
          </a:prstGeom>
          <a:noFill/>
          <a:ln w="9525">
            <a:solidFill>
              <a:srgbClr val="9FA8F5"/>
            </a:solidFill>
            <a:prstDash val="solid"/>
          </a:ln>
        </p:spPr>
      </p:sp>
      <p:sp>
        <p:nvSpPr>
          <p:cNvPr id="51" name="connection"/>
          <p:cNvSpPr/>
          <p:nvPr/>
        </p:nvSpPr>
        <p:spPr>
          <a:xfrm>
            <a:off x="7559040" y="2011680"/>
            <a:ext cx="1036320" cy="548640"/>
          </a:xfrm>
          <a:prstGeom prst="line">
            <a:avLst/>
          </a:prstGeom>
          <a:noFill/>
          <a:ln w="9525">
            <a:solidFill>
              <a:srgbClr val="9FA8F5"/>
            </a:solidFill>
            <a:prstDash val="solid"/>
          </a:ln>
        </p:spPr>
      </p:sp>
      <p:sp>
        <p:nvSpPr>
          <p:cNvPr id="52" name="connection"/>
          <p:cNvSpPr/>
          <p:nvPr/>
        </p:nvSpPr>
        <p:spPr>
          <a:xfrm>
            <a:off x="7559040" y="2011680"/>
            <a:ext cx="1036320" cy="1371600"/>
          </a:xfrm>
          <a:prstGeom prst="line">
            <a:avLst/>
          </a:prstGeom>
          <a:noFill/>
          <a:ln w="9525">
            <a:solidFill>
              <a:srgbClr val="9FA8F5"/>
            </a:solidFill>
            <a:prstDash val="solid"/>
          </a:ln>
        </p:spPr>
      </p:sp>
      <p:sp>
        <p:nvSpPr>
          <p:cNvPr id="53" name="connection"/>
          <p:cNvSpPr/>
          <p:nvPr/>
        </p:nvSpPr>
        <p:spPr>
          <a:xfrm flipV="1">
            <a:off x="7559040" y="1737360"/>
            <a:ext cx="1036320" cy="822960"/>
          </a:xfrm>
          <a:prstGeom prst="line">
            <a:avLst/>
          </a:prstGeom>
          <a:noFill/>
          <a:ln w="9525">
            <a:solidFill>
              <a:srgbClr val="9FA8F5"/>
            </a:solidFill>
            <a:prstDash val="solid"/>
          </a:ln>
        </p:spPr>
      </p:sp>
      <p:sp>
        <p:nvSpPr>
          <p:cNvPr id="54" name="connection"/>
          <p:cNvSpPr/>
          <p:nvPr/>
        </p:nvSpPr>
        <p:spPr>
          <a:xfrm>
            <a:off x="7559040" y="2560320"/>
            <a:ext cx="1036320" cy="0"/>
          </a:xfrm>
          <a:prstGeom prst="line">
            <a:avLst/>
          </a:prstGeom>
          <a:noFill/>
          <a:ln w="9525">
            <a:solidFill>
              <a:srgbClr val="9FA8F5"/>
            </a:solidFill>
            <a:prstDash val="solid"/>
          </a:ln>
        </p:spPr>
      </p:sp>
      <p:sp>
        <p:nvSpPr>
          <p:cNvPr id="55" name="connection"/>
          <p:cNvSpPr/>
          <p:nvPr/>
        </p:nvSpPr>
        <p:spPr>
          <a:xfrm>
            <a:off x="7559040" y="2560320"/>
            <a:ext cx="1036320" cy="822960"/>
          </a:xfrm>
          <a:prstGeom prst="line">
            <a:avLst/>
          </a:prstGeom>
          <a:noFill/>
          <a:ln w="9525">
            <a:solidFill>
              <a:srgbClr val="9FA8F5"/>
            </a:solidFill>
            <a:prstDash val="solid"/>
          </a:ln>
        </p:spPr>
      </p:sp>
      <p:sp>
        <p:nvSpPr>
          <p:cNvPr id="56" name="connection"/>
          <p:cNvSpPr/>
          <p:nvPr/>
        </p:nvSpPr>
        <p:spPr>
          <a:xfrm flipV="1">
            <a:off x="7559040" y="1737360"/>
            <a:ext cx="1036320" cy="1371600"/>
          </a:xfrm>
          <a:prstGeom prst="line">
            <a:avLst/>
          </a:prstGeom>
          <a:noFill/>
          <a:ln w="9525">
            <a:solidFill>
              <a:srgbClr val="9FA8F5"/>
            </a:solidFill>
            <a:prstDash val="solid"/>
          </a:ln>
        </p:spPr>
      </p:sp>
      <p:sp>
        <p:nvSpPr>
          <p:cNvPr id="57" name="connection"/>
          <p:cNvSpPr/>
          <p:nvPr/>
        </p:nvSpPr>
        <p:spPr>
          <a:xfrm flipV="1">
            <a:off x="7559040" y="2560320"/>
            <a:ext cx="1036320" cy="548640"/>
          </a:xfrm>
          <a:prstGeom prst="line">
            <a:avLst/>
          </a:prstGeom>
          <a:noFill/>
          <a:ln w="9525">
            <a:solidFill>
              <a:srgbClr val="9FA8F5"/>
            </a:solidFill>
            <a:prstDash val="solid"/>
          </a:ln>
        </p:spPr>
      </p:sp>
      <p:sp>
        <p:nvSpPr>
          <p:cNvPr id="58" name="connection"/>
          <p:cNvSpPr/>
          <p:nvPr/>
        </p:nvSpPr>
        <p:spPr>
          <a:xfrm>
            <a:off x="7559040" y="3108960"/>
            <a:ext cx="1036320" cy="274320"/>
          </a:xfrm>
          <a:prstGeom prst="line">
            <a:avLst/>
          </a:prstGeom>
          <a:noFill/>
          <a:ln w="9525">
            <a:solidFill>
              <a:srgbClr val="9FA8F5"/>
            </a:solidFill>
            <a:prstDash val="solid"/>
          </a:ln>
        </p:spPr>
      </p:sp>
      <p:sp>
        <p:nvSpPr>
          <p:cNvPr id="59" name="connection"/>
          <p:cNvSpPr/>
          <p:nvPr/>
        </p:nvSpPr>
        <p:spPr>
          <a:xfrm flipV="1">
            <a:off x="7559040" y="1737360"/>
            <a:ext cx="1036320" cy="1920240"/>
          </a:xfrm>
          <a:prstGeom prst="line">
            <a:avLst/>
          </a:prstGeom>
          <a:noFill/>
          <a:ln w="9525">
            <a:solidFill>
              <a:srgbClr val="9FA8F5"/>
            </a:solidFill>
            <a:prstDash val="solid"/>
          </a:ln>
        </p:spPr>
      </p:sp>
      <p:sp>
        <p:nvSpPr>
          <p:cNvPr id="60" name="connection"/>
          <p:cNvSpPr/>
          <p:nvPr/>
        </p:nvSpPr>
        <p:spPr>
          <a:xfrm flipV="1">
            <a:off x="7559040" y="2560320"/>
            <a:ext cx="1036320" cy="1097280"/>
          </a:xfrm>
          <a:prstGeom prst="line">
            <a:avLst/>
          </a:prstGeom>
          <a:noFill/>
          <a:ln w="9525">
            <a:solidFill>
              <a:srgbClr val="9FA8F5"/>
            </a:solidFill>
            <a:prstDash val="solid"/>
          </a:ln>
        </p:spPr>
      </p:sp>
      <p:sp>
        <p:nvSpPr>
          <p:cNvPr id="61" name="connection"/>
          <p:cNvSpPr/>
          <p:nvPr/>
        </p:nvSpPr>
        <p:spPr>
          <a:xfrm flipV="1">
            <a:off x="7559040" y="3383280"/>
            <a:ext cx="1036320" cy="274320"/>
          </a:xfrm>
          <a:prstGeom prst="line">
            <a:avLst/>
          </a:prstGeom>
          <a:noFill/>
          <a:ln w="9525">
            <a:solidFill>
              <a:srgbClr val="9FA8F5"/>
            </a:solidFill>
            <a:prstDash val="solid"/>
          </a:ln>
        </p:spPr>
      </p:sp>
      <p:sp>
        <p:nvSpPr>
          <p:cNvPr id="62" name="neuron"/>
          <p:cNvSpPr/>
          <p:nvPr/>
        </p:nvSpPr>
        <p:spPr>
          <a:xfrm>
            <a:off x="5330952" y="1581912"/>
            <a:ext cx="310896" cy="310896"/>
          </a:xfrm>
          <a:prstGeom prst="ellipse">
            <a:avLst/>
          </a:prstGeom>
          <a:solidFill>
            <a:schemeClr val="accent3"/>
          </a:solidFill>
          <a:ln w="19050">
            <a:solidFill>
              <a:schemeClr val="tx1"/>
            </a:solidFill>
            <a:prstDash val="solid"/>
          </a:ln>
        </p:spPr>
      </p:sp>
      <p:sp>
        <p:nvSpPr>
          <p:cNvPr id="63" name="neuron"/>
          <p:cNvSpPr/>
          <p:nvPr/>
        </p:nvSpPr>
        <p:spPr>
          <a:xfrm>
            <a:off x="5330952" y="2404872"/>
            <a:ext cx="310896" cy="310896"/>
          </a:xfrm>
          <a:prstGeom prst="ellipse">
            <a:avLst/>
          </a:prstGeom>
          <a:solidFill>
            <a:schemeClr val="accent3"/>
          </a:solidFill>
          <a:ln w="19050">
            <a:solidFill>
              <a:schemeClr val="tx1"/>
            </a:solidFill>
            <a:prstDash val="solid"/>
          </a:ln>
        </p:spPr>
      </p:sp>
      <p:sp>
        <p:nvSpPr>
          <p:cNvPr id="64" name="neuron"/>
          <p:cNvSpPr/>
          <p:nvPr/>
        </p:nvSpPr>
        <p:spPr>
          <a:xfrm>
            <a:off x="5330952" y="3227832"/>
            <a:ext cx="310896" cy="310896"/>
          </a:xfrm>
          <a:prstGeom prst="ellipse">
            <a:avLst/>
          </a:prstGeom>
          <a:solidFill>
            <a:schemeClr val="accent3"/>
          </a:solidFill>
          <a:ln w="19050">
            <a:solidFill>
              <a:schemeClr val="tx1"/>
            </a:solidFill>
            <a:prstDash val="solid"/>
          </a:ln>
        </p:spPr>
      </p:sp>
      <p:sp>
        <p:nvSpPr>
          <p:cNvPr id="65" name="neuron"/>
          <p:cNvSpPr/>
          <p:nvPr/>
        </p:nvSpPr>
        <p:spPr>
          <a:xfrm>
            <a:off x="6367272" y="1307592"/>
            <a:ext cx="310896" cy="310896"/>
          </a:xfrm>
          <a:prstGeom prst="ellipse">
            <a:avLst/>
          </a:prstGeom>
          <a:solidFill>
            <a:schemeClr val="bg1"/>
          </a:solidFill>
          <a:ln w="19050">
            <a:solidFill>
              <a:schemeClr val="tx1"/>
            </a:solidFill>
            <a:prstDash val="solid"/>
          </a:ln>
        </p:spPr>
      </p:sp>
      <p:sp>
        <p:nvSpPr>
          <p:cNvPr id="66" name="neuron"/>
          <p:cNvSpPr/>
          <p:nvPr/>
        </p:nvSpPr>
        <p:spPr>
          <a:xfrm>
            <a:off x="6367272" y="1856232"/>
            <a:ext cx="310896" cy="310896"/>
          </a:xfrm>
          <a:prstGeom prst="ellipse">
            <a:avLst/>
          </a:prstGeom>
          <a:solidFill>
            <a:schemeClr val="bg1"/>
          </a:solidFill>
          <a:ln w="19050">
            <a:solidFill>
              <a:schemeClr val="tx1"/>
            </a:solidFill>
            <a:prstDash val="solid"/>
          </a:ln>
        </p:spPr>
      </p:sp>
      <p:sp>
        <p:nvSpPr>
          <p:cNvPr id="67" name="neuron"/>
          <p:cNvSpPr/>
          <p:nvPr/>
        </p:nvSpPr>
        <p:spPr>
          <a:xfrm>
            <a:off x="6367272" y="2404872"/>
            <a:ext cx="310896" cy="310896"/>
          </a:xfrm>
          <a:prstGeom prst="ellipse">
            <a:avLst/>
          </a:prstGeom>
          <a:solidFill>
            <a:schemeClr val="bg1"/>
          </a:solidFill>
          <a:ln w="19050">
            <a:solidFill>
              <a:schemeClr val="tx1"/>
            </a:solidFill>
            <a:prstDash val="solid"/>
          </a:ln>
        </p:spPr>
      </p:sp>
      <p:sp>
        <p:nvSpPr>
          <p:cNvPr id="68" name="neuron"/>
          <p:cNvSpPr/>
          <p:nvPr/>
        </p:nvSpPr>
        <p:spPr>
          <a:xfrm>
            <a:off x="6367272" y="2953512"/>
            <a:ext cx="310896" cy="310896"/>
          </a:xfrm>
          <a:prstGeom prst="ellipse">
            <a:avLst/>
          </a:prstGeom>
          <a:solidFill>
            <a:schemeClr val="bg1"/>
          </a:solidFill>
          <a:ln w="19050">
            <a:solidFill>
              <a:schemeClr val="tx1"/>
            </a:solidFill>
            <a:prstDash val="solid"/>
          </a:ln>
        </p:spPr>
      </p:sp>
      <p:sp>
        <p:nvSpPr>
          <p:cNvPr id="69" name="neuron"/>
          <p:cNvSpPr/>
          <p:nvPr/>
        </p:nvSpPr>
        <p:spPr>
          <a:xfrm>
            <a:off x="6367272" y="3502152"/>
            <a:ext cx="310896" cy="310896"/>
          </a:xfrm>
          <a:prstGeom prst="ellipse">
            <a:avLst/>
          </a:prstGeom>
          <a:solidFill>
            <a:schemeClr val="bg1"/>
          </a:solidFill>
          <a:ln w="19050">
            <a:solidFill>
              <a:schemeClr val="tx1"/>
            </a:solidFill>
            <a:prstDash val="solid"/>
          </a:ln>
        </p:spPr>
      </p:sp>
      <p:sp>
        <p:nvSpPr>
          <p:cNvPr id="70" name="neuron"/>
          <p:cNvSpPr/>
          <p:nvPr/>
        </p:nvSpPr>
        <p:spPr>
          <a:xfrm>
            <a:off x="7403592" y="1307592"/>
            <a:ext cx="310896" cy="310896"/>
          </a:xfrm>
          <a:prstGeom prst="ellipse">
            <a:avLst/>
          </a:prstGeom>
          <a:solidFill>
            <a:schemeClr val="bg1"/>
          </a:solidFill>
          <a:ln w="19050">
            <a:solidFill>
              <a:schemeClr val="tx1"/>
            </a:solidFill>
            <a:prstDash val="solid"/>
          </a:ln>
        </p:spPr>
      </p:sp>
      <p:sp>
        <p:nvSpPr>
          <p:cNvPr id="71" name="neuron"/>
          <p:cNvSpPr/>
          <p:nvPr/>
        </p:nvSpPr>
        <p:spPr>
          <a:xfrm>
            <a:off x="7403592" y="1856232"/>
            <a:ext cx="310896" cy="310896"/>
          </a:xfrm>
          <a:prstGeom prst="ellipse">
            <a:avLst/>
          </a:prstGeom>
          <a:solidFill>
            <a:schemeClr val="bg1"/>
          </a:solidFill>
          <a:ln w="19050">
            <a:solidFill>
              <a:schemeClr val="tx1"/>
            </a:solidFill>
            <a:prstDash val="solid"/>
          </a:ln>
        </p:spPr>
      </p:sp>
      <p:sp>
        <p:nvSpPr>
          <p:cNvPr id="72" name="neuron"/>
          <p:cNvSpPr/>
          <p:nvPr/>
        </p:nvSpPr>
        <p:spPr>
          <a:xfrm>
            <a:off x="7403592" y="2404872"/>
            <a:ext cx="310896" cy="310896"/>
          </a:xfrm>
          <a:prstGeom prst="ellipse">
            <a:avLst/>
          </a:prstGeom>
          <a:solidFill>
            <a:schemeClr val="bg1"/>
          </a:solidFill>
          <a:ln w="19050">
            <a:solidFill>
              <a:schemeClr val="tx1"/>
            </a:solidFill>
            <a:prstDash val="solid"/>
          </a:ln>
        </p:spPr>
      </p:sp>
      <p:sp>
        <p:nvSpPr>
          <p:cNvPr id="73" name="neuron"/>
          <p:cNvSpPr/>
          <p:nvPr/>
        </p:nvSpPr>
        <p:spPr>
          <a:xfrm>
            <a:off x="7403592" y="2953512"/>
            <a:ext cx="310896" cy="310896"/>
          </a:xfrm>
          <a:prstGeom prst="ellipse">
            <a:avLst/>
          </a:prstGeom>
          <a:solidFill>
            <a:schemeClr val="bg1"/>
          </a:solidFill>
          <a:ln w="19050">
            <a:solidFill>
              <a:schemeClr val="tx1"/>
            </a:solidFill>
            <a:prstDash val="solid"/>
          </a:ln>
        </p:spPr>
      </p:sp>
      <p:sp>
        <p:nvSpPr>
          <p:cNvPr id="74" name="neuron"/>
          <p:cNvSpPr/>
          <p:nvPr/>
        </p:nvSpPr>
        <p:spPr>
          <a:xfrm>
            <a:off x="7403592" y="3502152"/>
            <a:ext cx="310896" cy="310896"/>
          </a:xfrm>
          <a:prstGeom prst="ellipse">
            <a:avLst/>
          </a:prstGeom>
          <a:solidFill>
            <a:schemeClr val="bg1"/>
          </a:solidFill>
          <a:ln w="19050">
            <a:solidFill>
              <a:schemeClr val="tx1"/>
            </a:solidFill>
            <a:prstDash val="solid"/>
          </a:ln>
        </p:spPr>
      </p:sp>
      <p:sp>
        <p:nvSpPr>
          <p:cNvPr id="75" name="neuron"/>
          <p:cNvSpPr/>
          <p:nvPr/>
        </p:nvSpPr>
        <p:spPr>
          <a:xfrm>
            <a:off x="8439912" y="1581912"/>
            <a:ext cx="310896" cy="310896"/>
          </a:xfrm>
          <a:prstGeom prst="ellipse">
            <a:avLst/>
          </a:prstGeom>
          <a:solidFill>
            <a:schemeClr val="accent5"/>
          </a:solidFill>
          <a:ln w="19050">
            <a:solidFill>
              <a:schemeClr val="tx1"/>
            </a:solidFill>
            <a:prstDash val="solid"/>
          </a:ln>
        </p:spPr>
      </p:sp>
      <p:sp>
        <p:nvSpPr>
          <p:cNvPr id="76" name="neuron"/>
          <p:cNvSpPr/>
          <p:nvPr/>
        </p:nvSpPr>
        <p:spPr>
          <a:xfrm>
            <a:off x="8439912" y="2404872"/>
            <a:ext cx="310896" cy="310896"/>
          </a:xfrm>
          <a:prstGeom prst="ellipse">
            <a:avLst/>
          </a:prstGeom>
          <a:solidFill>
            <a:schemeClr val="accent5"/>
          </a:solidFill>
          <a:ln w="19050">
            <a:solidFill>
              <a:schemeClr val="tx1"/>
            </a:solidFill>
            <a:prstDash val="solid"/>
          </a:ln>
        </p:spPr>
      </p:sp>
      <p:sp>
        <p:nvSpPr>
          <p:cNvPr id="77" name="neuron"/>
          <p:cNvSpPr/>
          <p:nvPr/>
        </p:nvSpPr>
        <p:spPr>
          <a:xfrm>
            <a:off x="8439912" y="3227832"/>
            <a:ext cx="310896" cy="310896"/>
          </a:xfrm>
          <a:prstGeom prst="ellipse">
            <a:avLst/>
          </a:prstGeom>
          <a:solidFill>
            <a:schemeClr val="accent5"/>
          </a:solidFill>
          <a:ln w="19050">
            <a:solidFill>
              <a:schemeClr val="tx1"/>
            </a:solidFill>
            <a:prstDash val="solid"/>
          </a:ln>
        </p:spPr>
      </p:sp>
      <p:sp>
        <p:nvSpPr>
          <p:cNvPr id="78" name="Text 75"/>
          <p:cNvSpPr txBox="1"/>
          <p:nvPr/>
        </p:nvSpPr>
        <p:spPr>
          <a:xfrm>
            <a:off x="5120640" y="4343400"/>
            <a:ext cx="3657600" cy="365760"/>
          </a:xfrm>
          <a:prstGeom prst="rect">
            <a:avLst/>
          </a:prstGeom>
          <a:noFill/>
          <a:ln/>
        </p:spPr>
        <p:txBody>
          <a:bodyPr wrap="square" lIns="0" tIns="0" rIns="0" bIns="0" rtlCol="0" anchor="ctr"/>
          <a:lstStyle/>
          <a:p>
            <a:pPr algn="ctr" indent="0" marL="0">
              <a:buNone/>
            </a:pPr>
            <a:r>
              <a:rPr lang="en-US" sz="1400" i="1" dirty="0">
                <a:solidFill>
                  <a:schemeClr val="bg2"/>
                </a:solidFill>
              </a:rPr>
              <a:t>Data in. Intelligence out.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Learning objectives</a:t>
            </a:r>
            <a:endParaRPr lang="en-US" sz="3400" dirty="0"/>
          </a:p>
        </p:txBody>
      </p:sp>
      <p:sp>
        <p:nvSpPr>
          <p:cNvPr id="3" name="Text 1"/>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600" dirty="0">
                <a:solidFill>
                  <a:schemeClr val="tx2"/>
                </a:solidFill>
              </a:rPr>
              <a:t>By the end of this session you will understand:</a:t>
            </a:r>
            <a:endParaRPr lang="en-US" sz="1600" dirty="0"/>
          </a:p>
        </p:txBody>
      </p:sp>
      <p:sp>
        <p:nvSpPr>
          <p:cNvPr id="4" name="card"/>
          <p:cNvSpPr/>
          <p:nvPr/>
        </p:nvSpPr>
        <p:spPr>
          <a:xfrm>
            <a:off x="457200" y="160020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icon badge"/>
          <p:cNvSpPr/>
          <p:nvPr/>
        </p:nvSpPr>
        <p:spPr>
          <a:xfrm>
            <a:off x="640080" y="1783080"/>
            <a:ext cx="502920" cy="502920"/>
          </a:xfrm>
          <a:prstGeom prst="ellipse">
            <a:avLst/>
          </a:prstGeom>
          <a:solidFill>
            <a:schemeClr val="accent1"/>
          </a:solidFill>
          <a:ln w="12700">
            <a:solidFill>
              <a:schemeClr val="accent1"/>
            </a:solidFill>
            <a:prstDash val="solid"/>
          </a:ln>
        </p:spPr>
      </p:sp>
      <p:pic>
        <p:nvPicPr>
          <p:cNvPr id="6" name="Image 0" descr="db icon">    </p:cNvPr>
          <p:cNvPicPr>
            <a:picLocks noChangeAspect="1"/>
          </p:cNvPicPr>
          <p:nvPr/>
        </p:nvPicPr>
        <p:blipFill>
          <a:blip r:embed="rId1"/>
          <a:stretch>
            <a:fillRect/>
          </a:stretch>
        </p:blipFill>
        <p:spPr>
          <a:xfrm>
            <a:off x="765810" y="1908810"/>
            <a:ext cx="251460" cy="251460"/>
          </a:xfrm>
          <a:prstGeom prst="rect">
            <a:avLst/>
          </a:prstGeom>
        </p:spPr>
      </p:pic>
      <p:sp>
        <p:nvSpPr>
          <p:cNvPr id="7" name="Text 4"/>
          <p:cNvSpPr txBox="1"/>
          <p:nvPr/>
        </p:nvSpPr>
        <p:spPr>
          <a:xfrm>
            <a:off x="1828800" y="173736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1</a:t>
            </a:r>
            <a:endParaRPr lang="en-US" sz="2200" dirty="0"/>
          </a:p>
        </p:txBody>
      </p:sp>
      <p:sp>
        <p:nvSpPr>
          <p:cNvPr id="8" name="Text 5"/>
          <p:cNvSpPr txBox="1"/>
          <p:nvPr/>
        </p:nvSpPr>
        <p:spPr>
          <a:xfrm>
            <a:off x="640080" y="2377440"/>
            <a:ext cx="1600200" cy="457200"/>
          </a:xfrm>
          <a:prstGeom prst="rect">
            <a:avLst/>
          </a:prstGeom>
          <a:noFill/>
          <a:ln/>
        </p:spPr>
        <p:txBody>
          <a:bodyPr wrap="square" lIns="0" tIns="0" rIns="0" bIns="0" rtlCol="0" anchor="t"/>
          <a:lstStyle/>
          <a:p>
            <a:pPr indent="0" marL="0">
              <a:buNone/>
            </a:pPr>
            <a:r>
              <a:rPr lang="en-US" sz="1400" b="1" dirty="0">
                <a:solidFill>
                  <a:schemeClr val="tx1"/>
                </a:solidFill>
              </a:rPr>
              <a:t>What data is</a:t>
            </a:r>
            <a:endParaRPr lang="en-US" sz="1400" dirty="0"/>
          </a:p>
        </p:txBody>
      </p:sp>
      <p:sp>
        <p:nvSpPr>
          <p:cNvPr id="9" name="card"/>
          <p:cNvSpPr/>
          <p:nvPr/>
        </p:nvSpPr>
        <p:spPr>
          <a:xfrm>
            <a:off x="2560320" y="160020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 badge"/>
          <p:cNvSpPr/>
          <p:nvPr/>
        </p:nvSpPr>
        <p:spPr>
          <a:xfrm>
            <a:off x="2743200" y="1783080"/>
            <a:ext cx="502920" cy="502920"/>
          </a:xfrm>
          <a:prstGeom prst="ellipse">
            <a:avLst/>
          </a:prstGeom>
          <a:solidFill>
            <a:schemeClr val="accent2"/>
          </a:solidFill>
          <a:ln w="12700">
            <a:solidFill>
              <a:schemeClr val="accent2"/>
            </a:solidFill>
            <a:prstDash val="solid"/>
          </a:ln>
        </p:spPr>
      </p:sp>
      <p:pic>
        <p:nvPicPr>
          <p:cNvPr id="11" name="Image 1" descr="layers icon">    </p:cNvPr>
          <p:cNvPicPr>
            <a:picLocks noChangeAspect="1"/>
          </p:cNvPicPr>
          <p:nvPr/>
        </p:nvPicPr>
        <p:blipFill>
          <a:blip r:embed="rId2"/>
          <a:stretch>
            <a:fillRect/>
          </a:stretch>
        </p:blipFill>
        <p:spPr>
          <a:xfrm>
            <a:off x="2868930" y="1908810"/>
            <a:ext cx="251460" cy="251460"/>
          </a:xfrm>
          <a:prstGeom prst="rect">
            <a:avLst/>
          </a:prstGeom>
        </p:spPr>
      </p:pic>
      <p:sp>
        <p:nvSpPr>
          <p:cNvPr id="12" name="Text 8"/>
          <p:cNvSpPr txBox="1"/>
          <p:nvPr/>
        </p:nvSpPr>
        <p:spPr>
          <a:xfrm>
            <a:off x="3931920" y="173736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2</a:t>
            </a:r>
            <a:endParaRPr lang="en-US" sz="2200" dirty="0"/>
          </a:p>
        </p:txBody>
      </p:sp>
      <p:sp>
        <p:nvSpPr>
          <p:cNvPr id="13" name="Text 9"/>
          <p:cNvSpPr txBox="1"/>
          <p:nvPr/>
        </p:nvSpPr>
        <p:spPr>
          <a:xfrm>
            <a:off x="2743200" y="2377440"/>
            <a:ext cx="1600200" cy="457200"/>
          </a:xfrm>
          <a:prstGeom prst="rect">
            <a:avLst/>
          </a:prstGeom>
          <a:noFill/>
          <a:ln/>
        </p:spPr>
        <p:txBody>
          <a:bodyPr wrap="square" lIns="0" tIns="0" rIns="0" bIns="0" rtlCol="0" anchor="t"/>
          <a:lstStyle/>
          <a:p>
            <a:pPr indent="0" marL="0">
              <a:buNone/>
            </a:pPr>
            <a:r>
              <a:rPr lang="en-US" sz="1400" b="1" dirty="0">
                <a:solidFill>
                  <a:schemeClr val="tx1"/>
                </a:solidFill>
              </a:rPr>
              <a:t>Types of data</a:t>
            </a:r>
            <a:endParaRPr lang="en-US" sz="1400" dirty="0"/>
          </a:p>
        </p:txBody>
      </p:sp>
      <p:sp>
        <p:nvSpPr>
          <p:cNvPr id="14" name="card"/>
          <p:cNvSpPr/>
          <p:nvPr/>
        </p:nvSpPr>
        <p:spPr>
          <a:xfrm>
            <a:off x="4663440" y="160020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icon badge"/>
          <p:cNvSpPr/>
          <p:nvPr/>
        </p:nvSpPr>
        <p:spPr>
          <a:xfrm>
            <a:off x="4846320" y="1783080"/>
            <a:ext cx="502920" cy="502920"/>
          </a:xfrm>
          <a:prstGeom prst="ellipse">
            <a:avLst/>
          </a:prstGeom>
          <a:solidFill>
            <a:schemeClr val="accent3"/>
          </a:solidFill>
          <a:ln w="12700">
            <a:solidFill>
              <a:schemeClr val="accent3"/>
            </a:solidFill>
            <a:prstDash val="solid"/>
          </a:ln>
        </p:spPr>
      </p:sp>
      <p:pic>
        <p:nvPicPr>
          <p:cNvPr id="16" name="Image 2" descr="brain icon">    </p:cNvPr>
          <p:cNvPicPr>
            <a:picLocks noChangeAspect="1"/>
          </p:cNvPicPr>
          <p:nvPr/>
        </p:nvPicPr>
        <p:blipFill>
          <a:blip r:embed="rId3"/>
          <a:stretch>
            <a:fillRect/>
          </a:stretch>
        </p:blipFill>
        <p:spPr>
          <a:xfrm>
            <a:off x="4972050" y="1908810"/>
            <a:ext cx="251460" cy="251460"/>
          </a:xfrm>
          <a:prstGeom prst="rect">
            <a:avLst/>
          </a:prstGeom>
        </p:spPr>
      </p:pic>
      <p:sp>
        <p:nvSpPr>
          <p:cNvPr id="17" name="Text 12"/>
          <p:cNvSpPr txBox="1"/>
          <p:nvPr/>
        </p:nvSpPr>
        <p:spPr>
          <a:xfrm>
            <a:off x="6035040" y="173736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3</a:t>
            </a:r>
            <a:endParaRPr lang="en-US" sz="2200" dirty="0"/>
          </a:p>
        </p:txBody>
      </p:sp>
      <p:sp>
        <p:nvSpPr>
          <p:cNvPr id="18" name="Text 13"/>
          <p:cNvSpPr txBox="1"/>
          <p:nvPr/>
        </p:nvSpPr>
        <p:spPr>
          <a:xfrm>
            <a:off x="4846320" y="2377440"/>
            <a:ext cx="1600200" cy="457200"/>
          </a:xfrm>
          <a:prstGeom prst="rect">
            <a:avLst/>
          </a:prstGeom>
          <a:noFill/>
          <a:ln/>
        </p:spPr>
        <p:txBody>
          <a:bodyPr wrap="square" lIns="0" tIns="0" rIns="0" bIns="0" rtlCol="0" anchor="t"/>
          <a:lstStyle/>
          <a:p>
            <a:pPr indent="0" marL="0">
              <a:buNone/>
            </a:pPr>
            <a:r>
              <a:rPr lang="en-US" sz="1400" b="1" dirty="0">
                <a:solidFill>
                  <a:schemeClr val="tx1"/>
                </a:solidFill>
              </a:rPr>
              <a:t>AI vs ML vs DL</a:t>
            </a:r>
            <a:endParaRPr lang="en-US" sz="1400" dirty="0"/>
          </a:p>
        </p:txBody>
      </p:sp>
      <p:sp>
        <p:nvSpPr>
          <p:cNvPr id="19" name="card"/>
          <p:cNvSpPr/>
          <p:nvPr/>
        </p:nvSpPr>
        <p:spPr>
          <a:xfrm>
            <a:off x="6766560" y="160020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icon badge"/>
          <p:cNvSpPr/>
          <p:nvPr/>
        </p:nvSpPr>
        <p:spPr>
          <a:xfrm>
            <a:off x="6949440" y="1783080"/>
            <a:ext cx="502920" cy="502920"/>
          </a:xfrm>
          <a:prstGeom prst="ellipse">
            <a:avLst/>
          </a:prstGeom>
          <a:solidFill>
            <a:schemeClr val="accent1"/>
          </a:solidFill>
          <a:ln w="12700">
            <a:solidFill>
              <a:schemeClr val="accent1"/>
            </a:solidFill>
            <a:prstDash val="solid"/>
          </a:ln>
        </p:spPr>
      </p:sp>
      <p:pic>
        <p:nvPicPr>
          <p:cNvPr id="21" name="Image 3" descr="cogs icon">    </p:cNvPr>
          <p:cNvPicPr>
            <a:picLocks noChangeAspect="1"/>
          </p:cNvPicPr>
          <p:nvPr/>
        </p:nvPicPr>
        <p:blipFill>
          <a:blip r:embed="rId4"/>
          <a:stretch>
            <a:fillRect/>
          </a:stretch>
        </p:blipFill>
        <p:spPr>
          <a:xfrm>
            <a:off x="7075170" y="1908810"/>
            <a:ext cx="251460" cy="251460"/>
          </a:xfrm>
          <a:prstGeom prst="rect">
            <a:avLst/>
          </a:prstGeom>
        </p:spPr>
      </p:pic>
      <p:sp>
        <p:nvSpPr>
          <p:cNvPr id="22" name="Text 16"/>
          <p:cNvSpPr txBox="1"/>
          <p:nvPr/>
        </p:nvSpPr>
        <p:spPr>
          <a:xfrm>
            <a:off x="8138160" y="173736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4</a:t>
            </a:r>
            <a:endParaRPr lang="en-US" sz="2200" dirty="0"/>
          </a:p>
        </p:txBody>
      </p:sp>
      <p:sp>
        <p:nvSpPr>
          <p:cNvPr id="23" name="Text 17"/>
          <p:cNvSpPr txBox="1"/>
          <p:nvPr/>
        </p:nvSpPr>
        <p:spPr>
          <a:xfrm>
            <a:off x="6949440" y="2377440"/>
            <a:ext cx="1600200" cy="457200"/>
          </a:xfrm>
          <a:prstGeom prst="rect">
            <a:avLst/>
          </a:prstGeom>
          <a:noFill/>
          <a:ln/>
        </p:spPr>
        <p:txBody>
          <a:bodyPr wrap="square" lIns="0" tIns="0" rIns="0" bIns="0" rtlCol="0" anchor="t"/>
          <a:lstStyle/>
          <a:p>
            <a:pPr indent="0" marL="0">
              <a:buNone/>
            </a:pPr>
            <a:r>
              <a:rPr lang="en-US" sz="1400" b="1" dirty="0">
                <a:solidFill>
                  <a:schemeClr val="tx1"/>
                </a:solidFill>
              </a:rPr>
              <a:t>Popular algorithms</a:t>
            </a:r>
            <a:endParaRPr lang="en-US" sz="1400" dirty="0"/>
          </a:p>
        </p:txBody>
      </p:sp>
      <p:sp>
        <p:nvSpPr>
          <p:cNvPr id="24" name="card"/>
          <p:cNvSpPr/>
          <p:nvPr/>
        </p:nvSpPr>
        <p:spPr>
          <a:xfrm>
            <a:off x="457200" y="310896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icon badge"/>
          <p:cNvSpPr/>
          <p:nvPr/>
        </p:nvSpPr>
        <p:spPr>
          <a:xfrm>
            <a:off x="640080" y="3291840"/>
            <a:ext cx="502920" cy="502920"/>
          </a:xfrm>
          <a:prstGeom prst="ellipse">
            <a:avLst/>
          </a:prstGeom>
          <a:solidFill>
            <a:schemeClr val="accent2"/>
          </a:solidFill>
          <a:ln w="12700">
            <a:solidFill>
              <a:schemeClr val="accent2"/>
            </a:solidFill>
            <a:prstDash val="solid"/>
          </a:ln>
        </p:spPr>
      </p:sp>
      <p:pic>
        <p:nvPicPr>
          <p:cNvPr id="26" name="Image 4" descr="industry icon">    </p:cNvPr>
          <p:cNvPicPr>
            <a:picLocks noChangeAspect="1"/>
          </p:cNvPicPr>
          <p:nvPr/>
        </p:nvPicPr>
        <p:blipFill>
          <a:blip r:embed="rId5"/>
          <a:stretch>
            <a:fillRect/>
          </a:stretch>
        </p:blipFill>
        <p:spPr>
          <a:xfrm>
            <a:off x="765810" y="3417570"/>
            <a:ext cx="251460" cy="251460"/>
          </a:xfrm>
          <a:prstGeom prst="rect">
            <a:avLst/>
          </a:prstGeom>
        </p:spPr>
      </p:pic>
      <p:sp>
        <p:nvSpPr>
          <p:cNvPr id="27" name="Text 20"/>
          <p:cNvSpPr txBox="1"/>
          <p:nvPr/>
        </p:nvSpPr>
        <p:spPr>
          <a:xfrm>
            <a:off x="1828800" y="324612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5</a:t>
            </a:r>
            <a:endParaRPr lang="en-US" sz="2200" dirty="0"/>
          </a:p>
        </p:txBody>
      </p:sp>
      <p:sp>
        <p:nvSpPr>
          <p:cNvPr id="28" name="Text 21"/>
          <p:cNvSpPr txBox="1"/>
          <p:nvPr/>
        </p:nvSpPr>
        <p:spPr>
          <a:xfrm>
            <a:off x="640080" y="3886200"/>
            <a:ext cx="1600200" cy="457200"/>
          </a:xfrm>
          <a:prstGeom prst="rect">
            <a:avLst/>
          </a:prstGeom>
          <a:noFill/>
          <a:ln/>
        </p:spPr>
        <p:txBody>
          <a:bodyPr wrap="square" lIns="0" tIns="0" rIns="0" bIns="0" rtlCol="0" anchor="t"/>
          <a:lstStyle/>
          <a:p>
            <a:pPr indent="0" marL="0">
              <a:buNone/>
            </a:pPr>
            <a:r>
              <a:rPr lang="en-US" sz="1400" b="1" dirty="0">
                <a:solidFill>
                  <a:schemeClr val="tx1"/>
                </a:solidFill>
              </a:rPr>
              <a:t>Real-world applications</a:t>
            </a:r>
            <a:endParaRPr lang="en-US" sz="1400" dirty="0"/>
          </a:p>
        </p:txBody>
      </p:sp>
      <p:sp>
        <p:nvSpPr>
          <p:cNvPr id="29" name="card"/>
          <p:cNvSpPr/>
          <p:nvPr/>
        </p:nvSpPr>
        <p:spPr>
          <a:xfrm>
            <a:off x="2560320" y="310896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icon badge"/>
          <p:cNvSpPr/>
          <p:nvPr/>
        </p:nvSpPr>
        <p:spPr>
          <a:xfrm>
            <a:off x="2743200" y="3291840"/>
            <a:ext cx="502920" cy="502920"/>
          </a:xfrm>
          <a:prstGeom prst="ellipse">
            <a:avLst/>
          </a:prstGeom>
          <a:solidFill>
            <a:schemeClr val="accent3"/>
          </a:solidFill>
          <a:ln w="12700">
            <a:solidFill>
              <a:schemeClr val="accent3"/>
            </a:solidFill>
            <a:prstDash val="solid"/>
          </a:ln>
        </p:spPr>
      </p:sp>
      <p:pic>
        <p:nvPicPr>
          <p:cNvPr id="31" name="Image 5" descr="users icon">    </p:cNvPr>
          <p:cNvPicPr>
            <a:picLocks noChangeAspect="1"/>
          </p:cNvPicPr>
          <p:nvPr/>
        </p:nvPicPr>
        <p:blipFill>
          <a:blip r:embed="rId6"/>
          <a:stretch>
            <a:fillRect/>
          </a:stretch>
        </p:blipFill>
        <p:spPr>
          <a:xfrm>
            <a:off x="2868930" y="3417570"/>
            <a:ext cx="251460" cy="251460"/>
          </a:xfrm>
          <a:prstGeom prst="rect">
            <a:avLst/>
          </a:prstGeom>
        </p:spPr>
      </p:pic>
      <p:sp>
        <p:nvSpPr>
          <p:cNvPr id="32" name="Text 24"/>
          <p:cNvSpPr txBox="1"/>
          <p:nvPr/>
        </p:nvSpPr>
        <p:spPr>
          <a:xfrm>
            <a:off x="3931920" y="324612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6</a:t>
            </a:r>
            <a:endParaRPr lang="en-US" sz="2200" dirty="0"/>
          </a:p>
        </p:txBody>
      </p:sp>
      <p:sp>
        <p:nvSpPr>
          <p:cNvPr id="33" name="Text 25"/>
          <p:cNvSpPr txBox="1"/>
          <p:nvPr/>
        </p:nvSpPr>
        <p:spPr>
          <a:xfrm>
            <a:off x="2743200" y="3886200"/>
            <a:ext cx="1600200" cy="457200"/>
          </a:xfrm>
          <a:prstGeom prst="rect">
            <a:avLst/>
          </a:prstGeom>
          <a:noFill/>
          <a:ln/>
        </p:spPr>
        <p:txBody>
          <a:bodyPr wrap="square" lIns="0" tIns="0" rIns="0" bIns="0" rtlCol="0" anchor="t"/>
          <a:lstStyle/>
          <a:p>
            <a:pPr indent="0" marL="0">
              <a:buNone/>
            </a:pPr>
            <a:r>
              <a:rPr lang="en-US" sz="1400" b="1" dirty="0">
                <a:solidFill>
                  <a:schemeClr val="tx1"/>
                </a:solidFill>
              </a:rPr>
              <a:t>Career opportunities</a:t>
            </a:r>
            <a:endParaRPr lang="en-US" sz="1400" dirty="0"/>
          </a:p>
        </p:txBody>
      </p:sp>
      <p:sp>
        <p:nvSpPr>
          <p:cNvPr id="34" name="card"/>
          <p:cNvSpPr/>
          <p:nvPr/>
        </p:nvSpPr>
        <p:spPr>
          <a:xfrm>
            <a:off x="4663440" y="3108960"/>
            <a:ext cx="19202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5" name="icon badge"/>
          <p:cNvSpPr/>
          <p:nvPr/>
        </p:nvSpPr>
        <p:spPr>
          <a:xfrm>
            <a:off x="4846320" y="3291840"/>
            <a:ext cx="502920" cy="502920"/>
          </a:xfrm>
          <a:prstGeom prst="ellipse">
            <a:avLst/>
          </a:prstGeom>
          <a:solidFill>
            <a:schemeClr val="accent1"/>
          </a:solidFill>
          <a:ln w="12700">
            <a:solidFill>
              <a:schemeClr val="accent1"/>
            </a:solidFill>
            <a:prstDash val="solid"/>
          </a:ln>
        </p:spPr>
      </p:sp>
      <p:pic>
        <p:nvPicPr>
          <p:cNvPr id="36" name="Image 6" descr="pin icon">    </p:cNvPr>
          <p:cNvPicPr>
            <a:picLocks noChangeAspect="1"/>
          </p:cNvPicPr>
          <p:nvPr/>
        </p:nvPicPr>
        <p:blipFill>
          <a:blip r:embed="rId7"/>
          <a:stretch>
            <a:fillRect/>
          </a:stretch>
        </p:blipFill>
        <p:spPr>
          <a:xfrm>
            <a:off x="4972050" y="3417570"/>
            <a:ext cx="251460" cy="251460"/>
          </a:xfrm>
          <a:prstGeom prst="rect">
            <a:avLst/>
          </a:prstGeom>
        </p:spPr>
      </p:pic>
      <p:sp>
        <p:nvSpPr>
          <p:cNvPr id="37" name="Text 28"/>
          <p:cNvSpPr txBox="1"/>
          <p:nvPr/>
        </p:nvSpPr>
        <p:spPr>
          <a:xfrm>
            <a:off x="6035040" y="3246120"/>
            <a:ext cx="411480" cy="365760"/>
          </a:xfrm>
          <a:prstGeom prst="rect">
            <a:avLst/>
          </a:prstGeom>
          <a:noFill/>
          <a:ln/>
        </p:spPr>
        <p:txBody>
          <a:bodyPr wrap="square" lIns="0" tIns="0" rIns="0" bIns="0" rtlCol="0" anchor="ctr"/>
          <a:lstStyle/>
          <a:p>
            <a:pPr algn="r" indent="0" marL="0">
              <a:buNone/>
            </a:pPr>
            <a:r>
              <a:rPr lang="en-US" sz="2200" b="1" dirty="0">
                <a:solidFill>
                  <a:schemeClr val="accent1"/>
                </a:solidFill>
              </a:rPr>
              <a:t>7</a:t>
            </a:r>
            <a:endParaRPr lang="en-US" sz="2200" dirty="0"/>
          </a:p>
        </p:txBody>
      </p:sp>
      <p:sp>
        <p:nvSpPr>
          <p:cNvPr id="38" name="Text 29"/>
          <p:cNvSpPr txBox="1"/>
          <p:nvPr/>
        </p:nvSpPr>
        <p:spPr>
          <a:xfrm>
            <a:off x="4846320" y="3886200"/>
            <a:ext cx="1600200" cy="457200"/>
          </a:xfrm>
          <a:prstGeom prst="rect">
            <a:avLst/>
          </a:prstGeom>
          <a:noFill/>
          <a:ln/>
        </p:spPr>
        <p:txBody>
          <a:bodyPr wrap="square" lIns="0" tIns="0" rIns="0" bIns="0" rtlCol="0" anchor="t"/>
          <a:lstStyle/>
          <a:p>
            <a:pPr indent="0" marL="0">
              <a:buNone/>
            </a:pPr>
            <a:r>
              <a:rPr lang="en-US" sz="1400" b="1" dirty="0">
                <a:solidFill>
                  <a:schemeClr val="tx1"/>
                </a:solidFill>
              </a:rPr>
              <a:t>Roadmap to AI Engineer</a:t>
            </a:r>
            <a:endParaRPr lang="en-US" sz="1400" dirty="0"/>
          </a:p>
        </p:txBody>
      </p:sp>
      <p:sp>
        <p:nvSpPr>
          <p:cNvPr id="39" name="card"/>
          <p:cNvSpPr/>
          <p:nvPr/>
        </p:nvSpPr>
        <p:spPr>
          <a:xfrm>
            <a:off x="6766560" y="3108960"/>
            <a:ext cx="1920240" cy="1325880"/>
          </a:xfrm>
          <a:prstGeom prst="roundRect">
            <a:avLst>
              <a:gd name="adj" fmla="val 8276"/>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40" name="icon badge"/>
          <p:cNvSpPr/>
          <p:nvPr/>
        </p:nvSpPr>
        <p:spPr>
          <a:xfrm>
            <a:off x="6949440" y="3291840"/>
            <a:ext cx="502920" cy="502920"/>
          </a:xfrm>
          <a:prstGeom prst="ellipse">
            <a:avLst/>
          </a:prstGeom>
          <a:solidFill>
            <a:schemeClr val="accent5"/>
          </a:solidFill>
          <a:ln w="12700">
            <a:solidFill>
              <a:schemeClr val="accent5"/>
            </a:solidFill>
            <a:prstDash val="solid"/>
          </a:ln>
        </p:spPr>
      </p:sp>
      <p:pic>
        <p:nvPicPr>
          <p:cNvPr id="41" name="Image 7" descr="rocket icon">    </p:cNvPr>
          <p:cNvPicPr>
            <a:picLocks noChangeAspect="1"/>
          </p:cNvPicPr>
          <p:nvPr/>
        </p:nvPicPr>
        <p:blipFill>
          <a:blip r:embed="rId8"/>
          <a:stretch>
            <a:fillRect/>
          </a:stretch>
        </p:blipFill>
        <p:spPr>
          <a:xfrm>
            <a:off x="7075170" y="3417570"/>
            <a:ext cx="251460" cy="251460"/>
          </a:xfrm>
          <a:prstGeom prst="rect">
            <a:avLst/>
          </a:prstGeom>
        </p:spPr>
      </p:pic>
      <p:sp>
        <p:nvSpPr>
          <p:cNvPr id="42" name="Text 32"/>
          <p:cNvSpPr txBox="1"/>
          <p:nvPr/>
        </p:nvSpPr>
        <p:spPr>
          <a:xfrm>
            <a:off x="6949440" y="3886200"/>
            <a:ext cx="1600200" cy="457200"/>
          </a:xfrm>
          <a:prstGeom prst="rect">
            <a:avLst/>
          </a:prstGeom>
          <a:noFill/>
          <a:ln/>
        </p:spPr>
        <p:txBody>
          <a:bodyPr wrap="square" lIns="0" tIns="0" rIns="0" bIns="0" rtlCol="0" anchor="t"/>
          <a:lstStyle/>
          <a:p>
            <a:pPr indent="0" marL="0">
              <a:buNone/>
            </a:pPr>
            <a:r>
              <a:rPr lang="en-US" sz="1400" b="1" dirty="0">
                <a:solidFill>
                  <a:schemeClr val="bg1"/>
                </a:solidFill>
              </a:rPr>
              <a:t>Let's begin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data?</a:t>
            </a:r>
            <a:endParaRPr lang="en-US" sz="3400" dirty="0"/>
          </a:p>
        </p:txBody>
      </p:sp>
      <p:sp>
        <p:nvSpPr>
          <p:cNvPr id="3" name="card"/>
          <p:cNvSpPr/>
          <p:nvPr/>
        </p:nvSpPr>
        <p:spPr>
          <a:xfrm>
            <a:off x="457200" y="1234440"/>
            <a:ext cx="3840480" cy="2194560"/>
          </a:xfrm>
          <a:prstGeom prst="roundRect">
            <a:avLst>
              <a:gd name="adj" fmla="val 5000"/>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71600"/>
            <a:ext cx="3383280" cy="274320"/>
          </a:xfrm>
          <a:prstGeom prst="rect">
            <a:avLst/>
          </a:prstGeom>
          <a:noFill/>
          <a:ln/>
        </p:spPr>
        <p:txBody>
          <a:bodyPr wrap="square" lIns="0" tIns="0" rIns="0" bIns="0" rtlCol="0" anchor="ctr"/>
          <a:lstStyle/>
          <a:p>
            <a:pPr indent="0" marL="0">
              <a:buNone/>
            </a:pPr>
            <a:r>
              <a:rPr lang="en-US" sz="1200" b="1" dirty="0">
                <a:solidFill>
                  <a:schemeClr val="accent5"/>
                </a:solidFill>
              </a:rPr>
              <a:t>DEFINITION</a:t>
            </a:r>
            <a:endParaRPr lang="en-US" sz="1200" dirty="0"/>
          </a:p>
        </p:txBody>
      </p:sp>
      <p:sp>
        <p:nvSpPr>
          <p:cNvPr id="5" name="Text 3"/>
          <p:cNvSpPr txBox="1"/>
          <p:nvPr/>
        </p:nvSpPr>
        <p:spPr>
          <a:xfrm>
            <a:off x="685800" y="1691640"/>
            <a:ext cx="3383280" cy="1554480"/>
          </a:xfrm>
          <a:prstGeom prst="rect">
            <a:avLst/>
          </a:prstGeom>
          <a:noFill/>
          <a:ln/>
        </p:spPr>
        <p:txBody>
          <a:bodyPr wrap="square" lIns="0" tIns="0" rIns="0" bIns="0" rtlCol="0" anchor="t"/>
          <a:lstStyle/>
          <a:p>
            <a:pPr indent="0" marL="0">
              <a:buNone/>
            </a:pPr>
            <a:r>
              <a:rPr lang="en-US" sz="2000" b="1" dirty="0">
                <a:solidFill>
                  <a:schemeClr val="bg1"/>
                </a:solidFill>
              </a:rPr>
              <a:t>Raw facts, figures, observations or measurements collected from the real world.</a:t>
            </a:r>
            <a:endParaRPr lang="en-US" sz="2000" dirty="0"/>
          </a:p>
        </p:txBody>
      </p:sp>
      <p:sp>
        <p:nvSpPr>
          <p:cNvPr id="6" name="pill"/>
          <p:cNvSpPr/>
          <p:nvPr/>
        </p:nvSpPr>
        <p:spPr>
          <a:xfrm>
            <a:off x="4572000" y="1234440"/>
            <a:ext cx="1965960" cy="457200"/>
          </a:xfrm>
          <a:prstGeom prst="roundRect">
            <a:avLst>
              <a:gd name="adj" fmla="val 50000"/>
            </a:avLst>
          </a:prstGeom>
          <a:solidFill>
            <a:schemeClr val="accent2"/>
          </a:solidFill>
          <a:ln w="12700">
            <a:solidFill>
              <a:schemeClr val="accent2"/>
            </a:solidFill>
            <a:prstDash val="solid"/>
          </a:ln>
        </p:spPr>
      </p:sp>
      <p:pic>
        <p:nvPicPr>
          <p:cNvPr id="7" name="Image 0" descr="user">    </p:cNvPr>
          <p:cNvPicPr>
            <a:picLocks noChangeAspect="1"/>
          </p:cNvPicPr>
          <p:nvPr/>
        </p:nvPicPr>
        <p:blipFill>
          <a:blip r:embed="rId1"/>
          <a:stretch>
            <a:fillRect/>
          </a:stretch>
        </p:blipFill>
        <p:spPr>
          <a:xfrm>
            <a:off x="4709160" y="1353312"/>
            <a:ext cx="219456" cy="219456"/>
          </a:xfrm>
          <a:prstGeom prst="rect">
            <a:avLst/>
          </a:prstGeom>
        </p:spPr>
      </p:pic>
      <p:sp>
        <p:nvSpPr>
          <p:cNvPr id="8" name="Text 5"/>
          <p:cNvSpPr txBox="1"/>
          <p:nvPr/>
        </p:nvSpPr>
        <p:spPr>
          <a:xfrm>
            <a:off x="5029200" y="1234440"/>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Customer info</a:t>
            </a:r>
            <a:endParaRPr lang="en-US" sz="1400" dirty="0"/>
          </a:p>
        </p:txBody>
      </p:sp>
      <p:sp>
        <p:nvSpPr>
          <p:cNvPr id="9" name="pill"/>
          <p:cNvSpPr/>
          <p:nvPr/>
        </p:nvSpPr>
        <p:spPr>
          <a:xfrm>
            <a:off x="6675120" y="1234440"/>
            <a:ext cx="1965960" cy="457200"/>
          </a:xfrm>
          <a:prstGeom prst="roundRect">
            <a:avLst>
              <a:gd name="adj" fmla="val 50000"/>
            </a:avLst>
          </a:prstGeom>
          <a:solidFill>
            <a:schemeClr val="accent3"/>
          </a:solidFill>
          <a:ln w="12700">
            <a:solidFill>
              <a:schemeClr val="accent3"/>
            </a:solidFill>
            <a:prstDash val="solid"/>
          </a:ln>
        </p:spPr>
      </p:sp>
      <p:pic>
        <p:nvPicPr>
          <p:cNvPr id="10" name="Image 1" descr="image">    </p:cNvPr>
          <p:cNvPicPr>
            <a:picLocks noChangeAspect="1"/>
          </p:cNvPicPr>
          <p:nvPr/>
        </p:nvPicPr>
        <p:blipFill>
          <a:blip r:embed="rId2"/>
          <a:stretch>
            <a:fillRect/>
          </a:stretch>
        </p:blipFill>
        <p:spPr>
          <a:xfrm>
            <a:off x="6812280" y="1353312"/>
            <a:ext cx="219456" cy="219456"/>
          </a:xfrm>
          <a:prstGeom prst="rect">
            <a:avLst/>
          </a:prstGeom>
        </p:spPr>
      </p:pic>
      <p:sp>
        <p:nvSpPr>
          <p:cNvPr id="11" name="Text 7"/>
          <p:cNvSpPr txBox="1"/>
          <p:nvPr/>
        </p:nvSpPr>
        <p:spPr>
          <a:xfrm>
            <a:off x="7132320" y="1234440"/>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Images</a:t>
            </a:r>
            <a:endParaRPr lang="en-US" sz="1400" dirty="0"/>
          </a:p>
        </p:txBody>
      </p:sp>
      <p:sp>
        <p:nvSpPr>
          <p:cNvPr id="12" name="pill"/>
          <p:cNvSpPr/>
          <p:nvPr/>
        </p:nvSpPr>
        <p:spPr>
          <a:xfrm>
            <a:off x="4572000" y="1801368"/>
            <a:ext cx="1965960" cy="457200"/>
          </a:xfrm>
          <a:prstGeom prst="roundRect">
            <a:avLst>
              <a:gd name="adj" fmla="val 50000"/>
            </a:avLst>
          </a:prstGeom>
          <a:solidFill>
            <a:schemeClr val="accent3"/>
          </a:solidFill>
          <a:ln w="12700">
            <a:solidFill>
              <a:schemeClr val="accent3"/>
            </a:solidFill>
            <a:prstDash val="solid"/>
          </a:ln>
        </p:spPr>
      </p:sp>
      <p:pic>
        <p:nvPicPr>
          <p:cNvPr id="13" name="Image 2" descr="video">    </p:cNvPr>
          <p:cNvPicPr>
            <a:picLocks noChangeAspect="1"/>
          </p:cNvPicPr>
          <p:nvPr/>
        </p:nvPicPr>
        <p:blipFill>
          <a:blip r:embed="rId3"/>
          <a:stretch>
            <a:fillRect/>
          </a:stretch>
        </p:blipFill>
        <p:spPr>
          <a:xfrm>
            <a:off x="4709160" y="1920240"/>
            <a:ext cx="219456" cy="219456"/>
          </a:xfrm>
          <a:prstGeom prst="rect">
            <a:avLst/>
          </a:prstGeom>
        </p:spPr>
      </p:pic>
      <p:sp>
        <p:nvSpPr>
          <p:cNvPr id="14" name="Text 9"/>
          <p:cNvSpPr txBox="1"/>
          <p:nvPr/>
        </p:nvSpPr>
        <p:spPr>
          <a:xfrm>
            <a:off x="5029200" y="1801368"/>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Videos</a:t>
            </a:r>
            <a:endParaRPr lang="en-US" sz="1400" dirty="0"/>
          </a:p>
        </p:txBody>
      </p:sp>
      <p:sp>
        <p:nvSpPr>
          <p:cNvPr id="15" name="pill"/>
          <p:cNvSpPr/>
          <p:nvPr/>
        </p:nvSpPr>
        <p:spPr>
          <a:xfrm>
            <a:off x="6675120" y="1801368"/>
            <a:ext cx="1965960" cy="457200"/>
          </a:xfrm>
          <a:prstGeom prst="roundRect">
            <a:avLst>
              <a:gd name="adj" fmla="val 50000"/>
            </a:avLst>
          </a:prstGeom>
          <a:solidFill>
            <a:schemeClr val="accent2"/>
          </a:solidFill>
          <a:ln w="12700">
            <a:solidFill>
              <a:schemeClr val="accent2"/>
            </a:solidFill>
            <a:prstDash val="solid"/>
          </a:ln>
        </p:spPr>
      </p:sp>
      <p:pic>
        <p:nvPicPr>
          <p:cNvPr id="16" name="Image 3" descr="mic">    </p:cNvPr>
          <p:cNvPicPr>
            <a:picLocks noChangeAspect="1"/>
          </p:cNvPicPr>
          <p:nvPr/>
        </p:nvPicPr>
        <p:blipFill>
          <a:blip r:embed="rId4"/>
          <a:stretch>
            <a:fillRect/>
          </a:stretch>
        </p:blipFill>
        <p:spPr>
          <a:xfrm>
            <a:off x="6812280" y="1920240"/>
            <a:ext cx="219456" cy="219456"/>
          </a:xfrm>
          <a:prstGeom prst="rect">
            <a:avLst/>
          </a:prstGeom>
        </p:spPr>
      </p:pic>
      <p:sp>
        <p:nvSpPr>
          <p:cNvPr id="17" name="Text 11"/>
          <p:cNvSpPr txBox="1"/>
          <p:nvPr/>
        </p:nvSpPr>
        <p:spPr>
          <a:xfrm>
            <a:off x="7132320" y="1801368"/>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Audio</a:t>
            </a:r>
            <a:endParaRPr lang="en-US" sz="1400" dirty="0"/>
          </a:p>
        </p:txBody>
      </p:sp>
      <p:sp>
        <p:nvSpPr>
          <p:cNvPr id="18" name="pill"/>
          <p:cNvSpPr/>
          <p:nvPr/>
        </p:nvSpPr>
        <p:spPr>
          <a:xfrm>
            <a:off x="4572000" y="2368296"/>
            <a:ext cx="1965960" cy="457200"/>
          </a:xfrm>
          <a:prstGeom prst="roundRect">
            <a:avLst>
              <a:gd name="adj" fmla="val 50000"/>
            </a:avLst>
          </a:prstGeom>
          <a:solidFill>
            <a:schemeClr val="accent2"/>
          </a:solidFill>
          <a:ln w="12700">
            <a:solidFill>
              <a:schemeClr val="accent2"/>
            </a:solidFill>
            <a:prstDash val="solid"/>
          </a:ln>
        </p:spPr>
      </p:sp>
      <p:pic>
        <p:nvPicPr>
          <p:cNvPr id="19" name="Image 4" descr="tower">    </p:cNvPr>
          <p:cNvPicPr>
            <a:picLocks noChangeAspect="1"/>
          </p:cNvPicPr>
          <p:nvPr/>
        </p:nvPicPr>
        <p:blipFill>
          <a:blip r:embed="rId5"/>
          <a:stretch>
            <a:fillRect/>
          </a:stretch>
        </p:blipFill>
        <p:spPr>
          <a:xfrm>
            <a:off x="4709160" y="2487168"/>
            <a:ext cx="219456" cy="219456"/>
          </a:xfrm>
          <a:prstGeom prst="rect">
            <a:avLst/>
          </a:prstGeom>
        </p:spPr>
      </p:pic>
      <p:sp>
        <p:nvSpPr>
          <p:cNvPr id="20" name="Text 13"/>
          <p:cNvSpPr txBox="1"/>
          <p:nvPr/>
        </p:nvSpPr>
        <p:spPr>
          <a:xfrm>
            <a:off x="5029200" y="2368296"/>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Sensor readings</a:t>
            </a:r>
            <a:endParaRPr lang="en-US" sz="1400" dirty="0"/>
          </a:p>
        </p:txBody>
      </p:sp>
      <p:sp>
        <p:nvSpPr>
          <p:cNvPr id="21" name="pill"/>
          <p:cNvSpPr/>
          <p:nvPr/>
        </p:nvSpPr>
        <p:spPr>
          <a:xfrm>
            <a:off x="6675120" y="2368296"/>
            <a:ext cx="1965960" cy="457200"/>
          </a:xfrm>
          <a:prstGeom prst="roundRect">
            <a:avLst>
              <a:gd name="adj" fmla="val 50000"/>
            </a:avLst>
          </a:prstGeom>
          <a:solidFill>
            <a:schemeClr val="accent3"/>
          </a:solidFill>
          <a:ln w="12700">
            <a:solidFill>
              <a:schemeClr val="accent3"/>
            </a:solidFill>
            <a:prstDash val="solid"/>
          </a:ln>
        </p:spPr>
      </p:sp>
      <p:pic>
        <p:nvPicPr>
          <p:cNvPr id="22" name="Image 5" descr="dollar">    </p:cNvPr>
          <p:cNvPicPr>
            <a:picLocks noChangeAspect="1"/>
          </p:cNvPicPr>
          <p:nvPr/>
        </p:nvPicPr>
        <p:blipFill>
          <a:blip r:embed="rId6"/>
          <a:stretch>
            <a:fillRect/>
          </a:stretch>
        </p:blipFill>
        <p:spPr>
          <a:xfrm>
            <a:off x="6812280" y="2487168"/>
            <a:ext cx="219456" cy="219456"/>
          </a:xfrm>
          <a:prstGeom prst="rect">
            <a:avLst/>
          </a:prstGeom>
        </p:spPr>
      </p:pic>
      <p:sp>
        <p:nvSpPr>
          <p:cNvPr id="23" name="Text 15"/>
          <p:cNvSpPr txBox="1"/>
          <p:nvPr/>
        </p:nvSpPr>
        <p:spPr>
          <a:xfrm>
            <a:off x="7132320" y="2368296"/>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Transactions</a:t>
            </a:r>
            <a:endParaRPr lang="en-US" sz="1400" dirty="0"/>
          </a:p>
        </p:txBody>
      </p:sp>
      <p:sp>
        <p:nvSpPr>
          <p:cNvPr id="24" name="pill"/>
          <p:cNvSpPr/>
          <p:nvPr/>
        </p:nvSpPr>
        <p:spPr>
          <a:xfrm>
            <a:off x="4572000" y="2935224"/>
            <a:ext cx="1965960" cy="457200"/>
          </a:xfrm>
          <a:prstGeom prst="roundRect">
            <a:avLst>
              <a:gd name="adj" fmla="val 50000"/>
            </a:avLst>
          </a:prstGeom>
          <a:solidFill>
            <a:schemeClr val="accent3"/>
          </a:solidFill>
          <a:ln w="12700">
            <a:solidFill>
              <a:schemeClr val="accent3"/>
            </a:solidFill>
            <a:prstDash val="solid"/>
          </a:ln>
        </p:spPr>
      </p:sp>
      <p:pic>
        <p:nvPicPr>
          <p:cNvPr id="25" name="Image 6" descr="comments">    </p:cNvPr>
          <p:cNvPicPr>
            <a:picLocks noChangeAspect="1"/>
          </p:cNvPicPr>
          <p:nvPr/>
        </p:nvPicPr>
        <p:blipFill>
          <a:blip r:embed="rId7"/>
          <a:stretch>
            <a:fillRect/>
          </a:stretch>
        </p:blipFill>
        <p:spPr>
          <a:xfrm>
            <a:off x="4709160" y="3054096"/>
            <a:ext cx="219456" cy="219456"/>
          </a:xfrm>
          <a:prstGeom prst="rect">
            <a:avLst/>
          </a:prstGeom>
        </p:spPr>
      </p:pic>
      <p:sp>
        <p:nvSpPr>
          <p:cNvPr id="26" name="Text 17"/>
          <p:cNvSpPr txBox="1"/>
          <p:nvPr/>
        </p:nvSpPr>
        <p:spPr>
          <a:xfrm>
            <a:off x="5029200" y="2935224"/>
            <a:ext cx="1417320" cy="457200"/>
          </a:xfrm>
          <a:prstGeom prst="rect">
            <a:avLst/>
          </a:prstGeom>
          <a:noFill/>
          <a:ln/>
        </p:spPr>
        <p:txBody>
          <a:bodyPr wrap="square" lIns="0" tIns="0" rIns="0" bIns="0" rtlCol="0" anchor="ctr"/>
          <a:lstStyle/>
          <a:p>
            <a:pPr indent="0" marL="0">
              <a:buNone/>
            </a:pPr>
            <a:r>
              <a:rPr lang="en-US" sz="1400" b="1" dirty="0">
                <a:solidFill>
                  <a:schemeClr val="bg1"/>
                </a:solidFill>
              </a:rPr>
              <a:t>Social posts</a:t>
            </a:r>
            <a:endParaRPr lang="en-US" sz="1400" dirty="0"/>
          </a:p>
        </p:txBody>
      </p:sp>
      <p:sp>
        <p:nvSpPr>
          <p:cNvPr id="27" name="flow step"/>
          <p:cNvSpPr/>
          <p:nvPr/>
        </p:nvSpPr>
        <p:spPr>
          <a:xfrm>
            <a:off x="457200" y="3703320"/>
            <a:ext cx="1426464" cy="731520"/>
          </a:xfrm>
          <a:prstGeom prst="roundRect">
            <a:avLst>
              <a:gd name="adj" fmla="val 12500"/>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28" name="Text 19"/>
          <p:cNvSpPr txBox="1"/>
          <p:nvPr/>
        </p:nvSpPr>
        <p:spPr>
          <a:xfrm>
            <a:off x="502920" y="3703320"/>
            <a:ext cx="1335024" cy="731520"/>
          </a:xfrm>
          <a:prstGeom prst="rect">
            <a:avLst/>
          </a:prstGeom>
          <a:noFill/>
          <a:ln/>
        </p:spPr>
        <p:txBody>
          <a:bodyPr wrap="square" lIns="0" tIns="0" rIns="0" bIns="0" rtlCol="0" anchor="ctr"/>
          <a:lstStyle/>
          <a:p>
            <a:pPr algn="ctr" indent="0" marL="0">
              <a:buNone/>
            </a:pPr>
            <a:r>
              <a:rPr lang="en-US" sz="1400" b="1" dirty="0">
                <a:solidFill>
                  <a:schemeClr val="bg1"/>
                </a:solidFill>
              </a:rPr>
              <a:t>Input</a:t>
            </a:r>
            <a:endParaRPr lang="en-US" sz="1400" dirty="0"/>
          </a:p>
        </p:txBody>
      </p:sp>
      <p:sp>
        <p:nvSpPr>
          <p:cNvPr id="29" name="arrow"/>
          <p:cNvSpPr/>
          <p:nvPr/>
        </p:nvSpPr>
        <p:spPr>
          <a:xfrm>
            <a:off x="1911096" y="4069080"/>
            <a:ext cx="219456" cy="0"/>
          </a:xfrm>
          <a:prstGeom prst="line">
            <a:avLst/>
          </a:prstGeom>
          <a:noFill/>
          <a:ln w="25400">
            <a:solidFill>
              <a:schemeClr val="accent2"/>
            </a:solidFill>
            <a:prstDash val="solid"/>
            <a:tailEnd type="triangle"/>
          </a:ln>
        </p:spPr>
      </p:sp>
      <p:sp>
        <p:nvSpPr>
          <p:cNvPr id="30" name="flow step"/>
          <p:cNvSpPr/>
          <p:nvPr/>
        </p:nvSpPr>
        <p:spPr>
          <a:xfrm>
            <a:off x="2157984" y="3703320"/>
            <a:ext cx="1426464" cy="731520"/>
          </a:xfrm>
          <a:prstGeom prst="roundRect">
            <a:avLst>
              <a:gd name="adj" fmla="val 12500"/>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31" name="Text 22"/>
          <p:cNvSpPr txBox="1"/>
          <p:nvPr/>
        </p:nvSpPr>
        <p:spPr>
          <a:xfrm>
            <a:off x="2203704" y="3703320"/>
            <a:ext cx="1335024" cy="731520"/>
          </a:xfrm>
          <a:prstGeom prst="rect">
            <a:avLst/>
          </a:prstGeom>
          <a:noFill/>
          <a:ln/>
        </p:spPr>
        <p:txBody>
          <a:bodyPr wrap="square" lIns="0" tIns="0" rIns="0" bIns="0" rtlCol="0" anchor="ctr"/>
          <a:lstStyle/>
          <a:p>
            <a:pPr algn="ctr" indent="0" marL="0">
              <a:buNone/>
            </a:pPr>
            <a:r>
              <a:rPr lang="en-US" sz="1400" b="1" dirty="0">
                <a:solidFill>
                  <a:schemeClr val="bg1"/>
                </a:solidFill>
              </a:rPr>
              <a:t>Data collection</a:t>
            </a:r>
            <a:endParaRPr lang="en-US" sz="1400" dirty="0"/>
          </a:p>
        </p:txBody>
      </p:sp>
      <p:sp>
        <p:nvSpPr>
          <p:cNvPr id="32" name="arrow"/>
          <p:cNvSpPr/>
          <p:nvPr/>
        </p:nvSpPr>
        <p:spPr>
          <a:xfrm>
            <a:off x="3611880" y="4069080"/>
            <a:ext cx="219456" cy="0"/>
          </a:xfrm>
          <a:prstGeom prst="line">
            <a:avLst/>
          </a:prstGeom>
          <a:noFill/>
          <a:ln w="25400">
            <a:solidFill>
              <a:schemeClr val="accent2"/>
            </a:solidFill>
            <a:prstDash val="solid"/>
            <a:tailEnd type="triangle"/>
          </a:ln>
        </p:spPr>
      </p:sp>
      <p:sp>
        <p:nvSpPr>
          <p:cNvPr id="33" name="flow step"/>
          <p:cNvSpPr/>
          <p:nvPr/>
        </p:nvSpPr>
        <p:spPr>
          <a:xfrm>
            <a:off x="3858768" y="3703320"/>
            <a:ext cx="1426464" cy="731520"/>
          </a:xfrm>
          <a:prstGeom prst="roundRect">
            <a:avLst>
              <a:gd name="adj" fmla="val 12500"/>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34" name="Text 25"/>
          <p:cNvSpPr txBox="1"/>
          <p:nvPr/>
        </p:nvSpPr>
        <p:spPr>
          <a:xfrm>
            <a:off x="3904488" y="3703320"/>
            <a:ext cx="1335024" cy="731520"/>
          </a:xfrm>
          <a:prstGeom prst="rect">
            <a:avLst/>
          </a:prstGeom>
          <a:noFill/>
          <a:ln/>
        </p:spPr>
        <p:txBody>
          <a:bodyPr wrap="square" lIns="0" tIns="0" rIns="0" bIns="0" rtlCol="0" anchor="ctr"/>
          <a:lstStyle/>
          <a:p>
            <a:pPr algn="ctr" indent="0" marL="0">
              <a:buNone/>
            </a:pPr>
            <a:r>
              <a:rPr lang="en-US" sz="1400" b="1" dirty="0">
                <a:solidFill>
                  <a:schemeClr val="bg1"/>
                </a:solidFill>
              </a:rPr>
              <a:t>Storage</a:t>
            </a:r>
            <a:endParaRPr lang="en-US" sz="1400" dirty="0"/>
          </a:p>
        </p:txBody>
      </p:sp>
      <p:sp>
        <p:nvSpPr>
          <p:cNvPr id="35" name="arrow"/>
          <p:cNvSpPr/>
          <p:nvPr/>
        </p:nvSpPr>
        <p:spPr>
          <a:xfrm>
            <a:off x="5312664" y="4069080"/>
            <a:ext cx="219456" cy="0"/>
          </a:xfrm>
          <a:prstGeom prst="line">
            <a:avLst/>
          </a:prstGeom>
          <a:noFill/>
          <a:ln w="25400">
            <a:solidFill>
              <a:schemeClr val="accent2"/>
            </a:solidFill>
            <a:prstDash val="solid"/>
            <a:tailEnd type="triangle"/>
          </a:ln>
        </p:spPr>
      </p:sp>
      <p:sp>
        <p:nvSpPr>
          <p:cNvPr id="36" name="flow step"/>
          <p:cNvSpPr/>
          <p:nvPr/>
        </p:nvSpPr>
        <p:spPr>
          <a:xfrm>
            <a:off x="5559552" y="3703320"/>
            <a:ext cx="1426464" cy="731520"/>
          </a:xfrm>
          <a:prstGeom prst="roundRect">
            <a:avLst>
              <a:gd name="adj" fmla="val 12500"/>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37" name="Text 28"/>
          <p:cNvSpPr txBox="1"/>
          <p:nvPr/>
        </p:nvSpPr>
        <p:spPr>
          <a:xfrm>
            <a:off x="5605272" y="3703320"/>
            <a:ext cx="1335024" cy="731520"/>
          </a:xfrm>
          <a:prstGeom prst="rect">
            <a:avLst/>
          </a:prstGeom>
          <a:noFill/>
          <a:ln/>
        </p:spPr>
        <p:txBody>
          <a:bodyPr wrap="square" lIns="0" tIns="0" rIns="0" bIns="0" rtlCol="0" anchor="ctr"/>
          <a:lstStyle/>
          <a:p>
            <a:pPr algn="ctr" indent="0" marL="0">
              <a:buNone/>
            </a:pPr>
            <a:r>
              <a:rPr lang="en-US" sz="1400" b="1" dirty="0">
                <a:solidFill>
                  <a:schemeClr val="bg1"/>
                </a:solidFill>
              </a:rPr>
              <a:t>Processing</a:t>
            </a:r>
            <a:endParaRPr lang="en-US" sz="1400" dirty="0"/>
          </a:p>
        </p:txBody>
      </p:sp>
      <p:sp>
        <p:nvSpPr>
          <p:cNvPr id="38" name="arrow"/>
          <p:cNvSpPr/>
          <p:nvPr/>
        </p:nvSpPr>
        <p:spPr>
          <a:xfrm>
            <a:off x="7013448" y="4069080"/>
            <a:ext cx="219456" cy="0"/>
          </a:xfrm>
          <a:prstGeom prst="line">
            <a:avLst/>
          </a:prstGeom>
          <a:noFill/>
          <a:ln w="25400">
            <a:solidFill>
              <a:schemeClr val="accent2"/>
            </a:solidFill>
            <a:prstDash val="solid"/>
            <a:tailEnd type="triangle"/>
          </a:ln>
        </p:spPr>
      </p:sp>
      <p:sp>
        <p:nvSpPr>
          <p:cNvPr id="39" name="flow step"/>
          <p:cNvSpPr/>
          <p:nvPr/>
        </p:nvSpPr>
        <p:spPr>
          <a:xfrm>
            <a:off x="7260336" y="3703320"/>
            <a:ext cx="1426464" cy="731520"/>
          </a:xfrm>
          <a:prstGeom prst="roundRect">
            <a:avLst>
              <a:gd name="adj" fmla="val 12500"/>
            </a:avLst>
          </a:prstGeom>
          <a:solidFill>
            <a:schemeClr val="accent5"/>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40" name="Text 31"/>
          <p:cNvSpPr txBox="1"/>
          <p:nvPr/>
        </p:nvSpPr>
        <p:spPr>
          <a:xfrm>
            <a:off x="7306056" y="3703320"/>
            <a:ext cx="1335024" cy="731520"/>
          </a:xfrm>
          <a:prstGeom prst="rect">
            <a:avLst/>
          </a:prstGeom>
          <a:noFill/>
          <a:ln/>
        </p:spPr>
        <p:txBody>
          <a:bodyPr wrap="square" lIns="0" tIns="0" rIns="0" bIns="0" rtlCol="0" anchor="ctr"/>
          <a:lstStyle/>
          <a:p>
            <a:pPr algn="ctr" indent="0" marL="0">
              <a:buNone/>
            </a:pPr>
            <a:r>
              <a:rPr lang="en-US" sz="1400" b="1" dirty="0">
                <a:solidFill>
                  <a:schemeClr val="tx1"/>
                </a:solidFill>
              </a:rPr>
              <a:t>Insights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data matters</a:t>
            </a:r>
            <a:endParaRPr lang="en-US" sz="3400" dirty="0"/>
          </a:p>
        </p:txBody>
      </p:sp>
      <p:sp>
        <p:nvSpPr>
          <p:cNvPr id="3" name="card"/>
          <p:cNvSpPr/>
          <p:nvPr/>
        </p:nvSpPr>
        <p:spPr>
          <a:xfrm>
            <a:off x="457200" y="123444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640080" y="1508760"/>
            <a:ext cx="548640" cy="548640"/>
          </a:xfrm>
          <a:prstGeom prst="ellipse">
            <a:avLst/>
          </a:prstGeom>
          <a:solidFill>
            <a:schemeClr val="accent4"/>
          </a:solidFill>
          <a:ln w="12700">
            <a:solidFill>
              <a:schemeClr val="accent4"/>
            </a:solidFill>
            <a:prstDash val="solid"/>
          </a:ln>
        </p:spPr>
      </p:sp>
      <p:pic>
        <p:nvPicPr>
          <p:cNvPr id="5" name="Image 0" descr="film icon">    </p:cNvPr>
          <p:cNvPicPr>
            <a:picLocks noChangeAspect="1"/>
          </p:cNvPicPr>
          <p:nvPr/>
        </p:nvPicPr>
        <p:blipFill>
          <a:blip r:embed="rId1"/>
          <a:stretch>
            <a:fillRect/>
          </a:stretch>
        </p:blipFill>
        <p:spPr>
          <a:xfrm>
            <a:off x="777240" y="1645920"/>
            <a:ext cx="274320" cy="274320"/>
          </a:xfrm>
          <a:prstGeom prst="rect">
            <a:avLst/>
          </a:prstGeom>
        </p:spPr>
      </p:pic>
      <p:sp>
        <p:nvSpPr>
          <p:cNvPr id="6" name="Text 3"/>
          <p:cNvSpPr txBox="1"/>
          <p:nvPr/>
        </p:nvSpPr>
        <p:spPr>
          <a:xfrm>
            <a:off x="1325880" y="141732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Netflix</a:t>
            </a:r>
            <a:endParaRPr lang="en-US" sz="1600" dirty="0"/>
          </a:p>
        </p:txBody>
      </p:sp>
      <p:sp>
        <p:nvSpPr>
          <p:cNvPr id="7" name="Text 4"/>
          <p:cNvSpPr txBox="1"/>
          <p:nvPr/>
        </p:nvSpPr>
        <p:spPr>
          <a:xfrm>
            <a:off x="1325880" y="1764792"/>
            <a:ext cx="1600200" cy="548640"/>
          </a:xfrm>
          <a:prstGeom prst="rect">
            <a:avLst/>
          </a:prstGeom>
          <a:noFill/>
          <a:ln/>
        </p:spPr>
        <p:txBody>
          <a:bodyPr wrap="square" lIns="0" tIns="0" rIns="0" bIns="0" rtlCol="0" anchor="t"/>
          <a:lstStyle/>
          <a:p>
            <a:pPr indent="0" marL="0">
              <a:buNone/>
            </a:pPr>
            <a:r>
              <a:rPr lang="en-US" sz="1400" dirty="0">
                <a:solidFill>
                  <a:schemeClr val="tx2"/>
                </a:solidFill>
              </a:rPr>
              <a:t>Recommends shows you'll like</a:t>
            </a:r>
            <a:endParaRPr lang="en-US" sz="1400" dirty="0"/>
          </a:p>
        </p:txBody>
      </p:sp>
      <p:sp>
        <p:nvSpPr>
          <p:cNvPr id="8" name="card"/>
          <p:cNvSpPr/>
          <p:nvPr/>
        </p:nvSpPr>
        <p:spPr>
          <a:xfrm>
            <a:off x="3291840" y="123444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badge"/>
          <p:cNvSpPr/>
          <p:nvPr/>
        </p:nvSpPr>
        <p:spPr>
          <a:xfrm>
            <a:off x="3474720" y="1508760"/>
            <a:ext cx="548640" cy="548640"/>
          </a:xfrm>
          <a:prstGeom prst="ellipse">
            <a:avLst/>
          </a:prstGeom>
          <a:solidFill>
            <a:schemeClr val="accent5"/>
          </a:solidFill>
          <a:ln w="12700">
            <a:solidFill>
              <a:schemeClr val="accent5"/>
            </a:solidFill>
            <a:prstDash val="solid"/>
          </a:ln>
        </p:spPr>
      </p:sp>
      <p:pic>
        <p:nvPicPr>
          <p:cNvPr id="10" name="Image 1" descr="cart icon">    </p:cNvPr>
          <p:cNvPicPr>
            <a:picLocks noChangeAspect="1"/>
          </p:cNvPicPr>
          <p:nvPr/>
        </p:nvPicPr>
        <p:blipFill>
          <a:blip r:embed="rId2"/>
          <a:stretch>
            <a:fillRect/>
          </a:stretch>
        </p:blipFill>
        <p:spPr>
          <a:xfrm>
            <a:off x="3611880" y="1645920"/>
            <a:ext cx="274320" cy="274320"/>
          </a:xfrm>
          <a:prstGeom prst="rect">
            <a:avLst/>
          </a:prstGeom>
        </p:spPr>
      </p:pic>
      <p:sp>
        <p:nvSpPr>
          <p:cNvPr id="11" name="Text 7"/>
          <p:cNvSpPr txBox="1"/>
          <p:nvPr/>
        </p:nvSpPr>
        <p:spPr>
          <a:xfrm>
            <a:off x="4160520" y="141732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Amazon</a:t>
            </a:r>
            <a:endParaRPr lang="en-US" sz="1600" dirty="0"/>
          </a:p>
        </p:txBody>
      </p:sp>
      <p:sp>
        <p:nvSpPr>
          <p:cNvPr id="12" name="Text 8"/>
          <p:cNvSpPr txBox="1"/>
          <p:nvPr/>
        </p:nvSpPr>
        <p:spPr>
          <a:xfrm>
            <a:off x="4160520" y="1764792"/>
            <a:ext cx="1600200" cy="548640"/>
          </a:xfrm>
          <a:prstGeom prst="rect">
            <a:avLst/>
          </a:prstGeom>
          <a:noFill/>
          <a:ln/>
        </p:spPr>
        <p:txBody>
          <a:bodyPr wrap="square" lIns="0" tIns="0" rIns="0" bIns="0" rtlCol="0" anchor="t"/>
          <a:lstStyle/>
          <a:p>
            <a:pPr indent="0" marL="0">
              <a:buNone/>
            </a:pPr>
            <a:r>
              <a:rPr lang="en-US" sz="1400" dirty="0">
                <a:solidFill>
                  <a:schemeClr val="tx2"/>
                </a:solidFill>
              </a:rPr>
              <a:t>Suggests products to buy</a:t>
            </a:r>
            <a:endParaRPr lang="en-US" sz="1400" dirty="0"/>
          </a:p>
        </p:txBody>
      </p:sp>
      <p:sp>
        <p:nvSpPr>
          <p:cNvPr id="13" name="card"/>
          <p:cNvSpPr/>
          <p:nvPr/>
        </p:nvSpPr>
        <p:spPr>
          <a:xfrm>
            <a:off x="6126480" y="123444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badge"/>
          <p:cNvSpPr/>
          <p:nvPr/>
        </p:nvSpPr>
        <p:spPr>
          <a:xfrm>
            <a:off x="6309360" y="1508760"/>
            <a:ext cx="548640" cy="548640"/>
          </a:xfrm>
          <a:prstGeom prst="ellipse">
            <a:avLst/>
          </a:prstGeom>
          <a:solidFill>
            <a:schemeClr val="accent3"/>
          </a:solidFill>
          <a:ln w="12700">
            <a:solidFill>
              <a:schemeClr val="accent3"/>
            </a:solidFill>
            <a:prstDash val="solid"/>
          </a:ln>
        </p:spPr>
      </p:sp>
      <p:pic>
        <p:nvPicPr>
          <p:cNvPr id="15" name="Image 2" descr="search icon">    </p:cNvPr>
          <p:cNvPicPr>
            <a:picLocks noChangeAspect="1"/>
          </p:cNvPicPr>
          <p:nvPr/>
        </p:nvPicPr>
        <p:blipFill>
          <a:blip r:embed="rId3"/>
          <a:stretch>
            <a:fillRect/>
          </a:stretch>
        </p:blipFill>
        <p:spPr>
          <a:xfrm>
            <a:off x="6446520" y="1645920"/>
            <a:ext cx="274320" cy="274320"/>
          </a:xfrm>
          <a:prstGeom prst="rect">
            <a:avLst/>
          </a:prstGeom>
        </p:spPr>
      </p:pic>
      <p:sp>
        <p:nvSpPr>
          <p:cNvPr id="16" name="Text 11"/>
          <p:cNvSpPr txBox="1"/>
          <p:nvPr/>
        </p:nvSpPr>
        <p:spPr>
          <a:xfrm>
            <a:off x="6995160" y="141732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Google Search</a:t>
            </a:r>
            <a:endParaRPr lang="en-US" sz="1600" dirty="0"/>
          </a:p>
        </p:txBody>
      </p:sp>
      <p:sp>
        <p:nvSpPr>
          <p:cNvPr id="17" name="Text 12"/>
          <p:cNvSpPr txBox="1"/>
          <p:nvPr/>
        </p:nvSpPr>
        <p:spPr>
          <a:xfrm>
            <a:off x="6995160" y="1764792"/>
            <a:ext cx="1600200" cy="548640"/>
          </a:xfrm>
          <a:prstGeom prst="rect">
            <a:avLst/>
          </a:prstGeom>
          <a:noFill/>
          <a:ln/>
        </p:spPr>
        <p:txBody>
          <a:bodyPr wrap="square" lIns="0" tIns="0" rIns="0" bIns="0" rtlCol="0" anchor="t"/>
          <a:lstStyle/>
          <a:p>
            <a:pPr indent="0" marL="0">
              <a:buNone/>
            </a:pPr>
            <a:r>
              <a:rPr lang="en-US" sz="1400" dirty="0">
                <a:solidFill>
                  <a:schemeClr val="tx2"/>
                </a:solidFill>
              </a:rPr>
              <a:t>Ranks the most relevant pages</a:t>
            </a:r>
            <a:endParaRPr lang="en-US" sz="1400" dirty="0"/>
          </a:p>
        </p:txBody>
      </p:sp>
      <p:sp>
        <p:nvSpPr>
          <p:cNvPr id="18" name="card"/>
          <p:cNvSpPr/>
          <p:nvPr/>
        </p:nvSpPr>
        <p:spPr>
          <a:xfrm>
            <a:off x="457200" y="251460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 badge"/>
          <p:cNvSpPr/>
          <p:nvPr/>
        </p:nvSpPr>
        <p:spPr>
          <a:xfrm>
            <a:off x="640080" y="2788920"/>
            <a:ext cx="548640" cy="548640"/>
          </a:xfrm>
          <a:prstGeom prst="ellipse">
            <a:avLst/>
          </a:prstGeom>
          <a:solidFill>
            <a:schemeClr val="accent4"/>
          </a:solidFill>
          <a:ln w="12700">
            <a:solidFill>
              <a:schemeClr val="accent4"/>
            </a:solidFill>
            <a:prstDash val="solid"/>
          </a:ln>
        </p:spPr>
      </p:sp>
      <p:pic>
        <p:nvPicPr>
          <p:cNvPr id="20" name="Image 3" descr="youtube icon">    </p:cNvPr>
          <p:cNvPicPr>
            <a:picLocks noChangeAspect="1"/>
          </p:cNvPicPr>
          <p:nvPr/>
        </p:nvPicPr>
        <p:blipFill>
          <a:blip r:embed="rId4"/>
          <a:stretch>
            <a:fillRect/>
          </a:stretch>
        </p:blipFill>
        <p:spPr>
          <a:xfrm>
            <a:off x="777240" y="2926080"/>
            <a:ext cx="274320" cy="274320"/>
          </a:xfrm>
          <a:prstGeom prst="rect">
            <a:avLst/>
          </a:prstGeom>
        </p:spPr>
      </p:pic>
      <p:sp>
        <p:nvSpPr>
          <p:cNvPr id="21" name="Text 15"/>
          <p:cNvSpPr txBox="1"/>
          <p:nvPr/>
        </p:nvSpPr>
        <p:spPr>
          <a:xfrm>
            <a:off x="1325880" y="269748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YouTube</a:t>
            </a:r>
            <a:endParaRPr lang="en-US" sz="1600" dirty="0"/>
          </a:p>
        </p:txBody>
      </p:sp>
      <p:sp>
        <p:nvSpPr>
          <p:cNvPr id="22" name="Text 16"/>
          <p:cNvSpPr txBox="1"/>
          <p:nvPr/>
        </p:nvSpPr>
        <p:spPr>
          <a:xfrm>
            <a:off x="1325880" y="3044952"/>
            <a:ext cx="1600200" cy="548640"/>
          </a:xfrm>
          <a:prstGeom prst="rect">
            <a:avLst/>
          </a:prstGeom>
          <a:noFill/>
          <a:ln/>
        </p:spPr>
        <p:txBody>
          <a:bodyPr wrap="square" lIns="0" tIns="0" rIns="0" bIns="0" rtlCol="0" anchor="t"/>
          <a:lstStyle/>
          <a:p>
            <a:pPr indent="0" marL="0">
              <a:buNone/>
            </a:pPr>
            <a:r>
              <a:rPr lang="en-US" sz="1400" dirty="0">
                <a:solidFill>
                  <a:schemeClr val="tx2"/>
                </a:solidFill>
              </a:rPr>
              <a:t>Picks your next video</a:t>
            </a:r>
            <a:endParaRPr lang="en-US" sz="1400" dirty="0"/>
          </a:p>
        </p:txBody>
      </p:sp>
      <p:sp>
        <p:nvSpPr>
          <p:cNvPr id="23" name="card"/>
          <p:cNvSpPr/>
          <p:nvPr/>
        </p:nvSpPr>
        <p:spPr>
          <a:xfrm>
            <a:off x="3291840" y="251460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 badge"/>
          <p:cNvSpPr/>
          <p:nvPr/>
        </p:nvSpPr>
        <p:spPr>
          <a:xfrm>
            <a:off x="3474720" y="2788920"/>
            <a:ext cx="548640" cy="548640"/>
          </a:xfrm>
          <a:prstGeom prst="ellipse">
            <a:avLst/>
          </a:prstGeom>
          <a:solidFill>
            <a:schemeClr val="accent1"/>
          </a:solidFill>
          <a:ln w="12700">
            <a:solidFill>
              <a:schemeClr val="accent1"/>
            </a:solidFill>
            <a:prstDash val="solid"/>
          </a:ln>
        </p:spPr>
      </p:sp>
      <p:pic>
        <p:nvPicPr>
          <p:cNvPr id="25" name="Image 4" descr="car icon">    </p:cNvPr>
          <p:cNvPicPr>
            <a:picLocks noChangeAspect="1"/>
          </p:cNvPicPr>
          <p:nvPr/>
        </p:nvPicPr>
        <p:blipFill>
          <a:blip r:embed="rId5"/>
          <a:stretch>
            <a:fillRect/>
          </a:stretch>
        </p:blipFill>
        <p:spPr>
          <a:xfrm>
            <a:off x="3611880" y="2926080"/>
            <a:ext cx="274320" cy="274320"/>
          </a:xfrm>
          <a:prstGeom prst="rect">
            <a:avLst/>
          </a:prstGeom>
        </p:spPr>
      </p:pic>
      <p:sp>
        <p:nvSpPr>
          <p:cNvPr id="26" name="Text 19"/>
          <p:cNvSpPr txBox="1"/>
          <p:nvPr/>
        </p:nvSpPr>
        <p:spPr>
          <a:xfrm>
            <a:off x="4160520" y="269748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Self-driving cars</a:t>
            </a:r>
            <a:endParaRPr lang="en-US" sz="1600" dirty="0"/>
          </a:p>
        </p:txBody>
      </p:sp>
      <p:sp>
        <p:nvSpPr>
          <p:cNvPr id="27" name="Text 20"/>
          <p:cNvSpPr txBox="1"/>
          <p:nvPr/>
        </p:nvSpPr>
        <p:spPr>
          <a:xfrm>
            <a:off x="4160520" y="3044952"/>
            <a:ext cx="1600200" cy="548640"/>
          </a:xfrm>
          <a:prstGeom prst="rect">
            <a:avLst/>
          </a:prstGeom>
          <a:noFill/>
          <a:ln/>
        </p:spPr>
        <p:txBody>
          <a:bodyPr wrap="square" lIns="0" tIns="0" rIns="0" bIns="0" rtlCol="0" anchor="t"/>
          <a:lstStyle/>
          <a:p>
            <a:pPr indent="0" marL="0">
              <a:buNone/>
            </a:pPr>
            <a:r>
              <a:rPr lang="en-US" sz="1400" dirty="0">
                <a:solidFill>
                  <a:schemeClr val="tx2"/>
                </a:solidFill>
              </a:rPr>
              <a:t>Read roads using sensor data</a:t>
            </a:r>
            <a:endParaRPr lang="en-US" sz="1400" dirty="0"/>
          </a:p>
        </p:txBody>
      </p:sp>
      <p:sp>
        <p:nvSpPr>
          <p:cNvPr id="28" name="card"/>
          <p:cNvSpPr/>
          <p:nvPr/>
        </p:nvSpPr>
        <p:spPr>
          <a:xfrm>
            <a:off x="6126480" y="2514600"/>
            <a:ext cx="2560320" cy="1143000"/>
          </a:xfrm>
          <a:prstGeom prst="roundRect">
            <a:avLst>
              <a:gd name="adj" fmla="val 9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con badge"/>
          <p:cNvSpPr/>
          <p:nvPr/>
        </p:nvSpPr>
        <p:spPr>
          <a:xfrm>
            <a:off x="6309360" y="2788920"/>
            <a:ext cx="548640" cy="548640"/>
          </a:xfrm>
          <a:prstGeom prst="ellipse">
            <a:avLst/>
          </a:prstGeom>
          <a:solidFill>
            <a:schemeClr val="accent6"/>
          </a:solidFill>
          <a:ln w="12700">
            <a:solidFill>
              <a:schemeClr val="accent6"/>
            </a:solidFill>
            <a:prstDash val="solid"/>
          </a:ln>
        </p:spPr>
      </p:sp>
      <p:pic>
        <p:nvPicPr>
          <p:cNvPr id="30" name="Image 5" descr="steth icon">    </p:cNvPr>
          <p:cNvPicPr>
            <a:picLocks noChangeAspect="1"/>
          </p:cNvPicPr>
          <p:nvPr/>
        </p:nvPicPr>
        <p:blipFill>
          <a:blip r:embed="rId6"/>
          <a:stretch>
            <a:fillRect/>
          </a:stretch>
        </p:blipFill>
        <p:spPr>
          <a:xfrm>
            <a:off x="6446520" y="2926080"/>
            <a:ext cx="274320" cy="274320"/>
          </a:xfrm>
          <a:prstGeom prst="rect">
            <a:avLst/>
          </a:prstGeom>
        </p:spPr>
      </p:pic>
      <p:sp>
        <p:nvSpPr>
          <p:cNvPr id="31" name="Text 23"/>
          <p:cNvSpPr txBox="1"/>
          <p:nvPr/>
        </p:nvSpPr>
        <p:spPr>
          <a:xfrm>
            <a:off x="6995160" y="269748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Medical diagnosis</a:t>
            </a:r>
            <a:endParaRPr lang="en-US" sz="1600" dirty="0"/>
          </a:p>
        </p:txBody>
      </p:sp>
      <p:sp>
        <p:nvSpPr>
          <p:cNvPr id="32" name="Text 24"/>
          <p:cNvSpPr txBox="1"/>
          <p:nvPr/>
        </p:nvSpPr>
        <p:spPr>
          <a:xfrm>
            <a:off x="6995160" y="3044952"/>
            <a:ext cx="1600200" cy="548640"/>
          </a:xfrm>
          <a:prstGeom prst="rect">
            <a:avLst/>
          </a:prstGeom>
          <a:noFill/>
          <a:ln/>
        </p:spPr>
        <p:txBody>
          <a:bodyPr wrap="square" lIns="0" tIns="0" rIns="0" bIns="0" rtlCol="0" anchor="t"/>
          <a:lstStyle/>
          <a:p>
            <a:pPr indent="0" marL="0">
              <a:buNone/>
            </a:pPr>
            <a:r>
              <a:rPr lang="en-US" sz="1400" dirty="0">
                <a:solidFill>
                  <a:schemeClr val="tx2"/>
                </a:solidFill>
              </a:rPr>
              <a:t>Spots disease in scans</a:t>
            </a:r>
            <a:endParaRPr lang="en-US" sz="1400" dirty="0"/>
          </a:p>
        </p:txBody>
      </p:sp>
      <p:sp>
        <p:nvSpPr>
          <p:cNvPr id="33" name="banner"/>
          <p:cNvSpPr/>
          <p:nvPr/>
        </p:nvSpPr>
        <p:spPr>
          <a:xfrm>
            <a:off x="457200" y="3886200"/>
            <a:ext cx="8229600" cy="685800"/>
          </a:xfrm>
          <a:prstGeom prst="roundRect">
            <a:avLst>
              <a:gd name="adj" fmla="val 16000"/>
            </a:avLst>
          </a:prstGeom>
          <a:solidFill>
            <a:schemeClr val="accent2"/>
          </a:solidFill>
          <a:ln w="12700">
            <a:solidFill>
              <a:schemeClr val="accent2"/>
            </a:solidFill>
            <a:prstDash val="solid"/>
          </a:ln>
        </p:spPr>
      </p:sp>
      <p:pic>
        <p:nvPicPr>
          <p:cNvPr id="34" name="Image 6" descr="fuel pump">    </p:cNvPr>
          <p:cNvPicPr>
            <a:picLocks noChangeAspect="1"/>
          </p:cNvPicPr>
          <p:nvPr/>
        </p:nvPicPr>
        <p:blipFill>
          <a:blip r:embed="rId7"/>
          <a:stretch>
            <a:fillRect/>
          </a:stretch>
        </p:blipFill>
        <p:spPr>
          <a:xfrm>
            <a:off x="731520" y="4041648"/>
            <a:ext cx="365760" cy="365760"/>
          </a:xfrm>
          <a:prstGeom prst="rect">
            <a:avLst/>
          </a:prstGeom>
        </p:spPr>
      </p:pic>
      <p:sp>
        <p:nvSpPr>
          <p:cNvPr id="35" name="Text 26"/>
          <p:cNvSpPr txBox="1"/>
          <p:nvPr/>
        </p:nvSpPr>
        <p:spPr>
          <a:xfrm>
            <a:off x="1280160" y="3886200"/>
            <a:ext cx="7132320" cy="685800"/>
          </a:xfrm>
          <a:prstGeom prst="rect">
            <a:avLst/>
          </a:prstGeom>
          <a:noFill/>
          <a:ln/>
        </p:spPr>
        <p:txBody>
          <a:bodyPr wrap="square" lIns="0" tIns="0" rIns="0" bIns="0" rtlCol="0" anchor="ctr"/>
          <a:lstStyle/>
          <a:p>
            <a:pPr indent="0" marL="0">
              <a:buNone/>
            </a:pPr>
            <a:r>
              <a:rPr lang="en-US" sz="2400" b="1" dirty="0">
                <a:solidFill>
                  <a:schemeClr val="bg1"/>
                </a:solidFill>
              </a:rPr>
              <a:t>"Data is the fuel of AI"</a:t>
            </a:r>
            <a:endParaRPr lang="en-US" sz="2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Types of data</a:t>
            </a:r>
            <a:endParaRPr lang="en-US" sz="3400" dirty="0"/>
          </a:p>
        </p:txBody>
      </p:sp>
      <p:sp>
        <p:nvSpPr>
          <p:cNvPr id="3" name="root"/>
          <p:cNvSpPr/>
          <p:nvPr/>
        </p:nvSpPr>
        <p:spPr>
          <a:xfrm>
            <a:off x="3657600" y="1188720"/>
            <a:ext cx="1828800" cy="548640"/>
          </a:xfrm>
          <a:prstGeom prst="roundRect">
            <a:avLst>
              <a:gd name="adj" fmla="val 20000"/>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3657600" y="1188720"/>
            <a:ext cx="1828800" cy="548640"/>
          </a:xfrm>
          <a:prstGeom prst="rect">
            <a:avLst/>
          </a:prstGeom>
          <a:noFill/>
          <a:ln/>
        </p:spPr>
        <p:txBody>
          <a:bodyPr wrap="square" lIns="0" tIns="0" rIns="0" bIns="0" rtlCol="0" anchor="ctr"/>
          <a:lstStyle/>
          <a:p>
            <a:pPr algn="ctr" indent="0" marL="0">
              <a:buNone/>
            </a:pPr>
            <a:r>
              <a:rPr lang="en-US" sz="2000" b="1" dirty="0">
                <a:solidFill>
                  <a:schemeClr val="bg1"/>
                </a:solidFill>
              </a:rPr>
              <a:t>Data</a:t>
            </a:r>
            <a:endParaRPr lang="en-US" sz="2000" dirty="0"/>
          </a:p>
        </p:txBody>
      </p:sp>
      <p:sp>
        <p:nvSpPr>
          <p:cNvPr id="5" name="tree line"/>
          <p:cNvSpPr/>
          <p:nvPr/>
        </p:nvSpPr>
        <p:spPr>
          <a:xfrm>
            <a:off x="4572000" y="1737360"/>
            <a:ext cx="0" cy="411480"/>
          </a:xfrm>
          <a:prstGeom prst="line">
            <a:avLst/>
          </a:prstGeom>
          <a:noFill/>
          <a:ln w="25400">
            <a:solidFill>
              <a:schemeClr val="tx2"/>
            </a:solidFill>
            <a:prstDash val="solid"/>
          </a:ln>
        </p:spPr>
      </p:sp>
      <p:sp>
        <p:nvSpPr>
          <p:cNvPr id="6" name="tree line"/>
          <p:cNvSpPr/>
          <p:nvPr/>
        </p:nvSpPr>
        <p:spPr>
          <a:xfrm>
            <a:off x="1645920" y="2148840"/>
            <a:ext cx="5852160" cy="0"/>
          </a:xfrm>
          <a:prstGeom prst="line">
            <a:avLst/>
          </a:prstGeom>
          <a:noFill/>
          <a:ln w="25400">
            <a:solidFill>
              <a:schemeClr val="tx2"/>
            </a:solidFill>
            <a:prstDash val="solid"/>
          </a:ln>
        </p:spPr>
      </p:sp>
      <p:sp>
        <p:nvSpPr>
          <p:cNvPr id="7" name="tree line"/>
          <p:cNvSpPr/>
          <p:nvPr/>
        </p:nvSpPr>
        <p:spPr>
          <a:xfrm>
            <a:off x="1645920" y="2148840"/>
            <a:ext cx="0" cy="365760"/>
          </a:xfrm>
          <a:prstGeom prst="line">
            <a:avLst/>
          </a:prstGeom>
          <a:noFill/>
          <a:ln w="25400">
            <a:solidFill>
              <a:schemeClr val="tx2"/>
            </a:solidFill>
            <a:prstDash val="solid"/>
            <a:tailEnd type="triangle"/>
          </a:ln>
        </p:spPr>
      </p:sp>
      <p:sp>
        <p:nvSpPr>
          <p:cNvPr id="8" name="card"/>
          <p:cNvSpPr/>
          <p:nvPr/>
        </p:nvSpPr>
        <p:spPr>
          <a:xfrm>
            <a:off x="457200" y="2560320"/>
            <a:ext cx="23774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badge"/>
          <p:cNvSpPr/>
          <p:nvPr/>
        </p:nvSpPr>
        <p:spPr>
          <a:xfrm>
            <a:off x="1371600" y="2697480"/>
            <a:ext cx="548640" cy="548640"/>
          </a:xfrm>
          <a:prstGeom prst="ellipse">
            <a:avLst/>
          </a:prstGeom>
          <a:solidFill>
            <a:schemeClr val="accent1"/>
          </a:solidFill>
          <a:ln w="12700">
            <a:solidFill>
              <a:schemeClr val="accent1"/>
            </a:solidFill>
            <a:prstDash val="solid"/>
          </a:ln>
        </p:spPr>
      </p:sp>
      <p:pic>
        <p:nvPicPr>
          <p:cNvPr id="10" name="Image 0" descr="table icon">    </p:cNvPr>
          <p:cNvPicPr>
            <a:picLocks noChangeAspect="1"/>
          </p:cNvPicPr>
          <p:nvPr/>
        </p:nvPicPr>
        <p:blipFill>
          <a:blip r:embed="rId1"/>
          <a:stretch>
            <a:fillRect/>
          </a:stretch>
        </p:blipFill>
        <p:spPr>
          <a:xfrm>
            <a:off x="1508760" y="2834640"/>
            <a:ext cx="274320" cy="274320"/>
          </a:xfrm>
          <a:prstGeom prst="rect">
            <a:avLst/>
          </a:prstGeom>
        </p:spPr>
      </p:pic>
      <p:sp>
        <p:nvSpPr>
          <p:cNvPr id="11" name="Text 8"/>
          <p:cNvSpPr txBox="1"/>
          <p:nvPr/>
        </p:nvSpPr>
        <p:spPr>
          <a:xfrm>
            <a:off x="548640" y="3337560"/>
            <a:ext cx="2194560" cy="365760"/>
          </a:xfrm>
          <a:prstGeom prst="rect">
            <a:avLst/>
          </a:prstGeom>
          <a:noFill/>
          <a:ln/>
        </p:spPr>
        <p:txBody>
          <a:bodyPr wrap="square" lIns="0" tIns="0" rIns="0" bIns="0" rtlCol="0" anchor="ctr"/>
          <a:lstStyle/>
          <a:p>
            <a:pPr algn="ctr" indent="0" marL="0">
              <a:buNone/>
            </a:pPr>
            <a:r>
              <a:rPr lang="en-US" sz="1800" b="1" dirty="0">
                <a:solidFill>
                  <a:schemeClr val="tx1"/>
                </a:solidFill>
              </a:rPr>
              <a:t>Structured</a:t>
            </a:r>
            <a:endParaRPr lang="en-US" sz="1800" dirty="0"/>
          </a:p>
        </p:txBody>
      </p:sp>
      <p:sp>
        <p:nvSpPr>
          <p:cNvPr id="12" name="Text 9"/>
          <p:cNvSpPr txBox="1"/>
          <p:nvPr/>
        </p:nvSpPr>
        <p:spPr>
          <a:xfrm>
            <a:off x="548640" y="3703320"/>
            <a:ext cx="2194560" cy="320040"/>
          </a:xfrm>
          <a:prstGeom prst="rect">
            <a:avLst/>
          </a:prstGeom>
          <a:noFill/>
          <a:ln/>
        </p:spPr>
        <p:txBody>
          <a:bodyPr wrap="square" lIns="0" tIns="0" rIns="0" bIns="0" rtlCol="0" anchor="ctr"/>
          <a:lstStyle/>
          <a:p>
            <a:pPr algn="ctr" indent="0" marL="0">
              <a:buNone/>
            </a:pPr>
            <a:r>
              <a:rPr lang="en-US" sz="1400" dirty="0">
                <a:solidFill>
                  <a:schemeClr val="tx2"/>
                </a:solidFill>
              </a:rPr>
              <a:t>Rows and columns</a:t>
            </a:r>
            <a:endParaRPr lang="en-US" sz="1400" dirty="0"/>
          </a:p>
        </p:txBody>
      </p:sp>
      <p:sp>
        <p:nvSpPr>
          <p:cNvPr id="13" name="Text 10"/>
          <p:cNvSpPr txBox="1"/>
          <p:nvPr/>
        </p:nvSpPr>
        <p:spPr>
          <a:xfrm>
            <a:off x="548640" y="4069080"/>
            <a:ext cx="2194560" cy="320040"/>
          </a:xfrm>
          <a:prstGeom prst="rect">
            <a:avLst/>
          </a:prstGeom>
          <a:noFill/>
          <a:ln/>
        </p:spPr>
        <p:txBody>
          <a:bodyPr wrap="square" lIns="0" tIns="0" rIns="0" bIns="0" rtlCol="0" anchor="ctr"/>
          <a:lstStyle/>
          <a:p>
            <a:pPr algn="ctr" indent="0" marL="0">
              <a:buNone/>
            </a:pPr>
            <a:r>
              <a:rPr lang="en-US" sz="1400" b="1" dirty="0">
                <a:solidFill>
                  <a:schemeClr val="accent1"/>
                </a:solidFill>
              </a:rPr>
              <a:t>SQL tables, Excel</a:t>
            </a:r>
            <a:endParaRPr lang="en-US" sz="1400" dirty="0"/>
          </a:p>
        </p:txBody>
      </p:sp>
      <p:sp>
        <p:nvSpPr>
          <p:cNvPr id="14" name="tree line"/>
          <p:cNvSpPr/>
          <p:nvPr/>
        </p:nvSpPr>
        <p:spPr>
          <a:xfrm>
            <a:off x="4572000" y="2148840"/>
            <a:ext cx="0" cy="365760"/>
          </a:xfrm>
          <a:prstGeom prst="line">
            <a:avLst/>
          </a:prstGeom>
          <a:noFill/>
          <a:ln w="25400">
            <a:solidFill>
              <a:schemeClr val="tx2"/>
            </a:solidFill>
            <a:prstDash val="solid"/>
            <a:tailEnd type="triangle"/>
          </a:ln>
        </p:spPr>
      </p:sp>
      <p:sp>
        <p:nvSpPr>
          <p:cNvPr id="15" name="card"/>
          <p:cNvSpPr/>
          <p:nvPr/>
        </p:nvSpPr>
        <p:spPr>
          <a:xfrm>
            <a:off x="3383280" y="2560320"/>
            <a:ext cx="23774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icon badge"/>
          <p:cNvSpPr/>
          <p:nvPr/>
        </p:nvSpPr>
        <p:spPr>
          <a:xfrm>
            <a:off x="4297680" y="2697480"/>
            <a:ext cx="548640" cy="548640"/>
          </a:xfrm>
          <a:prstGeom prst="ellipse">
            <a:avLst/>
          </a:prstGeom>
          <a:solidFill>
            <a:schemeClr val="accent2"/>
          </a:solidFill>
          <a:ln w="12700">
            <a:solidFill>
              <a:schemeClr val="accent2"/>
            </a:solidFill>
            <a:prstDash val="solid"/>
          </a:ln>
        </p:spPr>
      </p:sp>
      <p:pic>
        <p:nvPicPr>
          <p:cNvPr id="17" name="Image 1" descr="code icon">    </p:cNvPr>
          <p:cNvPicPr>
            <a:picLocks noChangeAspect="1"/>
          </p:cNvPicPr>
          <p:nvPr/>
        </p:nvPicPr>
        <p:blipFill>
          <a:blip r:embed="rId2"/>
          <a:stretch>
            <a:fillRect/>
          </a:stretch>
        </p:blipFill>
        <p:spPr>
          <a:xfrm>
            <a:off x="4434840" y="2834640"/>
            <a:ext cx="274320" cy="274320"/>
          </a:xfrm>
          <a:prstGeom prst="rect">
            <a:avLst/>
          </a:prstGeom>
        </p:spPr>
      </p:pic>
      <p:sp>
        <p:nvSpPr>
          <p:cNvPr id="18" name="Text 14"/>
          <p:cNvSpPr txBox="1"/>
          <p:nvPr/>
        </p:nvSpPr>
        <p:spPr>
          <a:xfrm>
            <a:off x="3474720" y="3337560"/>
            <a:ext cx="2194560" cy="365760"/>
          </a:xfrm>
          <a:prstGeom prst="rect">
            <a:avLst/>
          </a:prstGeom>
          <a:noFill/>
          <a:ln/>
        </p:spPr>
        <p:txBody>
          <a:bodyPr wrap="square" lIns="0" tIns="0" rIns="0" bIns="0" rtlCol="0" anchor="ctr"/>
          <a:lstStyle/>
          <a:p>
            <a:pPr algn="ctr" indent="0" marL="0">
              <a:buNone/>
            </a:pPr>
            <a:r>
              <a:rPr lang="en-US" sz="1800" b="1" dirty="0">
                <a:solidFill>
                  <a:schemeClr val="tx1"/>
                </a:solidFill>
              </a:rPr>
              <a:t>Semi-structured</a:t>
            </a:r>
            <a:endParaRPr lang="en-US" sz="1800" dirty="0"/>
          </a:p>
        </p:txBody>
      </p:sp>
      <p:sp>
        <p:nvSpPr>
          <p:cNvPr id="19" name="Text 15"/>
          <p:cNvSpPr txBox="1"/>
          <p:nvPr/>
        </p:nvSpPr>
        <p:spPr>
          <a:xfrm>
            <a:off x="3474720" y="3703320"/>
            <a:ext cx="2194560" cy="320040"/>
          </a:xfrm>
          <a:prstGeom prst="rect">
            <a:avLst/>
          </a:prstGeom>
          <a:noFill/>
          <a:ln/>
        </p:spPr>
        <p:txBody>
          <a:bodyPr wrap="square" lIns="0" tIns="0" rIns="0" bIns="0" rtlCol="0" anchor="ctr"/>
          <a:lstStyle/>
          <a:p>
            <a:pPr algn="ctr" indent="0" marL="0">
              <a:buNone/>
            </a:pPr>
            <a:r>
              <a:rPr lang="en-US" sz="1400" dirty="0">
                <a:solidFill>
                  <a:schemeClr val="tx2"/>
                </a:solidFill>
              </a:rPr>
              <a:t>Tags and markers</a:t>
            </a:r>
            <a:endParaRPr lang="en-US" sz="1400" dirty="0"/>
          </a:p>
        </p:txBody>
      </p:sp>
      <p:sp>
        <p:nvSpPr>
          <p:cNvPr id="20" name="Text 16"/>
          <p:cNvSpPr txBox="1"/>
          <p:nvPr/>
        </p:nvSpPr>
        <p:spPr>
          <a:xfrm>
            <a:off x="3474720" y="4069080"/>
            <a:ext cx="2194560" cy="320040"/>
          </a:xfrm>
          <a:prstGeom prst="rect">
            <a:avLst/>
          </a:prstGeom>
          <a:noFill/>
          <a:ln/>
        </p:spPr>
        <p:txBody>
          <a:bodyPr wrap="square" lIns="0" tIns="0" rIns="0" bIns="0" rtlCol="0" anchor="ctr"/>
          <a:lstStyle/>
          <a:p>
            <a:pPr algn="ctr" indent="0" marL="0">
              <a:buNone/>
            </a:pPr>
            <a:r>
              <a:rPr lang="en-US" sz="1400" b="1" dirty="0">
                <a:solidFill>
                  <a:schemeClr val="accent2"/>
                </a:solidFill>
              </a:rPr>
              <a:t>JSON, XML, emails</a:t>
            </a:r>
            <a:endParaRPr lang="en-US" sz="1400" dirty="0"/>
          </a:p>
        </p:txBody>
      </p:sp>
      <p:sp>
        <p:nvSpPr>
          <p:cNvPr id="21" name="tree line"/>
          <p:cNvSpPr/>
          <p:nvPr/>
        </p:nvSpPr>
        <p:spPr>
          <a:xfrm>
            <a:off x="7498080" y="2148840"/>
            <a:ext cx="0" cy="365760"/>
          </a:xfrm>
          <a:prstGeom prst="line">
            <a:avLst/>
          </a:prstGeom>
          <a:noFill/>
          <a:ln w="25400">
            <a:solidFill>
              <a:schemeClr val="tx2"/>
            </a:solidFill>
            <a:prstDash val="solid"/>
            <a:tailEnd type="triangle"/>
          </a:ln>
        </p:spPr>
      </p:sp>
      <p:sp>
        <p:nvSpPr>
          <p:cNvPr id="22" name="card"/>
          <p:cNvSpPr/>
          <p:nvPr/>
        </p:nvSpPr>
        <p:spPr>
          <a:xfrm>
            <a:off x="6309360" y="2560320"/>
            <a:ext cx="23774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3" name="icon badge"/>
          <p:cNvSpPr/>
          <p:nvPr/>
        </p:nvSpPr>
        <p:spPr>
          <a:xfrm>
            <a:off x="7223760" y="2697480"/>
            <a:ext cx="548640" cy="548640"/>
          </a:xfrm>
          <a:prstGeom prst="ellipse">
            <a:avLst/>
          </a:prstGeom>
          <a:solidFill>
            <a:schemeClr val="accent3"/>
          </a:solidFill>
          <a:ln w="12700">
            <a:solidFill>
              <a:schemeClr val="accent3"/>
            </a:solidFill>
            <a:prstDash val="solid"/>
          </a:ln>
        </p:spPr>
      </p:sp>
      <p:pic>
        <p:nvPicPr>
          <p:cNvPr id="24" name="Image 2" descr="image icon">    </p:cNvPr>
          <p:cNvPicPr>
            <a:picLocks noChangeAspect="1"/>
          </p:cNvPicPr>
          <p:nvPr/>
        </p:nvPicPr>
        <p:blipFill>
          <a:blip r:embed="rId3"/>
          <a:stretch>
            <a:fillRect/>
          </a:stretch>
        </p:blipFill>
        <p:spPr>
          <a:xfrm>
            <a:off x="7360920" y="2834640"/>
            <a:ext cx="274320" cy="274320"/>
          </a:xfrm>
          <a:prstGeom prst="rect">
            <a:avLst/>
          </a:prstGeom>
        </p:spPr>
      </p:pic>
      <p:sp>
        <p:nvSpPr>
          <p:cNvPr id="25" name="Text 20"/>
          <p:cNvSpPr txBox="1"/>
          <p:nvPr/>
        </p:nvSpPr>
        <p:spPr>
          <a:xfrm>
            <a:off x="6400800" y="3337560"/>
            <a:ext cx="2194560" cy="365760"/>
          </a:xfrm>
          <a:prstGeom prst="rect">
            <a:avLst/>
          </a:prstGeom>
          <a:noFill/>
          <a:ln/>
        </p:spPr>
        <p:txBody>
          <a:bodyPr wrap="square" lIns="0" tIns="0" rIns="0" bIns="0" rtlCol="0" anchor="ctr"/>
          <a:lstStyle/>
          <a:p>
            <a:pPr algn="ctr" indent="0" marL="0">
              <a:buNone/>
            </a:pPr>
            <a:r>
              <a:rPr lang="en-US" sz="1800" b="1" dirty="0">
                <a:solidFill>
                  <a:schemeClr val="tx1"/>
                </a:solidFill>
              </a:rPr>
              <a:t>Unstructured</a:t>
            </a:r>
            <a:endParaRPr lang="en-US" sz="1800" dirty="0"/>
          </a:p>
        </p:txBody>
      </p:sp>
      <p:sp>
        <p:nvSpPr>
          <p:cNvPr id="26" name="Text 21"/>
          <p:cNvSpPr txBox="1"/>
          <p:nvPr/>
        </p:nvSpPr>
        <p:spPr>
          <a:xfrm>
            <a:off x="6400800" y="3703320"/>
            <a:ext cx="2194560" cy="320040"/>
          </a:xfrm>
          <a:prstGeom prst="rect">
            <a:avLst/>
          </a:prstGeom>
          <a:noFill/>
          <a:ln/>
        </p:spPr>
        <p:txBody>
          <a:bodyPr wrap="square" lIns="0" tIns="0" rIns="0" bIns="0" rtlCol="0" anchor="ctr"/>
          <a:lstStyle/>
          <a:p>
            <a:pPr algn="ctr" indent="0" marL="0">
              <a:buNone/>
            </a:pPr>
            <a:r>
              <a:rPr lang="en-US" sz="1400" dirty="0">
                <a:solidFill>
                  <a:schemeClr val="tx2"/>
                </a:solidFill>
              </a:rPr>
              <a:t>No fixed format</a:t>
            </a:r>
            <a:endParaRPr lang="en-US" sz="1400" dirty="0"/>
          </a:p>
        </p:txBody>
      </p:sp>
      <p:sp>
        <p:nvSpPr>
          <p:cNvPr id="27" name="Text 22"/>
          <p:cNvSpPr txBox="1"/>
          <p:nvPr/>
        </p:nvSpPr>
        <p:spPr>
          <a:xfrm>
            <a:off x="6400800" y="4069080"/>
            <a:ext cx="2194560" cy="320040"/>
          </a:xfrm>
          <a:prstGeom prst="rect">
            <a:avLst/>
          </a:prstGeom>
          <a:noFill/>
          <a:ln/>
        </p:spPr>
        <p:txBody>
          <a:bodyPr wrap="square" lIns="0" tIns="0" rIns="0" bIns="0" rtlCol="0" anchor="ctr"/>
          <a:lstStyle/>
          <a:p>
            <a:pPr algn="ctr" indent="0" marL="0">
              <a:buNone/>
            </a:pPr>
            <a:r>
              <a:rPr lang="en-US" sz="1400" b="1" dirty="0">
                <a:solidFill>
                  <a:schemeClr val="accent3"/>
                </a:solidFill>
              </a:rPr>
              <a:t>Images, audio, video</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three types up close</a:t>
            </a:r>
            <a:endParaRPr lang="en-US" sz="3400" dirty="0"/>
          </a:p>
        </p:txBody>
      </p:sp>
      <p:sp>
        <p:nvSpPr>
          <p:cNvPr id="3" name="card"/>
          <p:cNvSpPr/>
          <p:nvPr/>
        </p:nvSpPr>
        <p:spPr>
          <a:xfrm>
            <a:off x="45720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column header"/>
          <p:cNvSpPr/>
          <p:nvPr/>
        </p:nvSpPr>
        <p:spPr>
          <a:xfrm>
            <a:off x="457200" y="1188720"/>
            <a:ext cx="2651760" cy="457200"/>
          </a:xfrm>
          <a:prstGeom prst="roundRect">
            <a:avLst>
              <a:gd name="adj" fmla="val 24000"/>
            </a:avLst>
          </a:prstGeom>
          <a:solidFill>
            <a:schemeClr val="accent1"/>
          </a:solidFill>
          <a:ln w="12700">
            <a:solidFill>
              <a:schemeClr val="accent1"/>
            </a:solidFill>
            <a:prstDash val="solid"/>
          </a:ln>
        </p:spPr>
      </p:sp>
      <p:sp>
        <p:nvSpPr>
          <p:cNvPr id="5" name="Text 3"/>
          <p:cNvSpPr txBox="1"/>
          <p:nvPr/>
        </p:nvSpPr>
        <p:spPr>
          <a:xfrm>
            <a:off x="457200" y="1188720"/>
            <a:ext cx="2651760" cy="457200"/>
          </a:xfrm>
          <a:prstGeom prst="rect">
            <a:avLst/>
          </a:prstGeom>
          <a:noFill/>
          <a:ln/>
        </p:spPr>
        <p:txBody>
          <a:bodyPr wrap="square" lIns="0" tIns="0" rIns="0" bIns="0" rtlCol="0" anchor="ctr"/>
          <a:lstStyle/>
          <a:p>
            <a:pPr algn="ctr" indent="0" marL="0">
              <a:buNone/>
            </a:pPr>
            <a:r>
              <a:rPr lang="en-US" sz="1600" b="1" dirty="0">
                <a:solidFill>
                  <a:schemeClr val="bg1"/>
                </a:solidFill>
              </a:rPr>
              <a:t>Structured</a:t>
            </a:r>
            <a:endParaRPr lang="en-US" sz="1600" dirty="0"/>
          </a:p>
        </p:txBody>
      </p:sp>
      <p:sp>
        <p:nvSpPr>
          <p:cNvPr id="6" name="card"/>
          <p:cNvSpPr/>
          <p:nvPr/>
        </p:nvSpPr>
        <p:spPr>
          <a:xfrm>
            <a:off x="324612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column header"/>
          <p:cNvSpPr/>
          <p:nvPr/>
        </p:nvSpPr>
        <p:spPr>
          <a:xfrm>
            <a:off x="3246120" y="1188720"/>
            <a:ext cx="2651760" cy="457200"/>
          </a:xfrm>
          <a:prstGeom prst="roundRect">
            <a:avLst>
              <a:gd name="adj" fmla="val 24000"/>
            </a:avLst>
          </a:prstGeom>
          <a:solidFill>
            <a:schemeClr val="accent2"/>
          </a:solidFill>
          <a:ln w="12700">
            <a:solidFill>
              <a:schemeClr val="accent2"/>
            </a:solidFill>
            <a:prstDash val="solid"/>
          </a:ln>
        </p:spPr>
      </p:sp>
      <p:sp>
        <p:nvSpPr>
          <p:cNvPr id="8" name="Text 6"/>
          <p:cNvSpPr txBox="1"/>
          <p:nvPr/>
        </p:nvSpPr>
        <p:spPr>
          <a:xfrm>
            <a:off x="3246120" y="1188720"/>
            <a:ext cx="2651760" cy="457200"/>
          </a:xfrm>
          <a:prstGeom prst="rect">
            <a:avLst/>
          </a:prstGeom>
          <a:noFill/>
          <a:ln/>
        </p:spPr>
        <p:txBody>
          <a:bodyPr wrap="square" lIns="0" tIns="0" rIns="0" bIns="0" rtlCol="0" anchor="ctr"/>
          <a:lstStyle/>
          <a:p>
            <a:pPr algn="ctr" indent="0" marL="0">
              <a:buNone/>
            </a:pPr>
            <a:r>
              <a:rPr lang="en-US" sz="1600" b="1" dirty="0">
                <a:solidFill>
                  <a:schemeClr val="bg1"/>
                </a:solidFill>
              </a:rPr>
              <a:t>Semi-structured</a:t>
            </a:r>
            <a:endParaRPr lang="en-US" sz="1600" dirty="0"/>
          </a:p>
        </p:txBody>
      </p:sp>
      <p:sp>
        <p:nvSpPr>
          <p:cNvPr id="9" name="card"/>
          <p:cNvSpPr/>
          <p:nvPr/>
        </p:nvSpPr>
        <p:spPr>
          <a:xfrm>
            <a:off x="603504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column header"/>
          <p:cNvSpPr/>
          <p:nvPr/>
        </p:nvSpPr>
        <p:spPr>
          <a:xfrm>
            <a:off x="6035040" y="1188720"/>
            <a:ext cx="2651760" cy="457200"/>
          </a:xfrm>
          <a:prstGeom prst="roundRect">
            <a:avLst>
              <a:gd name="adj" fmla="val 24000"/>
            </a:avLst>
          </a:prstGeom>
          <a:solidFill>
            <a:schemeClr val="accent3"/>
          </a:solidFill>
          <a:ln w="12700">
            <a:solidFill>
              <a:schemeClr val="accent3"/>
            </a:solidFill>
            <a:prstDash val="solid"/>
          </a:ln>
        </p:spPr>
      </p:sp>
      <p:sp>
        <p:nvSpPr>
          <p:cNvPr id="11" name="Text 9"/>
          <p:cNvSpPr txBox="1"/>
          <p:nvPr/>
        </p:nvSpPr>
        <p:spPr>
          <a:xfrm>
            <a:off x="6035040" y="1188720"/>
            <a:ext cx="2651760" cy="457200"/>
          </a:xfrm>
          <a:prstGeom prst="rect">
            <a:avLst/>
          </a:prstGeom>
          <a:noFill/>
          <a:ln/>
        </p:spPr>
        <p:txBody>
          <a:bodyPr wrap="square" lIns="0" tIns="0" rIns="0" bIns="0" rtlCol="0" anchor="ctr"/>
          <a:lstStyle/>
          <a:p>
            <a:pPr algn="ctr" indent="0" marL="0">
              <a:buNone/>
            </a:pPr>
            <a:r>
              <a:rPr lang="en-US" sz="1600" b="1" dirty="0">
                <a:solidFill>
                  <a:schemeClr val="bg1"/>
                </a:solidFill>
              </a:rPr>
              <a:t>Unstructured</a:t>
            </a:r>
            <a:endParaRPr lang="en-US" sz="1600" dirty="0"/>
          </a:p>
        </p:txBody>
      </p:sp>
      <p:graphicFrame>
        <p:nvGraphicFramePr>
          <p:cNvPr id="7" name="sample table"/>
          <p:cNvGraphicFramePr>
            <a:graphicFrameLocks noGrp="1"/>
          </p:cNvGraphicFramePr>
          <p:nvPr>
            <p:extLst>
              <p:ext uri="{D42A27DB-BD31-4B8C-83A1-F6EECF244321}">
                <p14:modId xmlns:p14="http://schemas.microsoft.com/office/powerpoint/2010/main" val="1579011935"/>
              </p:ext>
            </p:extLst>
          </p:nvPr>
        </p:nvGraphicFramePr>
        <p:xfrm>
          <a:off x="594360" y="1828800"/>
          <a:ext cx="2377440" cy="914400"/>
        </p:xfrm>
        <a:graphic>
          <a:graphicData uri="http://schemas.openxmlformats.org/drawingml/2006/table">
            <a:tbl>
              <a:tblPr/>
              <a:tblGrid>
                <a:gridCol w="548640"/>
                <a:gridCol w="914400"/>
                <a:gridCol w="914400"/>
              </a:tblGrid>
              <a:tr h="329184">
                <a:tc>
                  <a:txBody>
                    <a:bodyPr/>
                    <a:lstStyle/>
                    <a:p>
                      <a:pPr algn="ctr" indent="0" marL="0">
                        <a:buNone/>
                      </a:pPr>
                      <a:r>
                        <a:rPr lang="en-US" sz="1200" b="1" dirty="0">
                          <a:solidFill>
                            <a:srgbClr val="FFFFFF"/>
                          </a:solidFill>
                        </a:rPr>
                        <a:t>ID</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3B5BDB"/>
                    </a:solidFill>
                  </a:tcPr>
                </a:tc>
                <a:tc>
                  <a:txBody>
                    <a:bodyPr/>
                    <a:lstStyle/>
                    <a:p>
                      <a:pPr algn="ctr" indent="0" marL="0">
                        <a:buNone/>
                      </a:pPr>
                      <a:r>
                        <a:rPr lang="en-US" sz="1200" b="1" dirty="0">
                          <a:solidFill>
                            <a:srgbClr val="FFFFFF"/>
                          </a:solidFill>
                        </a:rPr>
                        <a:t>Name</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3B5BDB"/>
                    </a:solidFill>
                  </a:tcPr>
                </a:tc>
                <a:tc>
                  <a:txBody>
                    <a:bodyPr/>
                    <a:lstStyle/>
                    <a:p>
                      <a:pPr algn="ctr" indent="0" marL="0">
                        <a:buNone/>
                      </a:pPr>
                      <a:r>
                        <a:rPr lang="en-US" sz="1200" b="1" dirty="0">
                          <a:solidFill>
                            <a:srgbClr val="FFFFFF"/>
                          </a:solidFill>
                        </a:rPr>
                        <a:t>Salary</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3B5BDB"/>
                    </a:solidFill>
                  </a:tcPr>
                </a:tc>
              </a:tr>
              <a:tr h="329184">
                <a:tc>
                  <a:txBody>
                    <a:bodyPr/>
                    <a:lstStyle/>
                    <a:p>
                      <a:pPr algn="ctr" indent="0" marL="0">
                        <a:buNone/>
                      </a:pPr>
                      <a:r>
                        <a:rPr lang="en-US" sz="1200" dirty="0">
                          <a:solidFill>
                            <a:srgbClr val="141B4D"/>
                          </a:solidFill>
                        </a:rPr>
                        <a:t>101</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Asha</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52,000</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r>
              <a:tr h="329184">
                <a:tc>
                  <a:txBody>
                    <a:bodyPr/>
                    <a:lstStyle/>
                    <a:p>
                      <a:pPr algn="ctr" indent="0" marL="0">
                        <a:buNone/>
                      </a:pPr>
                      <a:r>
                        <a:rPr lang="en-US" sz="1200" dirty="0">
                          <a:solidFill>
                            <a:srgbClr val="141B4D"/>
                          </a:solidFill>
                        </a:rPr>
                        <a:t>102</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Ravi</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48,500</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r>
              <a:tr h="329184">
                <a:tc>
                  <a:txBody>
                    <a:bodyPr/>
                    <a:lstStyle/>
                    <a:p>
                      <a:pPr algn="ctr" indent="0" marL="0">
                        <a:buNone/>
                      </a:pPr>
                      <a:r>
                        <a:rPr lang="en-US" sz="1200" dirty="0">
                          <a:solidFill>
                            <a:srgbClr val="141B4D"/>
                          </a:solidFill>
                        </a:rPr>
                        <a:t>103</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Meena</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B4D"/>
                          </a:solidFill>
                        </a:rPr>
                        <a:t>61,200</a:t>
                      </a:r>
                      <a:endParaRPr lang="en-US" sz="1200" dirty="0"/>
                    </a:p>
                  </a:txBody>
                  <a:tcPr marL="27432" marR="27432" marT="27432" marB="27432">
                    <a:lnL w="9525" cap="flat" cmpd="sng" algn="ctr">
                      <a:solidFill>
                        <a:srgbClr val="C7CCF0"/>
                      </a:solidFill>
                      <a:prstDash val="solid"/>
                      <a:round/>
                      <a:headEnd type="none" w="med" len="med"/>
                      <a:tailEnd type="none" w="med" len="med"/>
                    </a:lnL>
                    <a:lnR w="9525" cap="flat" cmpd="sng" algn="ctr">
                      <a:solidFill>
                        <a:srgbClr val="C7CCF0"/>
                      </a:solidFill>
                      <a:prstDash val="solid"/>
                      <a:round/>
                      <a:headEnd type="none" w="med" len="med"/>
                      <a:tailEnd type="none" w="med" len="med"/>
                    </a:lnR>
                    <a:lnT w="9525" cap="flat" cmpd="sng" algn="ctr">
                      <a:solidFill>
                        <a:srgbClr val="C7CCF0"/>
                      </a:solidFill>
                      <a:prstDash val="solid"/>
                      <a:round/>
                      <a:headEnd type="none" w="med" len="med"/>
                      <a:tailEnd type="none" w="med" len="med"/>
                    </a:lnT>
                    <a:lnB w="9525" cap="flat" cmpd="sng" algn="ctr">
                      <a:solidFill>
                        <a:srgbClr val="C7CCF0"/>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640080" y="3520440"/>
            <a:ext cx="2286000" cy="822960"/>
          </a:xfrm>
          <a:prstGeom prst="rect">
            <a:avLst/>
          </a:prstGeom>
          <a:noFill/>
          <a:ln/>
        </p:spPr>
        <p:txBody>
          <a:bodyPr wrap="square" lIns="0" tIns="0" rIns="0" bIns="0" rtlCol="0" anchor="t"/>
          <a:lstStyle/>
          <a:p>
            <a:pPr indent="0" marL="0">
              <a:buNone/>
            </a:pPr>
            <a:r>
              <a:rPr lang="en-US" sz="1400" dirty="0">
                <a:solidFill>
                  <a:schemeClr val="tx1"/>
                </a:solidFill>
              </a:rPr>
              <a:t>Excel, SQL databases, bank transactions</a:t>
            </a:r>
            <a:endParaRPr lang="en-US" sz="1400" dirty="0"/>
          </a:p>
        </p:txBody>
      </p:sp>
      <p:sp>
        <p:nvSpPr>
          <p:cNvPr id="14" name="json box"/>
          <p:cNvSpPr/>
          <p:nvPr/>
        </p:nvSpPr>
        <p:spPr>
          <a:xfrm>
            <a:off x="3383280" y="1828800"/>
            <a:ext cx="2377440" cy="1508760"/>
          </a:xfrm>
          <a:prstGeom prst="roundRect">
            <a:avLst>
              <a:gd name="adj" fmla="val 4848"/>
            </a:avLst>
          </a:prstGeom>
          <a:solidFill>
            <a:schemeClr val="tx1"/>
          </a:solidFill>
          <a:ln w="12700">
            <a:solidFill>
              <a:schemeClr val="tx1"/>
            </a:solidFill>
            <a:prstDash val="solid"/>
          </a:ln>
        </p:spPr>
      </p:sp>
      <p:sp>
        <p:nvSpPr>
          <p:cNvPr id="15" name="Text 12"/>
          <p:cNvSpPr txBox="1"/>
          <p:nvPr/>
        </p:nvSpPr>
        <p:spPr>
          <a:xfrm>
            <a:off x="3520440" y="1920240"/>
            <a:ext cx="2148840" cy="1325880"/>
          </a:xfrm>
          <a:prstGeom prst="rect">
            <a:avLst/>
          </a:prstGeom>
          <a:noFill/>
          <a:ln/>
        </p:spPr>
        <p:txBody>
          <a:bodyPr wrap="square" lIns="0" tIns="0" rIns="0" bIns="0" rtlCol="0" anchor="ctr"/>
          <a:lstStyle/>
          <a:p>
            <a:pPr indent="0" marL="0">
              <a:buNone/>
            </a:pPr>
            <a:r>
              <a:rPr lang="en-US" sz="1200" dirty="0">
                <a:solidFill>
                  <a:srgbClr val="A5F3FC"/>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A5F3FC"/>
                </a:solidFill>
                <a:latin typeface="Courier New" pitchFamily="34" charset="0"/>
                <a:ea typeface="Courier New" pitchFamily="34" charset="-122"/>
                <a:cs typeface="Courier New" pitchFamily="34" charset="-120"/>
              </a:rPr>
              <a:t> "name": "Asha",</a:t>
            </a:r>
            <a:endParaRPr lang="en-US" sz="1200" dirty="0"/>
          </a:p>
          <a:p>
            <a:pPr indent="0" marL="0">
              <a:buNone/>
            </a:pPr>
            <a:r>
              <a:rPr lang="en-US" sz="1200" dirty="0">
                <a:solidFill>
                  <a:srgbClr val="A5F3FC"/>
                </a:solidFill>
                <a:latin typeface="Courier New" pitchFamily="34" charset="0"/>
                <a:ea typeface="Courier New" pitchFamily="34" charset="-122"/>
                <a:cs typeface="Courier New" pitchFamily="34" charset="-120"/>
              </a:rPr>
              <a:t> "skills": ["AI"],</a:t>
            </a:r>
            <a:endParaRPr lang="en-US" sz="1200" dirty="0"/>
          </a:p>
          <a:p>
            <a:pPr indent="0" marL="0">
              <a:buNone/>
            </a:pPr>
            <a:r>
              <a:rPr lang="en-US" sz="1200" dirty="0">
                <a:solidFill>
                  <a:srgbClr val="A5F3FC"/>
                </a:solidFill>
                <a:latin typeface="Courier New" pitchFamily="34" charset="0"/>
                <a:ea typeface="Courier New" pitchFamily="34" charset="-122"/>
                <a:cs typeface="Courier New" pitchFamily="34" charset="-120"/>
              </a:rPr>
              <a:t> "city": "Pune"</a:t>
            </a:r>
            <a:endParaRPr lang="en-US" sz="1200" dirty="0"/>
          </a:p>
          <a:p>
            <a:pPr indent="0" marL="0">
              <a:buNone/>
            </a:pPr>
            <a:r>
              <a:rPr lang="en-US" sz="1200" dirty="0">
                <a:solidFill>
                  <a:srgbClr val="A5F3FC"/>
                </a:solidFill>
                <a:latin typeface="Courier New" pitchFamily="34" charset="0"/>
                <a:ea typeface="Courier New" pitchFamily="34" charset="-122"/>
                <a:cs typeface="Courier New" pitchFamily="34" charset="-120"/>
              </a:rPr>
              <a:t>}</a:t>
            </a:r>
            <a:endParaRPr lang="en-US" sz="1200" dirty="0"/>
          </a:p>
        </p:txBody>
      </p:sp>
      <p:sp>
        <p:nvSpPr>
          <p:cNvPr id="16" name="Text 13"/>
          <p:cNvSpPr txBox="1"/>
          <p:nvPr/>
        </p:nvSpPr>
        <p:spPr>
          <a:xfrm>
            <a:off x="3429000" y="3520440"/>
            <a:ext cx="2286000" cy="822960"/>
          </a:xfrm>
          <a:prstGeom prst="rect">
            <a:avLst/>
          </a:prstGeom>
          <a:noFill/>
          <a:ln/>
        </p:spPr>
        <p:txBody>
          <a:bodyPr wrap="square" lIns="0" tIns="0" rIns="0" bIns="0" rtlCol="0" anchor="t"/>
          <a:lstStyle/>
          <a:p>
            <a:pPr indent="0" marL="0">
              <a:buNone/>
            </a:pPr>
            <a:r>
              <a:rPr lang="en-US" sz="1400" dirty="0">
                <a:solidFill>
                  <a:schemeClr val="tx1"/>
                </a:solidFill>
              </a:rPr>
              <a:t>JSON, XML, emails, web logs</a:t>
            </a:r>
            <a:endParaRPr lang="en-US" sz="1400" dirty="0"/>
          </a:p>
        </p:txBody>
      </p:sp>
      <p:sp>
        <p:nvSpPr>
          <p:cNvPr id="17" name="icon badge"/>
          <p:cNvSpPr/>
          <p:nvPr/>
        </p:nvSpPr>
        <p:spPr>
          <a:xfrm>
            <a:off x="6217920" y="1828800"/>
            <a:ext cx="502920" cy="502920"/>
          </a:xfrm>
          <a:prstGeom prst="ellipse">
            <a:avLst/>
          </a:prstGeom>
          <a:solidFill>
            <a:schemeClr val="accent4"/>
          </a:solidFill>
          <a:ln w="12700">
            <a:solidFill>
              <a:schemeClr val="accent4"/>
            </a:solidFill>
            <a:prstDash val="solid"/>
          </a:ln>
        </p:spPr>
      </p:sp>
      <p:pic>
        <p:nvPicPr>
          <p:cNvPr id="18" name="Image 0" descr="image icon">    </p:cNvPr>
          <p:cNvPicPr>
            <a:picLocks noChangeAspect="1"/>
          </p:cNvPicPr>
          <p:nvPr/>
        </p:nvPicPr>
        <p:blipFill>
          <a:blip r:embed="rId1"/>
          <a:stretch>
            <a:fillRect/>
          </a:stretch>
        </p:blipFill>
        <p:spPr>
          <a:xfrm>
            <a:off x="6343650" y="1954530"/>
            <a:ext cx="251460" cy="251460"/>
          </a:xfrm>
          <a:prstGeom prst="rect">
            <a:avLst/>
          </a:prstGeom>
        </p:spPr>
      </p:pic>
      <p:sp>
        <p:nvSpPr>
          <p:cNvPr id="19" name="icon badge"/>
          <p:cNvSpPr/>
          <p:nvPr/>
        </p:nvSpPr>
        <p:spPr>
          <a:xfrm>
            <a:off x="6821424" y="1828800"/>
            <a:ext cx="502920" cy="502920"/>
          </a:xfrm>
          <a:prstGeom prst="ellipse">
            <a:avLst/>
          </a:prstGeom>
          <a:solidFill>
            <a:schemeClr val="accent1"/>
          </a:solidFill>
          <a:ln w="12700">
            <a:solidFill>
              <a:schemeClr val="accent1"/>
            </a:solidFill>
            <a:prstDash val="solid"/>
          </a:ln>
        </p:spPr>
      </p:sp>
      <p:pic>
        <p:nvPicPr>
          <p:cNvPr id="20" name="Image 1" descr="video icon">    </p:cNvPr>
          <p:cNvPicPr>
            <a:picLocks noChangeAspect="1"/>
          </p:cNvPicPr>
          <p:nvPr/>
        </p:nvPicPr>
        <p:blipFill>
          <a:blip r:embed="rId2"/>
          <a:stretch>
            <a:fillRect/>
          </a:stretch>
        </p:blipFill>
        <p:spPr>
          <a:xfrm>
            <a:off x="6947154" y="1954530"/>
            <a:ext cx="251460" cy="251460"/>
          </a:xfrm>
          <a:prstGeom prst="rect">
            <a:avLst/>
          </a:prstGeom>
        </p:spPr>
      </p:pic>
      <p:sp>
        <p:nvSpPr>
          <p:cNvPr id="21" name="icon badge"/>
          <p:cNvSpPr/>
          <p:nvPr/>
        </p:nvSpPr>
        <p:spPr>
          <a:xfrm>
            <a:off x="7424928" y="1828800"/>
            <a:ext cx="502920" cy="502920"/>
          </a:xfrm>
          <a:prstGeom prst="ellipse">
            <a:avLst/>
          </a:prstGeom>
          <a:solidFill>
            <a:schemeClr val="accent2"/>
          </a:solidFill>
          <a:ln w="12700">
            <a:solidFill>
              <a:schemeClr val="accent2"/>
            </a:solidFill>
            <a:prstDash val="solid"/>
          </a:ln>
        </p:spPr>
      </p:sp>
      <p:pic>
        <p:nvPicPr>
          <p:cNvPr id="22" name="Image 2" descr="mic icon">    </p:cNvPr>
          <p:cNvPicPr>
            <a:picLocks noChangeAspect="1"/>
          </p:cNvPicPr>
          <p:nvPr/>
        </p:nvPicPr>
        <p:blipFill>
          <a:blip r:embed="rId3"/>
          <a:stretch>
            <a:fillRect/>
          </a:stretch>
        </p:blipFill>
        <p:spPr>
          <a:xfrm>
            <a:off x="7550658" y="1954530"/>
            <a:ext cx="251460" cy="251460"/>
          </a:xfrm>
          <a:prstGeom prst="rect">
            <a:avLst/>
          </a:prstGeom>
        </p:spPr>
      </p:pic>
      <p:sp>
        <p:nvSpPr>
          <p:cNvPr id="23" name="icon badge"/>
          <p:cNvSpPr/>
          <p:nvPr/>
        </p:nvSpPr>
        <p:spPr>
          <a:xfrm>
            <a:off x="8028432" y="1828800"/>
            <a:ext cx="502920" cy="502920"/>
          </a:xfrm>
          <a:prstGeom prst="ellipse">
            <a:avLst/>
          </a:prstGeom>
          <a:solidFill>
            <a:schemeClr val="accent5"/>
          </a:solidFill>
          <a:ln w="12700">
            <a:solidFill>
              <a:schemeClr val="accent5"/>
            </a:solidFill>
            <a:prstDash val="solid"/>
          </a:ln>
        </p:spPr>
      </p:sp>
      <p:pic>
        <p:nvPicPr>
          <p:cNvPr id="24" name="Image 3" descr="file icon">    </p:cNvPr>
          <p:cNvPicPr>
            <a:picLocks noChangeAspect="1"/>
          </p:cNvPicPr>
          <p:nvPr/>
        </p:nvPicPr>
        <p:blipFill>
          <a:blip r:embed="rId4"/>
          <a:stretch>
            <a:fillRect/>
          </a:stretch>
        </p:blipFill>
        <p:spPr>
          <a:xfrm>
            <a:off x="8154162" y="1954530"/>
            <a:ext cx="251460" cy="251460"/>
          </a:xfrm>
          <a:prstGeom prst="rect">
            <a:avLst/>
          </a:prstGeom>
        </p:spPr>
      </p:pic>
      <p:sp>
        <p:nvSpPr>
          <p:cNvPr id="25" name="Text 18"/>
          <p:cNvSpPr txBox="1"/>
          <p:nvPr/>
        </p:nvSpPr>
        <p:spPr>
          <a:xfrm>
            <a:off x="6126480" y="2514600"/>
            <a:ext cx="2468880" cy="685800"/>
          </a:xfrm>
          <a:prstGeom prst="rect">
            <a:avLst/>
          </a:prstGeom>
          <a:noFill/>
          <a:ln/>
        </p:spPr>
        <p:txBody>
          <a:bodyPr wrap="square" lIns="0" tIns="0" rIns="0" bIns="0" rtlCol="0" anchor="ctr"/>
          <a:lstStyle/>
          <a:p>
            <a:pPr algn="ctr" indent="0" marL="0">
              <a:buNone/>
            </a:pPr>
            <a:r>
              <a:rPr lang="en-US" sz="4400" b="1" dirty="0">
                <a:solidFill>
                  <a:schemeClr val="accent3"/>
                </a:solidFill>
              </a:rPr>
              <a:t>80%+</a:t>
            </a:r>
            <a:endParaRPr lang="en-US" sz="4400" dirty="0"/>
          </a:p>
        </p:txBody>
      </p:sp>
      <p:sp>
        <p:nvSpPr>
          <p:cNvPr id="26" name="Text 19"/>
          <p:cNvSpPr txBox="1"/>
          <p:nvPr/>
        </p:nvSpPr>
        <p:spPr>
          <a:xfrm>
            <a:off x="6217920" y="3200400"/>
            <a:ext cx="2286000" cy="502920"/>
          </a:xfrm>
          <a:prstGeom prst="rect">
            <a:avLst/>
          </a:prstGeom>
          <a:noFill/>
          <a:ln/>
        </p:spPr>
        <p:txBody>
          <a:bodyPr wrap="square" lIns="0" tIns="0" rIns="0" bIns="0" rtlCol="0" anchor="t"/>
          <a:lstStyle/>
          <a:p>
            <a:pPr algn="ctr" indent="0" marL="0">
              <a:buNone/>
            </a:pPr>
            <a:r>
              <a:rPr lang="en-US" sz="1400" dirty="0">
                <a:solidFill>
                  <a:schemeClr val="tx1"/>
                </a:solidFill>
              </a:rPr>
              <a:t>of enterprise data is estimated to be unstructured</a:t>
            </a:r>
            <a:endParaRPr lang="en-US" sz="1400" dirty="0"/>
          </a:p>
        </p:txBody>
      </p:sp>
      <p:sp>
        <p:nvSpPr>
          <p:cNvPr id="27" name="Text 20"/>
          <p:cNvSpPr txBox="1"/>
          <p:nvPr/>
        </p:nvSpPr>
        <p:spPr>
          <a:xfrm>
            <a:off x="6217920" y="3840480"/>
            <a:ext cx="2286000" cy="457200"/>
          </a:xfrm>
          <a:prstGeom prst="rect">
            <a:avLst/>
          </a:prstGeom>
          <a:noFill/>
          <a:ln/>
        </p:spPr>
        <p:txBody>
          <a:bodyPr wrap="square" lIns="0" tIns="0" rIns="0" bIns="0" rtlCol="0" anchor="ctr"/>
          <a:lstStyle/>
          <a:p>
            <a:pPr algn="ctr" indent="0" marL="0">
              <a:buNone/>
            </a:pPr>
            <a:r>
              <a:rPr lang="en-US" sz="1400" b="1" dirty="0">
                <a:solidFill>
                  <a:schemeClr val="tx2"/>
                </a:solidFill>
              </a:rPr>
              <a:t>Images, audio, PDFs, CCTV</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data lifecycle</a:t>
            </a:r>
            <a:endParaRPr lang="en-US" sz="3400" dirty="0"/>
          </a:p>
        </p:txBody>
      </p:sp>
      <p:sp>
        <p:nvSpPr>
          <p:cNvPr id="3" name="cycle ring"/>
          <p:cNvSpPr/>
          <p:nvPr/>
        </p:nvSpPr>
        <p:spPr>
          <a:xfrm>
            <a:off x="3337560" y="1691640"/>
            <a:ext cx="2468880" cy="2468880"/>
          </a:xfrm>
          <a:prstGeom prst="ellipse">
            <a:avLst/>
          </a:prstGeom>
          <a:solidFill>
            <a:schemeClr val="bg2"/>
          </a:solidFill>
          <a:ln w="38100">
            <a:solidFill>
              <a:schemeClr val="accent2"/>
            </a:solidFill>
            <a:prstDash val="solid"/>
          </a:ln>
        </p:spPr>
      </p:sp>
      <p:sp>
        <p:nvSpPr>
          <p:cNvPr id="4" name="Text 2"/>
          <p:cNvSpPr txBox="1"/>
          <p:nvPr/>
        </p:nvSpPr>
        <p:spPr>
          <a:xfrm>
            <a:off x="3749040" y="2560320"/>
            <a:ext cx="1645920" cy="731520"/>
          </a:xfrm>
          <a:prstGeom prst="rect">
            <a:avLst/>
          </a:prstGeom>
          <a:noFill/>
          <a:ln/>
        </p:spPr>
        <p:txBody>
          <a:bodyPr wrap="square" lIns="0" tIns="0" rIns="0" bIns="0" rtlCol="0" anchor="ctr"/>
          <a:lstStyle/>
          <a:p>
            <a:pPr algn="ctr" indent="0" marL="0">
              <a:buNone/>
            </a:pPr>
            <a:r>
              <a:rPr lang="en-US" sz="1600" b="1" dirty="0">
                <a:solidFill>
                  <a:schemeClr val="accent2"/>
                </a:solidFill>
              </a:rPr>
              <a:t>Repeat</a:t>
            </a:r>
            <a:endParaRPr lang="en-US" sz="1600" dirty="0"/>
          </a:p>
          <a:p>
            <a:pPr algn="ctr" indent="0" marL="0">
              <a:buNone/>
            </a:pPr>
            <a:r>
              <a:rPr lang="en-US" sz="1600" b="1" dirty="0">
                <a:solidFill>
                  <a:schemeClr val="accent2"/>
                </a:solidFill>
              </a:rPr>
              <a:t>and improve</a:t>
            </a:r>
            <a:endParaRPr lang="en-US" sz="1600" dirty="0"/>
          </a:p>
        </p:txBody>
      </p:sp>
      <p:sp>
        <p:nvSpPr>
          <p:cNvPr id="5" name="number"/>
          <p:cNvSpPr/>
          <p:nvPr/>
        </p:nvSpPr>
        <p:spPr>
          <a:xfrm>
            <a:off x="4297680" y="141732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4297680" y="14173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4937760" y="150876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Collection</a:t>
            </a:r>
            <a:endParaRPr lang="en-US" sz="1600" dirty="0"/>
          </a:p>
        </p:txBody>
      </p:sp>
      <p:sp>
        <p:nvSpPr>
          <p:cNvPr id="8" name="number"/>
          <p:cNvSpPr/>
          <p:nvPr/>
        </p:nvSpPr>
        <p:spPr>
          <a:xfrm>
            <a:off x="5170561" y="1778879"/>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5170561" y="1778879"/>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5810641" y="1870319"/>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Storage</a:t>
            </a:r>
            <a:endParaRPr lang="en-US" sz="1600" dirty="0"/>
          </a:p>
        </p:txBody>
      </p:sp>
      <p:sp>
        <p:nvSpPr>
          <p:cNvPr id="11" name="number"/>
          <p:cNvSpPr/>
          <p:nvPr/>
        </p:nvSpPr>
        <p:spPr>
          <a:xfrm>
            <a:off x="5532120" y="2651760"/>
            <a:ext cx="548640" cy="548640"/>
          </a:xfrm>
          <a:prstGeom prst="ellipse">
            <a:avLst/>
          </a:prstGeom>
          <a:solidFill>
            <a:schemeClr val="accent3"/>
          </a:solidFill>
          <a:ln w="12700">
            <a:solidFill>
              <a:schemeClr val="accent3"/>
            </a:solidFill>
            <a:prstDash val="solid"/>
          </a:ln>
        </p:spPr>
      </p:sp>
      <p:sp>
        <p:nvSpPr>
          <p:cNvPr id="12" name="Text 10"/>
          <p:cNvSpPr txBox="1"/>
          <p:nvPr/>
        </p:nvSpPr>
        <p:spPr>
          <a:xfrm>
            <a:off x="5532120" y="265176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6172200" y="274320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Cleaning</a:t>
            </a:r>
            <a:endParaRPr lang="en-US" sz="1600" dirty="0"/>
          </a:p>
        </p:txBody>
      </p:sp>
      <p:sp>
        <p:nvSpPr>
          <p:cNvPr id="14" name="number"/>
          <p:cNvSpPr/>
          <p:nvPr/>
        </p:nvSpPr>
        <p:spPr>
          <a:xfrm>
            <a:off x="5170561" y="3524641"/>
            <a:ext cx="548640" cy="548640"/>
          </a:xfrm>
          <a:prstGeom prst="ellipse">
            <a:avLst/>
          </a:prstGeom>
          <a:solidFill>
            <a:schemeClr val="accent3"/>
          </a:solidFill>
          <a:ln w="12700">
            <a:solidFill>
              <a:schemeClr val="accent3"/>
            </a:solidFill>
            <a:prstDash val="solid"/>
          </a:ln>
        </p:spPr>
      </p:sp>
      <p:sp>
        <p:nvSpPr>
          <p:cNvPr id="15" name="Text 13"/>
          <p:cNvSpPr txBox="1"/>
          <p:nvPr/>
        </p:nvSpPr>
        <p:spPr>
          <a:xfrm>
            <a:off x="5170561" y="3524641"/>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5810641" y="3616081"/>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Processing</a:t>
            </a:r>
            <a:endParaRPr lang="en-US" sz="1600" dirty="0"/>
          </a:p>
        </p:txBody>
      </p:sp>
      <p:sp>
        <p:nvSpPr>
          <p:cNvPr id="17" name="number"/>
          <p:cNvSpPr/>
          <p:nvPr/>
        </p:nvSpPr>
        <p:spPr>
          <a:xfrm>
            <a:off x="4297680" y="3886200"/>
            <a:ext cx="548640" cy="548640"/>
          </a:xfrm>
          <a:prstGeom prst="ellipse">
            <a:avLst/>
          </a:prstGeom>
          <a:solidFill>
            <a:schemeClr val="accent2"/>
          </a:solidFill>
          <a:ln w="12700">
            <a:solidFill>
              <a:schemeClr val="accent2"/>
            </a:solidFill>
            <a:prstDash val="solid"/>
          </a:ln>
        </p:spPr>
      </p:sp>
      <p:sp>
        <p:nvSpPr>
          <p:cNvPr id="18" name="Text 16"/>
          <p:cNvSpPr txBox="1"/>
          <p:nvPr/>
        </p:nvSpPr>
        <p:spPr>
          <a:xfrm>
            <a:off x="4297680" y="38862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4937760" y="3977640"/>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Analysis</a:t>
            </a:r>
            <a:endParaRPr lang="en-US" sz="1600" dirty="0"/>
          </a:p>
        </p:txBody>
      </p:sp>
      <p:sp>
        <p:nvSpPr>
          <p:cNvPr id="20" name="number"/>
          <p:cNvSpPr/>
          <p:nvPr/>
        </p:nvSpPr>
        <p:spPr>
          <a:xfrm>
            <a:off x="3424799" y="3524641"/>
            <a:ext cx="548640" cy="548640"/>
          </a:xfrm>
          <a:prstGeom prst="ellipse">
            <a:avLst/>
          </a:prstGeom>
          <a:solidFill>
            <a:schemeClr val="accent2"/>
          </a:solidFill>
          <a:ln w="12700">
            <a:solidFill>
              <a:schemeClr val="accent2"/>
            </a:solidFill>
            <a:prstDash val="solid"/>
          </a:ln>
        </p:spPr>
      </p:sp>
      <p:sp>
        <p:nvSpPr>
          <p:cNvPr id="21" name="Text 19"/>
          <p:cNvSpPr txBox="1"/>
          <p:nvPr/>
        </p:nvSpPr>
        <p:spPr>
          <a:xfrm>
            <a:off x="3424799" y="3524641"/>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20"/>
          <p:cNvSpPr txBox="1"/>
          <p:nvPr/>
        </p:nvSpPr>
        <p:spPr>
          <a:xfrm>
            <a:off x="1321679" y="3616081"/>
            <a:ext cx="2011680" cy="365760"/>
          </a:xfrm>
          <a:prstGeom prst="rect">
            <a:avLst/>
          </a:prstGeom>
          <a:noFill/>
          <a:ln/>
        </p:spPr>
        <p:txBody>
          <a:bodyPr wrap="square" lIns="0" tIns="0" rIns="0" bIns="0" rtlCol="0" anchor="ctr"/>
          <a:lstStyle/>
          <a:p>
            <a:pPr algn="r" indent="0" marL="0">
              <a:buNone/>
            </a:pPr>
            <a:r>
              <a:rPr lang="en-US" sz="1600" b="1" dirty="0">
                <a:solidFill>
                  <a:schemeClr val="tx1"/>
                </a:solidFill>
              </a:rPr>
              <a:t>Model training</a:t>
            </a:r>
            <a:endParaRPr lang="en-US" sz="1600" dirty="0"/>
          </a:p>
        </p:txBody>
      </p:sp>
      <p:sp>
        <p:nvSpPr>
          <p:cNvPr id="23" name="number"/>
          <p:cNvSpPr/>
          <p:nvPr/>
        </p:nvSpPr>
        <p:spPr>
          <a:xfrm>
            <a:off x="3063240" y="2651760"/>
            <a:ext cx="548640" cy="548640"/>
          </a:xfrm>
          <a:prstGeom prst="ellipse">
            <a:avLst/>
          </a:prstGeom>
          <a:solidFill>
            <a:schemeClr val="accent5"/>
          </a:solidFill>
          <a:ln w="12700">
            <a:solidFill>
              <a:schemeClr val="accent5"/>
            </a:solidFill>
            <a:prstDash val="solid"/>
          </a:ln>
        </p:spPr>
      </p:sp>
      <p:sp>
        <p:nvSpPr>
          <p:cNvPr id="24" name="Text 22"/>
          <p:cNvSpPr txBox="1"/>
          <p:nvPr/>
        </p:nvSpPr>
        <p:spPr>
          <a:xfrm>
            <a:off x="3063240" y="265176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25" name="Text 23"/>
          <p:cNvSpPr txBox="1"/>
          <p:nvPr/>
        </p:nvSpPr>
        <p:spPr>
          <a:xfrm>
            <a:off x="960120" y="2743200"/>
            <a:ext cx="2011680" cy="365760"/>
          </a:xfrm>
          <a:prstGeom prst="rect">
            <a:avLst/>
          </a:prstGeom>
          <a:noFill/>
          <a:ln/>
        </p:spPr>
        <p:txBody>
          <a:bodyPr wrap="square" lIns="0" tIns="0" rIns="0" bIns="0" rtlCol="0" anchor="ctr"/>
          <a:lstStyle/>
          <a:p>
            <a:pPr algn="r" indent="0" marL="0">
              <a:buNone/>
            </a:pPr>
            <a:r>
              <a:rPr lang="en-US" sz="1600" b="1" dirty="0">
                <a:solidFill>
                  <a:schemeClr val="tx1"/>
                </a:solidFill>
              </a:rPr>
              <a:t>Deployment</a:t>
            </a:r>
            <a:endParaRPr lang="en-US" sz="1600" dirty="0"/>
          </a:p>
        </p:txBody>
      </p:sp>
      <p:sp>
        <p:nvSpPr>
          <p:cNvPr id="26" name="number"/>
          <p:cNvSpPr/>
          <p:nvPr/>
        </p:nvSpPr>
        <p:spPr>
          <a:xfrm>
            <a:off x="3424799" y="1778879"/>
            <a:ext cx="548640" cy="548640"/>
          </a:xfrm>
          <a:prstGeom prst="ellipse">
            <a:avLst/>
          </a:prstGeom>
          <a:solidFill>
            <a:schemeClr val="accent5"/>
          </a:solidFill>
          <a:ln w="12700">
            <a:solidFill>
              <a:schemeClr val="accent5"/>
            </a:solidFill>
            <a:prstDash val="solid"/>
          </a:ln>
        </p:spPr>
      </p:sp>
      <p:sp>
        <p:nvSpPr>
          <p:cNvPr id="27" name="Text 25"/>
          <p:cNvSpPr txBox="1"/>
          <p:nvPr/>
        </p:nvSpPr>
        <p:spPr>
          <a:xfrm>
            <a:off x="3424799" y="1778879"/>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28" name="Text 26"/>
          <p:cNvSpPr txBox="1"/>
          <p:nvPr/>
        </p:nvSpPr>
        <p:spPr>
          <a:xfrm>
            <a:off x="1321679" y="1870319"/>
            <a:ext cx="2011680" cy="365760"/>
          </a:xfrm>
          <a:prstGeom prst="rect">
            <a:avLst/>
          </a:prstGeom>
          <a:noFill/>
          <a:ln/>
        </p:spPr>
        <p:txBody>
          <a:bodyPr wrap="square" lIns="0" tIns="0" rIns="0" bIns="0" rtlCol="0" anchor="ctr"/>
          <a:lstStyle/>
          <a:p>
            <a:pPr algn="r" indent="0" marL="0">
              <a:buNone/>
            </a:pPr>
            <a:r>
              <a:rPr lang="en-US" sz="1600" b="1" dirty="0">
                <a:solidFill>
                  <a:schemeClr val="tx1"/>
                </a:solidFill>
              </a:rPr>
              <a:t>Monitoring</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AI?</a:t>
            </a:r>
            <a:endParaRPr lang="en-US" sz="3400" dirty="0"/>
          </a:p>
        </p:txBody>
      </p:sp>
      <p:sp>
        <p:nvSpPr>
          <p:cNvPr id="3" name="card"/>
          <p:cNvSpPr/>
          <p:nvPr/>
        </p:nvSpPr>
        <p:spPr>
          <a:xfrm>
            <a:off x="457200" y="1234440"/>
            <a:ext cx="3931920" cy="1920240"/>
          </a:xfrm>
          <a:prstGeom prst="roundRect">
            <a:avLst>
              <a:gd name="adj" fmla="val 5714"/>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200" b="1" dirty="0">
                <a:solidFill>
                  <a:schemeClr val="accent5"/>
                </a:solidFill>
              </a:rPr>
              <a:t>DEFINITION</a:t>
            </a:r>
            <a:endParaRPr lang="en-US" sz="1200" dirty="0"/>
          </a:p>
        </p:txBody>
      </p:sp>
      <p:sp>
        <p:nvSpPr>
          <p:cNvPr id="5" name="Text 3"/>
          <p:cNvSpPr txBox="1"/>
          <p:nvPr/>
        </p:nvSpPr>
        <p:spPr>
          <a:xfrm>
            <a:off x="685800" y="1664208"/>
            <a:ext cx="3474720" cy="1417320"/>
          </a:xfrm>
          <a:prstGeom prst="rect">
            <a:avLst/>
          </a:prstGeom>
          <a:noFill/>
          <a:ln/>
        </p:spPr>
        <p:txBody>
          <a:bodyPr wrap="square" lIns="0" tIns="0" rIns="0" bIns="0" rtlCol="0" anchor="t"/>
          <a:lstStyle/>
          <a:p>
            <a:pPr indent="0" marL="0">
              <a:buNone/>
            </a:pPr>
            <a:r>
              <a:rPr lang="en-US" sz="1800" b="1" dirty="0">
                <a:solidFill>
                  <a:schemeClr val="bg1"/>
                </a:solidFill>
              </a:rPr>
              <a:t>The ability of machines to mimic human intelligence and perform tasks that normally need human thinking.</a:t>
            </a:r>
            <a:endParaRPr lang="en-US" sz="1800" dirty="0"/>
          </a:p>
        </p:txBody>
      </p:sp>
      <p:sp>
        <p:nvSpPr>
          <p:cNvPr id="6" name="pill"/>
          <p:cNvSpPr/>
          <p:nvPr/>
        </p:nvSpPr>
        <p:spPr>
          <a:xfrm>
            <a:off x="457200" y="3383280"/>
            <a:ext cx="1463040" cy="411480"/>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621792" y="3383280"/>
            <a:ext cx="1207008" cy="411480"/>
          </a:xfrm>
          <a:prstGeom prst="rect">
            <a:avLst/>
          </a:prstGeom>
          <a:noFill/>
          <a:ln/>
        </p:spPr>
        <p:txBody>
          <a:bodyPr wrap="square" lIns="0" tIns="0" rIns="0" bIns="0" rtlCol="0" anchor="ctr"/>
          <a:lstStyle/>
          <a:p>
            <a:pPr indent="0" marL="0">
              <a:buNone/>
            </a:pPr>
            <a:r>
              <a:rPr lang="en-US" sz="1400" b="1" dirty="0">
                <a:solidFill>
                  <a:schemeClr val="bg1"/>
                </a:solidFill>
              </a:rPr>
              <a:t>ChatGPT</a:t>
            </a:r>
            <a:endParaRPr lang="en-US" sz="1400" dirty="0"/>
          </a:p>
        </p:txBody>
      </p:sp>
      <p:sp>
        <p:nvSpPr>
          <p:cNvPr id="8" name="pill"/>
          <p:cNvSpPr/>
          <p:nvPr/>
        </p:nvSpPr>
        <p:spPr>
          <a:xfrm>
            <a:off x="2011680" y="3383280"/>
            <a:ext cx="2377440" cy="411480"/>
          </a:xfrm>
          <a:prstGeom prst="roundRect">
            <a:avLst>
              <a:gd name="adj" fmla="val 50000"/>
            </a:avLst>
          </a:prstGeom>
          <a:solidFill>
            <a:schemeClr val="accent3"/>
          </a:solidFill>
          <a:ln w="12700">
            <a:solidFill>
              <a:schemeClr val="accent3"/>
            </a:solidFill>
            <a:prstDash val="solid"/>
          </a:ln>
        </p:spPr>
      </p:sp>
      <p:sp>
        <p:nvSpPr>
          <p:cNvPr id="9" name="Text 7"/>
          <p:cNvSpPr txBox="1"/>
          <p:nvPr/>
        </p:nvSpPr>
        <p:spPr>
          <a:xfrm>
            <a:off x="2176272" y="3383280"/>
            <a:ext cx="2121408" cy="411480"/>
          </a:xfrm>
          <a:prstGeom prst="rect">
            <a:avLst/>
          </a:prstGeom>
          <a:noFill/>
          <a:ln/>
        </p:spPr>
        <p:txBody>
          <a:bodyPr wrap="square" lIns="0" tIns="0" rIns="0" bIns="0" rtlCol="0" anchor="ctr"/>
          <a:lstStyle/>
          <a:p>
            <a:pPr indent="0" marL="0">
              <a:buNone/>
            </a:pPr>
            <a:r>
              <a:rPr lang="en-US" sz="1400" b="1" dirty="0">
                <a:solidFill>
                  <a:schemeClr val="bg1"/>
                </a:solidFill>
              </a:rPr>
              <a:t>Microsoft Copilot</a:t>
            </a:r>
            <a:endParaRPr lang="en-US" sz="1400" dirty="0"/>
          </a:p>
        </p:txBody>
      </p:sp>
      <p:sp>
        <p:nvSpPr>
          <p:cNvPr id="10" name="pill"/>
          <p:cNvSpPr/>
          <p:nvPr/>
        </p:nvSpPr>
        <p:spPr>
          <a:xfrm>
            <a:off x="457200" y="3886200"/>
            <a:ext cx="1097280" cy="411480"/>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621792" y="3886200"/>
            <a:ext cx="841248" cy="411480"/>
          </a:xfrm>
          <a:prstGeom prst="rect">
            <a:avLst/>
          </a:prstGeom>
          <a:noFill/>
          <a:ln/>
        </p:spPr>
        <p:txBody>
          <a:bodyPr wrap="square" lIns="0" tIns="0" rIns="0" bIns="0" rtlCol="0" anchor="ctr"/>
          <a:lstStyle/>
          <a:p>
            <a:pPr indent="0" marL="0">
              <a:buNone/>
            </a:pPr>
            <a:r>
              <a:rPr lang="en-US" sz="1400" b="1" dirty="0">
                <a:solidFill>
                  <a:schemeClr val="bg1"/>
                </a:solidFill>
              </a:rPr>
              <a:t>Alexa</a:t>
            </a:r>
            <a:endParaRPr lang="en-US" sz="1400" dirty="0"/>
          </a:p>
        </p:txBody>
      </p:sp>
      <p:sp>
        <p:nvSpPr>
          <p:cNvPr id="12" name="pill"/>
          <p:cNvSpPr/>
          <p:nvPr/>
        </p:nvSpPr>
        <p:spPr>
          <a:xfrm>
            <a:off x="1645920" y="3886200"/>
            <a:ext cx="1005840" cy="411480"/>
          </a:xfrm>
          <a:prstGeom prst="roundRect">
            <a:avLst>
              <a:gd name="adj" fmla="val 50000"/>
            </a:avLst>
          </a:prstGeom>
          <a:solidFill>
            <a:schemeClr val="accent3"/>
          </a:solidFill>
          <a:ln w="12700">
            <a:solidFill>
              <a:schemeClr val="accent3"/>
            </a:solidFill>
            <a:prstDash val="solid"/>
          </a:ln>
        </p:spPr>
      </p:sp>
      <p:sp>
        <p:nvSpPr>
          <p:cNvPr id="13" name="Text 11"/>
          <p:cNvSpPr txBox="1"/>
          <p:nvPr/>
        </p:nvSpPr>
        <p:spPr>
          <a:xfrm>
            <a:off x="1810512" y="3886200"/>
            <a:ext cx="749808" cy="411480"/>
          </a:xfrm>
          <a:prstGeom prst="rect">
            <a:avLst/>
          </a:prstGeom>
          <a:noFill/>
          <a:ln/>
        </p:spPr>
        <p:txBody>
          <a:bodyPr wrap="square" lIns="0" tIns="0" rIns="0" bIns="0" rtlCol="0" anchor="ctr"/>
          <a:lstStyle/>
          <a:p>
            <a:pPr indent="0" marL="0">
              <a:buNone/>
            </a:pPr>
            <a:r>
              <a:rPr lang="en-US" sz="1400" b="1" dirty="0">
                <a:solidFill>
                  <a:schemeClr val="bg1"/>
                </a:solidFill>
              </a:rPr>
              <a:t>Siri</a:t>
            </a:r>
            <a:endParaRPr lang="en-US" sz="1400" dirty="0"/>
          </a:p>
        </p:txBody>
      </p:sp>
      <p:sp>
        <p:nvSpPr>
          <p:cNvPr id="14" name="pill"/>
          <p:cNvSpPr/>
          <p:nvPr/>
        </p:nvSpPr>
        <p:spPr>
          <a:xfrm>
            <a:off x="2743200" y="3886200"/>
            <a:ext cx="1645920" cy="411480"/>
          </a:xfrm>
          <a:prstGeom prst="roundRect">
            <a:avLst>
              <a:gd name="adj" fmla="val 50000"/>
            </a:avLst>
          </a:prstGeom>
          <a:solidFill>
            <a:schemeClr val="accent1"/>
          </a:solidFill>
          <a:ln w="12700">
            <a:solidFill>
              <a:schemeClr val="accent1"/>
            </a:solidFill>
            <a:prstDash val="solid"/>
          </a:ln>
        </p:spPr>
      </p:sp>
      <p:sp>
        <p:nvSpPr>
          <p:cNvPr id="15" name="Text 13"/>
          <p:cNvSpPr txBox="1"/>
          <p:nvPr/>
        </p:nvSpPr>
        <p:spPr>
          <a:xfrm>
            <a:off x="2907792" y="3886200"/>
            <a:ext cx="1389888" cy="411480"/>
          </a:xfrm>
          <a:prstGeom prst="rect">
            <a:avLst/>
          </a:prstGeom>
          <a:noFill/>
          <a:ln/>
        </p:spPr>
        <p:txBody>
          <a:bodyPr wrap="square" lIns="0" tIns="0" rIns="0" bIns="0" rtlCol="0" anchor="ctr"/>
          <a:lstStyle/>
          <a:p>
            <a:pPr indent="0" marL="0">
              <a:buNone/>
            </a:pPr>
            <a:r>
              <a:rPr lang="en-US" sz="1400" b="1" dirty="0">
                <a:solidFill>
                  <a:schemeClr val="bg1"/>
                </a:solidFill>
              </a:rPr>
              <a:t>Self-driving cars</a:t>
            </a:r>
            <a:endParaRPr lang="en-US" sz="1400" dirty="0"/>
          </a:p>
        </p:txBody>
      </p:sp>
      <p:sp>
        <p:nvSpPr>
          <p:cNvPr id="16" name="card"/>
          <p:cNvSpPr/>
          <p:nvPr/>
        </p:nvSpPr>
        <p:spPr>
          <a:xfrm>
            <a:off x="4617720" y="1234440"/>
            <a:ext cx="1920240" cy="329184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card"/>
          <p:cNvSpPr/>
          <p:nvPr/>
        </p:nvSpPr>
        <p:spPr>
          <a:xfrm>
            <a:off x="6766560" y="1234440"/>
            <a:ext cx="1920240" cy="3291840"/>
          </a:xfrm>
          <a:prstGeom prst="roundRect">
            <a:avLst>
              <a:gd name="adj" fmla="val 5714"/>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18" name="icon badge"/>
          <p:cNvSpPr/>
          <p:nvPr/>
        </p:nvSpPr>
        <p:spPr>
          <a:xfrm>
            <a:off x="5303520" y="1371600"/>
            <a:ext cx="548640" cy="548640"/>
          </a:xfrm>
          <a:prstGeom prst="ellipse">
            <a:avLst/>
          </a:prstGeom>
          <a:solidFill>
            <a:schemeClr val="accent4"/>
          </a:solidFill>
          <a:ln w="12700">
            <a:solidFill>
              <a:schemeClr val="accent4"/>
            </a:solidFill>
            <a:prstDash val="solid"/>
          </a:ln>
        </p:spPr>
      </p:sp>
      <p:pic>
        <p:nvPicPr>
          <p:cNvPr id="19" name="Image 0" descr="brain icon">    </p:cNvPr>
          <p:cNvPicPr>
            <a:picLocks noChangeAspect="1"/>
          </p:cNvPicPr>
          <p:nvPr/>
        </p:nvPicPr>
        <p:blipFill>
          <a:blip r:embed="rId1"/>
          <a:stretch>
            <a:fillRect/>
          </a:stretch>
        </p:blipFill>
        <p:spPr>
          <a:xfrm>
            <a:off x="5440680" y="1508760"/>
            <a:ext cx="274320" cy="274320"/>
          </a:xfrm>
          <a:prstGeom prst="rect">
            <a:avLst/>
          </a:prstGeom>
        </p:spPr>
      </p:pic>
      <p:sp>
        <p:nvSpPr>
          <p:cNvPr id="20" name="icon badge"/>
          <p:cNvSpPr/>
          <p:nvPr/>
        </p:nvSpPr>
        <p:spPr>
          <a:xfrm>
            <a:off x="7452360" y="1371600"/>
            <a:ext cx="548640" cy="548640"/>
          </a:xfrm>
          <a:prstGeom prst="ellipse">
            <a:avLst/>
          </a:prstGeom>
          <a:solidFill>
            <a:schemeClr val="accent5"/>
          </a:solidFill>
          <a:ln w="12700">
            <a:solidFill>
              <a:schemeClr val="accent5"/>
            </a:solidFill>
            <a:prstDash val="solid"/>
          </a:ln>
        </p:spPr>
      </p:sp>
      <p:pic>
        <p:nvPicPr>
          <p:cNvPr id="21" name="Image 1" descr="chip icon">    </p:cNvPr>
          <p:cNvPicPr>
            <a:picLocks noChangeAspect="1"/>
          </p:cNvPicPr>
          <p:nvPr/>
        </p:nvPicPr>
        <p:blipFill>
          <a:blip r:embed="rId2"/>
          <a:stretch>
            <a:fillRect/>
          </a:stretch>
        </p:blipFill>
        <p:spPr>
          <a:xfrm>
            <a:off x="7589520" y="1508760"/>
            <a:ext cx="274320" cy="274320"/>
          </a:xfrm>
          <a:prstGeom prst="rect">
            <a:avLst/>
          </a:prstGeom>
        </p:spPr>
      </p:pic>
      <p:sp>
        <p:nvSpPr>
          <p:cNvPr id="22" name="Text 18"/>
          <p:cNvSpPr txBox="1"/>
          <p:nvPr/>
        </p:nvSpPr>
        <p:spPr>
          <a:xfrm>
            <a:off x="4663440" y="2011680"/>
            <a:ext cx="1828800" cy="320040"/>
          </a:xfrm>
          <a:prstGeom prst="rect">
            <a:avLst/>
          </a:prstGeom>
          <a:noFill/>
          <a:ln/>
        </p:spPr>
        <p:txBody>
          <a:bodyPr wrap="square" lIns="0" tIns="0" rIns="0" bIns="0" rtlCol="0" anchor="ctr"/>
          <a:lstStyle/>
          <a:p>
            <a:pPr algn="ctr" indent="0" marL="0">
              <a:buNone/>
            </a:pPr>
            <a:r>
              <a:rPr lang="en-US" sz="1600" b="1" dirty="0">
                <a:solidFill>
                  <a:schemeClr val="tx1"/>
                </a:solidFill>
              </a:rPr>
              <a:t>Human brain</a:t>
            </a:r>
            <a:endParaRPr lang="en-US" sz="1600" dirty="0"/>
          </a:p>
        </p:txBody>
      </p:sp>
      <p:sp>
        <p:nvSpPr>
          <p:cNvPr id="23" name="Text 19"/>
          <p:cNvSpPr txBox="1"/>
          <p:nvPr/>
        </p:nvSpPr>
        <p:spPr>
          <a:xfrm>
            <a:off x="6812280" y="2011680"/>
            <a:ext cx="1828800" cy="320040"/>
          </a:xfrm>
          <a:prstGeom prst="rect">
            <a:avLst/>
          </a:prstGeom>
          <a:noFill/>
          <a:ln/>
        </p:spPr>
        <p:txBody>
          <a:bodyPr wrap="square" lIns="0" tIns="0" rIns="0" bIns="0" rtlCol="0" anchor="ctr"/>
          <a:lstStyle/>
          <a:p>
            <a:pPr algn="ctr" indent="0" marL="0">
              <a:buNone/>
            </a:pPr>
            <a:r>
              <a:rPr lang="en-US" sz="1600" b="1" dirty="0">
                <a:solidFill>
                  <a:schemeClr val="bg1"/>
                </a:solidFill>
              </a:rPr>
              <a:t>AI brain</a:t>
            </a:r>
            <a:endParaRPr lang="en-US" sz="1600" dirty="0"/>
          </a:p>
        </p:txBody>
      </p:sp>
      <p:sp>
        <p:nvSpPr>
          <p:cNvPr id="24" name="Text 20"/>
          <p:cNvSpPr txBox="1"/>
          <p:nvPr/>
        </p:nvSpPr>
        <p:spPr>
          <a:xfrm>
            <a:off x="4754880" y="2468880"/>
            <a:ext cx="1645920" cy="457200"/>
          </a:xfrm>
          <a:prstGeom prst="rect">
            <a:avLst/>
          </a:prstGeom>
          <a:noFill/>
          <a:ln/>
        </p:spPr>
        <p:txBody>
          <a:bodyPr wrap="square" lIns="0" tIns="0" rIns="0" bIns="0" rtlCol="0" anchor="ctr"/>
          <a:lstStyle/>
          <a:p>
            <a:pPr algn="ctr" indent="0" marL="0">
              <a:buNone/>
            </a:pPr>
            <a:r>
              <a:rPr lang="en-US" sz="1400" dirty="0">
                <a:solidFill>
                  <a:schemeClr val="tx1"/>
                </a:solidFill>
              </a:rPr>
              <a:t>Learns by doing</a:t>
            </a:r>
            <a:endParaRPr lang="en-US" sz="1400" dirty="0"/>
          </a:p>
        </p:txBody>
      </p:sp>
      <p:sp>
        <p:nvSpPr>
          <p:cNvPr id="25" name="Text 21"/>
          <p:cNvSpPr txBox="1"/>
          <p:nvPr/>
        </p:nvSpPr>
        <p:spPr>
          <a:xfrm>
            <a:off x="4754880" y="2971800"/>
            <a:ext cx="1645920" cy="457200"/>
          </a:xfrm>
          <a:prstGeom prst="rect">
            <a:avLst/>
          </a:prstGeom>
          <a:noFill/>
          <a:ln/>
        </p:spPr>
        <p:txBody>
          <a:bodyPr wrap="square" lIns="0" tIns="0" rIns="0" bIns="0" rtlCol="0" anchor="ctr"/>
          <a:lstStyle/>
          <a:p>
            <a:pPr algn="ctr" indent="0" marL="0">
              <a:buNone/>
            </a:pPr>
            <a:r>
              <a:rPr lang="en-US" sz="1400" dirty="0">
                <a:solidFill>
                  <a:schemeClr val="tx1"/>
                </a:solidFill>
              </a:rPr>
              <a:t>Runs on neurons</a:t>
            </a:r>
            <a:endParaRPr lang="en-US" sz="1400" dirty="0"/>
          </a:p>
        </p:txBody>
      </p:sp>
      <p:sp>
        <p:nvSpPr>
          <p:cNvPr id="26" name="Text 22"/>
          <p:cNvSpPr txBox="1"/>
          <p:nvPr/>
        </p:nvSpPr>
        <p:spPr>
          <a:xfrm>
            <a:off x="4754880" y="3474720"/>
            <a:ext cx="1645920" cy="457200"/>
          </a:xfrm>
          <a:prstGeom prst="rect">
            <a:avLst/>
          </a:prstGeom>
          <a:noFill/>
          <a:ln/>
        </p:spPr>
        <p:txBody>
          <a:bodyPr wrap="square" lIns="0" tIns="0" rIns="0" bIns="0" rtlCol="0" anchor="ctr"/>
          <a:lstStyle/>
          <a:p>
            <a:pPr algn="ctr" indent="0" marL="0">
              <a:buNone/>
            </a:pPr>
            <a:r>
              <a:rPr lang="en-US" sz="1400" dirty="0">
                <a:solidFill>
                  <a:schemeClr val="tx1"/>
                </a:solidFill>
              </a:rPr>
              <a:t>Has common sense</a:t>
            </a:r>
            <a:endParaRPr lang="en-US" sz="1400" dirty="0"/>
          </a:p>
        </p:txBody>
      </p:sp>
      <p:sp>
        <p:nvSpPr>
          <p:cNvPr id="27" name="Text 23"/>
          <p:cNvSpPr txBox="1"/>
          <p:nvPr/>
        </p:nvSpPr>
        <p:spPr>
          <a:xfrm>
            <a:off x="4754880" y="3977640"/>
            <a:ext cx="1645920" cy="457200"/>
          </a:xfrm>
          <a:prstGeom prst="rect">
            <a:avLst/>
          </a:prstGeom>
          <a:noFill/>
          <a:ln/>
        </p:spPr>
        <p:txBody>
          <a:bodyPr wrap="square" lIns="0" tIns="0" rIns="0" bIns="0" rtlCol="0" anchor="ctr"/>
          <a:lstStyle/>
          <a:p>
            <a:pPr algn="ctr" indent="0" marL="0">
              <a:buNone/>
            </a:pPr>
            <a:r>
              <a:rPr lang="en-US" sz="1400" dirty="0">
                <a:solidFill>
                  <a:schemeClr val="tx1"/>
                </a:solidFill>
              </a:rPr>
              <a:t>Flexible thinker</a:t>
            </a:r>
            <a:endParaRPr lang="en-US" sz="1400" dirty="0"/>
          </a:p>
        </p:txBody>
      </p:sp>
      <p:sp>
        <p:nvSpPr>
          <p:cNvPr id="28" name="Text 24"/>
          <p:cNvSpPr txBox="1"/>
          <p:nvPr/>
        </p:nvSpPr>
        <p:spPr>
          <a:xfrm>
            <a:off x="6903720" y="2468880"/>
            <a:ext cx="1645920" cy="457200"/>
          </a:xfrm>
          <a:prstGeom prst="rect">
            <a:avLst/>
          </a:prstGeom>
          <a:noFill/>
          <a:ln/>
        </p:spPr>
        <p:txBody>
          <a:bodyPr wrap="square" lIns="0" tIns="0" rIns="0" bIns="0" rtlCol="0" anchor="ctr"/>
          <a:lstStyle/>
          <a:p>
            <a:pPr algn="ctr" indent="0" marL="0">
              <a:buNone/>
            </a:pPr>
            <a:r>
              <a:rPr lang="en-US" sz="1400" dirty="0">
                <a:solidFill>
                  <a:schemeClr val="bg1"/>
                </a:solidFill>
              </a:rPr>
              <a:t>Learns from data</a:t>
            </a:r>
            <a:endParaRPr lang="en-US" sz="1400" dirty="0"/>
          </a:p>
        </p:txBody>
      </p:sp>
      <p:sp>
        <p:nvSpPr>
          <p:cNvPr id="29" name="Text 25"/>
          <p:cNvSpPr txBox="1"/>
          <p:nvPr/>
        </p:nvSpPr>
        <p:spPr>
          <a:xfrm>
            <a:off x="6903720" y="2971800"/>
            <a:ext cx="1645920" cy="457200"/>
          </a:xfrm>
          <a:prstGeom prst="rect">
            <a:avLst/>
          </a:prstGeom>
          <a:noFill/>
          <a:ln/>
        </p:spPr>
        <p:txBody>
          <a:bodyPr wrap="square" lIns="0" tIns="0" rIns="0" bIns="0" rtlCol="0" anchor="ctr"/>
          <a:lstStyle/>
          <a:p>
            <a:pPr algn="ctr" indent="0" marL="0">
              <a:buNone/>
            </a:pPr>
            <a:r>
              <a:rPr lang="en-US" sz="1400" dirty="0">
                <a:solidFill>
                  <a:schemeClr val="bg1"/>
                </a:solidFill>
              </a:rPr>
              <a:t>Runs on chips</a:t>
            </a:r>
            <a:endParaRPr lang="en-US" sz="1400" dirty="0"/>
          </a:p>
        </p:txBody>
      </p:sp>
      <p:sp>
        <p:nvSpPr>
          <p:cNvPr id="30" name="Text 26"/>
          <p:cNvSpPr txBox="1"/>
          <p:nvPr/>
        </p:nvSpPr>
        <p:spPr>
          <a:xfrm>
            <a:off x="6903720" y="3474720"/>
            <a:ext cx="1645920" cy="457200"/>
          </a:xfrm>
          <a:prstGeom prst="rect">
            <a:avLst/>
          </a:prstGeom>
          <a:noFill/>
          <a:ln/>
        </p:spPr>
        <p:txBody>
          <a:bodyPr wrap="square" lIns="0" tIns="0" rIns="0" bIns="0" rtlCol="0" anchor="ctr"/>
          <a:lstStyle/>
          <a:p>
            <a:pPr algn="ctr" indent="0" marL="0">
              <a:buNone/>
            </a:pPr>
            <a:r>
              <a:rPr lang="en-US" sz="1400" dirty="0">
                <a:solidFill>
                  <a:schemeClr val="bg1"/>
                </a:solidFill>
              </a:rPr>
              <a:t>Needs training data</a:t>
            </a:r>
            <a:endParaRPr lang="en-US" sz="1400" dirty="0"/>
          </a:p>
        </p:txBody>
      </p:sp>
      <p:sp>
        <p:nvSpPr>
          <p:cNvPr id="31" name="Text 27"/>
          <p:cNvSpPr txBox="1"/>
          <p:nvPr/>
        </p:nvSpPr>
        <p:spPr>
          <a:xfrm>
            <a:off x="6903720" y="3977640"/>
            <a:ext cx="1645920" cy="457200"/>
          </a:xfrm>
          <a:prstGeom prst="rect">
            <a:avLst/>
          </a:prstGeom>
          <a:noFill/>
          <a:ln/>
        </p:spPr>
        <p:txBody>
          <a:bodyPr wrap="square" lIns="0" tIns="0" rIns="0" bIns="0" rtlCol="0" anchor="ctr"/>
          <a:lstStyle/>
          <a:p>
            <a:pPr algn="ctr" indent="0" marL="0">
              <a:buNone/>
            </a:pPr>
            <a:r>
              <a:rPr lang="en-US" sz="1400" dirty="0">
                <a:solidFill>
                  <a:schemeClr val="bg1"/>
                </a:solidFill>
              </a:rPr>
              <a:t>Excellent at one task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Types of AI</a:t>
            </a:r>
            <a:endParaRPr lang="en-US" sz="3400" dirty="0"/>
          </a:p>
        </p:txBody>
      </p:sp>
      <p:sp>
        <p:nvSpPr>
          <p:cNvPr id="3" name="timeline"/>
          <p:cNvSpPr/>
          <p:nvPr/>
        </p:nvSpPr>
        <p:spPr>
          <a:xfrm>
            <a:off x="822960" y="1417320"/>
            <a:ext cx="7498080" cy="0"/>
          </a:xfrm>
          <a:prstGeom prst="line">
            <a:avLst/>
          </a:prstGeom>
          <a:noFill/>
          <a:ln w="38100">
            <a:solidFill>
              <a:schemeClr val="accent2"/>
            </a:solidFill>
            <a:prstDash val="solid"/>
            <a:tailEnd type="triangle"/>
          </a:ln>
        </p:spPr>
      </p:sp>
      <p:sp>
        <p:nvSpPr>
          <p:cNvPr id="4" name="timeline dot"/>
          <p:cNvSpPr/>
          <p:nvPr/>
        </p:nvSpPr>
        <p:spPr>
          <a:xfrm>
            <a:off x="1508760" y="1298448"/>
            <a:ext cx="237744" cy="237744"/>
          </a:xfrm>
          <a:prstGeom prst="ellipse">
            <a:avLst/>
          </a:prstGeom>
          <a:solidFill>
            <a:schemeClr val="accent1"/>
          </a:solidFill>
          <a:ln w="25400">
            <a:solidFill>
              <a:schemeClr val="bg1"/>
            </a:solidFill>
            <a:prstDash val="solid"/>
          </a:ln>
        </p:spPr>
      </p:sp>
      <p:sp>
        <p:nvSpPr>
          <p:cNvPr id="5" name="card"/>
          <p:cNvSpPr/>
          <p:nvPr/>
        </p:nvSpPr>
        <p:spPr>
          <a:xfrm>
            <a:off x="457200" y="1737360"/>
            <a:ext cx="2560320" cy="2788920"/>
          </a:xfrm>
          <a:prstGeom prst="roundRect">
            <a:avLst>
              <a:gd name="adj" fmla="val 428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640080" y="1874520"/>
            <a:ext cx="2194560" cy="365760"/>
          </a:xfrm>
          <a:prstGeom prst="rect">
            <a:avLst/>
          </a:prstGeom>
          <a:noFill/>
          <a:ln/>
        </p:spPr>
        <p:txBody>
          <a:bodyPr wrap="square" lIns="0" tIns="0" rIns="0" bIns="0" rtlCol="0" anchor="ctr"/>
          <a:lstStyle/>
          <a:p>
            <a:pPr indent="0" marL="0">
              <a:buNone/>
            </a:pPr>
            <a:r>
              <a:rPr lang="en-US" sz="2000" b="1" dirty="0">
                <a:solidFill>
                  <a:schemeClr val="accent1"/>
                </a:solidFill>
              </a:rPr>
              <a:t>Narrow AI</a:t>
            </a:r>
            <a:endParaRPr lang="en-US" sz="2000" dirty="0"/>
          </a:p>
        </p:txBody>
      </p:sp>
      <p:sp>
        <p:nvSpPr>
          <p:cNvPr id="7" name="Text 5"/>
          <p:cNvSpPr txBox="1"/>
          <p:nvPr/>
        </p:nvSpPr>
        <p:spPr>
          <a:xfrm>
            <a:off x="640080" y="2286000"/>
            <a:ext cx="2194560" cy="685800"/>
          </a:xfrm>
          <a:prstGeom prst="rect">
            <a:avLst/>
          </a:prstGeom>
          <a:noFill/>
          <a:ln/>
        </p:spPr>
        <p:txBody>
          <a:bodyPr wrap="square" lIns="0" tIns="0" rIns="0" bIns="0" rtlCol="0" anchor="t"/>
          <a:lstStyle/>
          <a:p>
            <a:pPr indent="0" marL="0">
              <a:buNone/>
            </a:pPr>
            <a:r>
              <a:rPr lang="en-US" sz="1400" b="1" dirty="0">
                <a:solidFill>
                  <a:schemeClr val="tx1"/>
                </a:solidFill>
              </a:rPr>
              <a:t>One task, done very well</a:t>
            </a:r>
            <a:endParaRPr lang="en-US" sz="1400" dirty="0"/>
          </a:p>
        </p:txBody>
      </p:sp>
      <p:sp>
        <p:nvSpPr>
          <p:cNvPr id="8" name="Text 6"/>
          <p:cNvSpPr txBox="1"/>
          <p:nvPr/>
        </p:nvSpPr>
        <p:spPr>
          <a:xfrm>
            <a:off x="640080" y="3017520"/>
            <a:ext cx="2194560" cy="228600"/>
          </a:xfrm>
          <a:prstGeom prst="rect">
            <a:avLst/>
          </a:prstGeom>
          <a:noFill/>
          <a:ln/>
        </p:spPr>
        <p:txBody>
          <a:bodyPr wrap="square" lIns="0" tIns="0" rIns="0" bIns="0" rtlCol="0" anchor="ctr"/>
          <a:lstStyle/>
          <a:p>
            <a:pPr indent="0" marL="0">
              <a:buNone/>
            </a:pPr>
            <a:r>
              <a:rPr lang="en-US" sz="1100" b="1" dirty="0">
                <a:solidFill>
                  <a:schemeClr val="tx2"/>
                </a:solidFill>
              </a:rPr>
              <a:t>EXAMPLES</a:t>
            </a:r>
            <a:endParaRPr lang="en-US" sz="1100" dirty="0"/>
          </a:p>
        </p:txBody>
      </p:sp>
      <p:sp>
        <p:nvSpPr>
          <p:cNvPr id="9" name="Text 7"/>
          <p:cNvSpPr txBox="1"/>
          <p:nvPr/>
        </p:nvSpPr>
        <p:spPr>
          <a:xfrm>
            <a:off x="640080" y="3273552"/>
            <a:ext cx="2194560" cy="685800"/>
          </a:xfrm>
          <a:prstGeom prst="rect">
            <a:avLst/>
          </a:prstGeom>
          <a:noFill/>
          <a:ln/>
        </p:spPr>
        <p:txBody>
          <a:bodyPr wrap="square" lIns="0" tIns="0" rIns="0" bIns="0" rtlCol="0" anchor="t"/>
          <a:lstStyle/>
          <a:p>
            <a:pPr indent="0" marL="0">
              <a:buNone/>
            </a:pPr>
            <a:r>
              <a:rPr lang="en-US" sz="1400" dirty="0">
                <a:solidFill>
                  <a:schemeClr val="tx1"/>
                </a:solidFill>
              </a:rPr>
              <a:t>ChatGPT, Siri, face unlock, recommendations</a:t>
            </a:r>
            <a:endParaRPr lang="en-US" sz="1400" dirty="0"/>
          </a:p>
        </p:txBody>
      </p:sp>
      <p:sp>
        <p:nvSpPr>
          <p:cNvPr id="10" name="pill"/>
          <p:cNvSpPr/>
          <p:nvPr/>
        </p:nvSpPr>
        <p:spPr>
          <a:xfrm>
            <a:off x="640080" y="4023360"/>
            <a:ext cx="1463040" cy="365760"/>
          </a:xfrm>
          <a:prstGeom prst="roundRect">
            <a:avLst>
              <a:gd name="adj" fmla="val 50000"/>
            </a:avLst>
          </a:prstGeom>
          <a:solidFill>
            <a:schemeClr val="accent6"/>
          </a:solidFill>
          <a:ln w="12700">
            <a:solidFill>
              <a:schemeClr val="accent6"/>
            </a:solidFill>
            <a:prstDash val="solid"/>
          </a:ln>
        </p:spPr>
      </p:sp>
      <p:sp>
        <p:nvSpPr>
          <p:cNvPr id="11" name="Text 9"/>
          <p:cNvSpPr txBox="1"/>
          <p:nvPr/>
        </p:nvSpPr>
        <p:spPr>
          <a:xfrm>
            <a:off x="804672" y="4023360"/>
            <a:ext cx="1207008" cy="365760"/>
          </a:xfrm>
          <a:prstGeom prst="rect">
            <a:avLst/>
          </a:prstGeom>
          <a:noFill/>
          <a:ln/>
        </p:spPr>
        <p:txBody>
          <a:bodyPr wrap="square" lIns="0" tIns="0" rIns="0" bIns="0" rtlCol="0" anchor="ctr"/>
          <a:lstStyle/>
          <a:p>
            <a:pPr indent="0" marL="0">
              <a:buNone/>
            </a:pPr>
            <a:r>
              <a:rPr lang="en-US" sz="1300" b="1" dirty="0">
                <a:solidFill>
                  <a:schemeClr val="tx1"/>
                </a:solidFill>
              </a:rPr>
              <a:t>Here today</a:t>
            </a:r>
            <a:endParaRPr lang="en-US" sz="1300" dirty="0"/>
          </a:p>
        </p:txBody>
      </p:sp>
      <p:sp>
        <p:nvSpPr>
          <p:cNvPr id="12" name="timeline dot"/>
          <p:cNvSpPr/>
          <p:nvPr/>
        </p:nvSpPr>
        <p:spPr>
          <a:xfrm>
            <a:off x="4434840" y="1298448"/>
            <a:ext cx="237744" cy="237744"/>
          </a:xfrm>
          <a:prstGeom prst="ellipse">
            <a:avLst/>
          </a:prstGeom>
          <a:solidFill>
            <a:schemeClr val="accent2"/>
          </a:solidFill>
          <a:ln w="25400">
            <a:solidFill>
              <a:schemeClr val="bg1"/>
            </a:solidFill>
            <a:prstDash val="solid"/>
          </a:ln>
        </p:spPr>
      </p:sp>
      <p:sp>
        <p:nvSpPr>
          <p:cNvPr id="13" name="card"/>
          <p:cNvSpPr/>
          <p:nvPr/>
        </p:nvSpPr>
        <p:spPr>
          <a:xfrm>
            <a:off x="3383280" y="1737360"/>
            <a:ext cx="2560320" cy="2788920"/>
          </a:xfrm>
          <a:prstGeom prst="roundRect">
            <a:avLst>
              <a:gd name="adj" fmla="val 428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3566160" y="1874520"/>
            <a:ext cx="2194560" cy="365760"/>
          </a:xfrm>
          <a:prstGeom prst="rect">
            <a:avLst/>
          </a:prstGeom>
          <a:noFill/>
          <a:ln/>
        </p:spPr>
        <p:txBody>
          <a:bodyPr wrap="square" lIns="0" tIns="0" rIns="0" bIns="0" rtlCol="0" anchor="ctr"/>
          <a:lstStyle/>
          <a:p>
            <a:pPr indent="0" marL="0">
              <a:buNone/>
            </a:pPr>
            <a:r>
              <a:rPr lang="en-US" sz="2000" b="1" dirty="0">
                <a:solidFill>
                  <a:schemeClr val="accent2"/>
                </a:solidFill>
              </a:rPr>
              <a:t>General AI</a:t>
            </a:r>
            <a:endParaRPr lang="en-US" sz="2000" dirty="0"/>
          </a:p>
        </p:txBody>
      </p:sp>
      <p:sp>
        <p:nvSpPr>
          <p:cNvPr id="15" name="Text 13"/>
          <p:cNvSpPr txBox="1"/>
          <p:nvPr/>
        </p:nvSpPr>
        <p:spPr>
          <a:xfrm>
            <a:off x="3566160" y="2286000"/>
            <a:ext cx="2194560" cy="685800"/>
          </a:xfrm>
          <a:prstGeom prst="rect">
            <a:avLst/>
          </a:prstGeom>
          <a:noFill/>
          <a:ln/>
        </p:spPr>
        <p:txBody>
          <a:bodyPr wrap="square" lIns="0" tIns="0" rIns="0" bIns="0" rtlCol="0" anchor="t"/>
          <a:lstStyle/>
          <a:p>
            <a:pPr indent="0" marL="0">
              <a:buNone/>
            </a:pPr>
            <a:r>
              <a:rPr lang="en-US" sz="1400" b="1" dirty="0">
                <a:solidFill>
                  <a:schemeClr val="tx1"/>
                </a:solidFill>
              </a:rPr>
              <a:t>Human-level thinking across any task</a:t>
            </a:r>
            <a:endParaRPr lang="en-US" sz="1400" dirty="0"/>
          </a:p>
        </p:txBody>
      </p:sp>
      <p:sp>
        <p:nvSpPr>
          <p:cNvPr id="16" name="Text 14"/>
          <p:cNvSpPr txBox="1"/>
          <p:nvPr/>
        </p:nvSpPr>
        <p:spPr>
          <a:xfrm>
            <a:off x="3566160" y="3017520"/>
            <a:ext cx="2194560" cy="228600"/>
          </a:xfrm>
          <a:prstGeom prst="rect">
            <a:avLst/>
          </a:prstGeom>
          <a:noFill/>
          <a:ln/>
        </p:spPr>
        <p:txBody>
          <a:bodyPr wrap="square" lIns="0" tIns="0" rIns="0" bIns="0" rtlCol="0" anchor="ctr"/>
          <a:lstStyle/>
          <a:p>
            <a:pPr indent="0" marL="0">
              <a:buNone/>
            </a:pPr>
            <a:r>
              <a:rPr lang="en-US" sz="1100" b="1" dirty="0">
                <a:solidFill>
                  <a:schemeClr val="tx2"/>
                </a:solidFill>
              </a:rPr>
              <a:t>EXAMPLES</a:t>
            </a:r>
            <a:endParaRPr lang="en-US" sz="1100" dirty="0"/>
          </a:p>
        </p:txBody>
      </p:sp>
      <p:sp>
        <p:nvSpPr>
          <p:cNvPr id="17" name="Text 15"/>
          <p:cNvSpPr txBox="1"/>
          <p:nvPr/>
        </p:nvSpPr>
        <p:spPr>
          <a:xfrm>
            <a:off x="3566160" y="3273552"/>
            <a:ext cx="2194560" cy="685800"/>
          </a:xfrm>
          <a:prstGeom prst="rect">
            <a:avLst/>
          </a:prstGeom>
          <a:noFill/>
          <a:ln/>
        </p:spPr>
        <p:txBody>
          <a:bodyPr wrap="square" lIns="0" tIns="0" rIns="0" bIns="0" rtlCol="0" anchor="t"/>
          <a:lstStyle/>
          <a:p>
            <a:pPr indent="0" marL="0">
              <a:buNone/>
            </a:pPr>
            <a:r>
              <a:rPr lang="en-US" sz="1400" dirty="0">
                <a:solidFill>
                  <a:schemeClr val="tx1"/>
                </a:solidFill>
              </a:rPr>
              <a:t>Still a research goal</a:t>
            </a:r>
            <a:endParaRPr lang="en-US" sz="1400" dirty="0"/>
          </a:p>
        </p:txBody>
      </p:sp>
      <p:sp>
        <p:nvSpPr>
          <p:cNvPr id="18" name="pill"/>
          <p:cNvSpPr/>
          <p:nvPr/>
        </p:nvSpPr>
        <p:spPr>
          <a:xfrm>
            <a:off x="3566160" y="4023360"/>
            <a:ext cx="1463040" cy="365760"/>
          </a:xfrm>
          <a:prstGeom prst="roundRect">
            <a:avLst>
              <a:gd name="adj" fmla="val 50000"/>
            </a:avLst>
          </a:prstGeom>
          <a:solidFill>
            <a:schemeClr val="accent5"/>
          </a:solidFill>
          <a:ln w="12700">
            <a:solidFill>
              <a:schemeClr val="accent5"/>
            </a:solidFill>
            <a:prstDash val="solid"/>
          </a:ln>
        </p:spPr>
      </p:sp>
      <p:sp>
        <p:nvSpPr>
          <p:cNvPr id="19" name="Text 17"/>
          <p:cNvSpPr txBox="1"/>
          <p:nvPr/>
        </p:nvSpPr>
        <p:spPr>
          <a:xfrm>
            <a:off x="3730752" y="4023360"/>
            <a:ext cx="1207008" cy="365760"/>
          </a:xfrm>
          <a:prstGeom prst="rect">
            <a:avLst/>
          </a:prstGeom>
          <a:noFill/>
          <a:ln/>
        </p:spPr>
        <p:txBody>
          <a:bodyPr wrap="square" lIns="0" tIns="0" rIns="0" bIns="0" rtlCol="0" anchor="ctr"/>
          <a:lstStyle/>
          <a:p>
            <a:pPr indent="0" marL="0">
              <a:buNone/>
            </a:pPr>
            <a:r>
              <a:rPr lang="en-US" sz="1300" b="1" dirty="0">
                <a:solidFill>
                  <a:schemeClr val="tx1"/>
                </a:solidFill>
              </a:rPr>
              <a:t>In research</a:t>
            </a:r>
            <a:endParaRPr lang="en-US" sz="1300" dirty="0"/>
          </a:p>
        </p:txBody>
      </p:sp>
      <p:sp>
        <p:nvSpPr>
          <p:cNvPr id="20" name="timeline dot"/>
          <p:cNvSpPr/>
          <p:nvPr/>
        </p:nvSpPr>
        <p:spPr>
          <a:xfrm>
            <a:off x="7360920" y="1298448"/>
            <a:ext cx="237744" cy="237744"/>
          </a:xfrm>
          <a:prstGeom prst="ellipse">
            <a:avLst/>
          </a:prstGeom>
          <a:solidFill>
            <a:schemeClr val="accent4"/>
          </a:solidFill>
          <a:ln w="25400">
            <a:solidFill>
              <a:schemeClr val="bg1"/>
            </a:solidFill>
            <a:prstDash val="solid"/>
          </a:ln>
        </p:spPr>
      </p:sp>
      <p:sp>
        <p:nvSpPr>
          <p:cNvPr id="21" name="card"/>
          <p:cNvSpPr/>
          <p:nvPr/>
        </p:nvSpPr>
        <p:spPr>
          <a:xfrm>
            <a:off x="6309360" y="1737360"/>
            <a:ext cx="2560320" cy="2788920"/>
          </a:xfrm>
          <a:prstGeom prst="roundRect">
            <a:avLst>
              <a:gd name="adj" fmla="val 428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Text 20"/>
          <p:cNvSpPr txBox="1"/>
          <p:nvPr/>
        </p:nvSpPr>
        <p:spPr>
          <a:xfrm>
            <a:off x="6492240" y="1874520"/>
            <a:ext cx="2194560" cy="365760"/>
          </a:xfrm>
          <a:prstGeom prst="rect">
            <a:avLst/>
          </a:prstGeom>
          <a:noFill/>
          <a:ln/>
        </p:spPr>
        <p:txBody>
          <a:bodyPr wrap="square" lIns="0" tIns="0" rIns="0" bIns="0" rtlCol="0" anchor="ctr"/>
          <a:lstStyle/>
          <a:p>
            <a:pPr indent="0" marL="0">
              <a:buNone/>
            </a:pPr>
            <a:r>
              <a:rPr lang="en-US" sz="2000" b="1" dirty="0">
                <a:solidFill>
                  <a:schemeClr val="accent4"/>
                </a:solidFill>
              </a:rPr>
              <a:t>Super AI</a:t>
            </a:r>
            <a:endParaRPr lang="en-US" sz="2000" dirty="0"/>
          </a:p>
        </p:txBody>
      </p:sp>
      <p:sp>
        <p:nvSpPr>
          <p:cNvPr id="23" name="Text 21"/>
          <p:cNvSpPr txBox="1"/>
          <p:nvPr/>
        </p:nvSpPr>
        <p:spPr>
          <a:xfrm>
            <a:off x="6492240" y="2286000"/>
            <a:ext cx="2194560" cy="685800"/>
          </a:xfrm>
          <a:prstGeom prst="rect">
            <a:avLst/>
          </a:prstGeom>
          <a:noFill/>
          <a:ln/>
        </p:spPr>
        <p:txBody>
          <a:bodyPr wrap="square" lIns="0" tIns="0" rIns="0" bIns="0" rtlCol="0" anchor="t"/>
          <a:lstStyle/>
          <a:p>
            <a:pPr indent="0" marL="0">
              <a:buNone/>
            </a:pPr>
            <a:r>
              <a:rPr lang="en-US" sz="1400" b="1" dirty="0">
                <a:solidFill>
                  <a:schemeClr val="tx1"/>
                </a:solidFill>
              </a:rPr>
              <a:t>Smarter than humans in every way</a:t>
            </a:r>
            <a:endParaRPr lang="en-US" sz="1400" dirty="0"/>
          </a:p>
        </p:txBody>
      </p:sp>
      <p:sp>
        <p:nvSpPr>
          <p:cNvPr id="24" name="Text 22"/>
          <p:cNvSpPr txBox="1"/>
          <p:nvPr/>
        </p:nvSpPr>
        <p:spPr>
          <a:xfrm>
            <a:off x="6492240" y="3017520"/>
            <a:ext cx="2194560" cy="228600"/>
          </a:xfrm>
          <a:prstGeom prst="rect">
            <a:avLst/>
          </a:prstGeom>
          <a:noFill/>
          <a:ln/>
        </p:spPr>
        <p:txBody>
          <a:bodyPr wrap="square" lIns="0" tIns="0" rIns="0" bIns="0" rtlCol="0" anchor="ctr"/>
          <a:lstStyle/>
          <a:p>
            <a:pPr indent="0" marL="0">
              <a:buNone/>
            </a:pPr>
            <a:r>
              <a:rPr lang="en-US" sz="1100" b="1" dirty="0">
                <a:solidFill>
                  <a:schemeClr val="tx2"/>
                </a:solidFill>
              </a:rPr>
              <a:t>EXAMPLES</a:t>
            </a:r>
            <a:endParaRPr lang="en-US" sz="1100" dirty="0"/>
          </a:p>
        </p:txBody>
      </p:sp>
      <p:sp>
        <p:nvSpPr>
          <p:cNvPr id="25" name="Text 23"/>
          <p:cNvSpPr txBox="1"/>
          <p:nvPr/>
        </p:nvSpPr>
        <p:spPr>
          <a:xfrm>
            <a:off x="6492240" y="3273552"/>
            <a:ext cx="2194560" cy="685800"/>
          </a:xfrm>
          <a:prstGeom prst="rect">
            <a:avLst/>
          </a:prstGeom>
          <a:noFill/>
          <a:ln/>
        </p:spPr>
        <p:txBody>
          <a:bodyPr wrap="square" lIns="0" tIns="0" rIns="0" bIns="0" rtlCol="0" anchor="t"/>
          <a:lstStyle/>
          <a:p>
            <a:pPr indent="0" marL="0">
              <a:buNone/>
            </a:pPr>
            <a:r>
              <a:rPr lang="en-US" sz="1400" dirty="0">
                <a:solidFill>
                  <a:schemeClr val="tx1"/>
                </a:solidFill>
              </a:rPr>
              <a:t>Purely hypothetical</a:t>
            </a:r>
            <a:endParaRPr lang="en-US" sz="1400" dirty="0"/>
          </a:p>
        </p:txBody>
      </p:sp>
      <p:sp>
        <p:nvSpPr>
          <p:cNvPr id="26" name="pill"/>
          <p:cNvSpPr/>
          <p:nvPr/>
        </p:nvSpPr>
        <p:spPr>
          <a:xfrm>
            <a:off x="6492240" y="4023360"/>
            <a:ext cx="1463040" cy="365760"/>
          </a:xfrm>
          <a:prstGeom prst="roundRect">
            <a:avLst>
              <a:gd name="adj" fmla="val 50000"/>
            </a:avLst>
          </a:prstGeom>
          <a:solidFill>
            <a:schemeClr val="accent4"/>
          </a:solidFill>
          <a:ln w="12700">
            <a:solidFill>
              <a:schemeClr val="accent4"/>
            </a:solidFill>
            <a:prstDash val="solid"/>
          </a:ln>
        </p:spPr>
      </p:sp>
      <p:sp>
        <p:nvSpPr>
          <p:cNvPr id="27" name="Text 25"/>
          <p:cNvSpPr txBox="1"/>
          <p:nvPr/>
        </p:nvSpPr>
        <p:spPr>
          <a:xfrm>
            <a:off x="6656832" y="4023360"/>
            <a:ext cx="1207008" cy="365760"/>
          </a:xfrm>
          <a:prstGeom prst="rect">
            <a:avLst/>
          </a:prstGeom>
          <a:noFill/>
          <a:ln/>
        </p:spPr>
        <p:txBody>
          <a:bodyPr wrap="square" lIns="0" tIns="0" rIns="0" bIns="0" rtlCol="0" anchor="ctr"/>
          <a:lstStyle/>
          <a:p>
            <a:pPr indent="0" marL="0">
              <a:buNone/>
            </a:pPr>
            <a:r>
              <a:rPr lang="en-US" sz="1300" b="1" dirty="0">
                <a:solidFill>
                  <a:schemeClr val="bg1"/>
                </a:solidFill>
              </a:rPr>
              <a:t>Not real yet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AI across industries</a:t>
            </a:r>
            <a:endParaRPr lang="en-US" sz="3400" dirty="0"/>
          </a:p>
        </p:txBody>
      </p:sp>
      <p:sp>
        <p:nvSpPr>
          <p:cNvPr id="3" name="card"/>
          <p:cNvSpPr/>
          <p:nvPr/>
        </p:nvSpPr>
        <p:spPr>
          <a:xfrm>
            <a:off x="457200" y="123444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640080" y="1371600"/>
            <a:ext cx="457200" cy="457200"/>
          </a:xfrm>
          <a:prstGeom prst="ellipse">
            <a:avLst/>
          </a:prstGeom>
          <a:solidFill>
            <a:schemeClr val="accent4"/>
          </a:solidFill>
          <a:ln w="12700">
            <a:solidFill>
              <a:schemeClr val="accent4"/>
            </a:solidFill>
            <a:prstDash val="solid"/>
          </a:ln>
        </p:spPr>
      </p:sp>
      <p:pic>
        <p:nvPicPr>
          <p:cNvPr id="5" name="Image 0" descr="heart icon">    </p:cNvPr>
          <p:cNvPicPr>
            <a:picLocks noChangeAspect="1"/>
          </p:cNvPicPr>
          <p:nvPr/>
        </p:nvPicPr>
        <p:blipFill>
          <a:blip r:embed="rId1"/>
          <a:stretch>
            <a:fillRect/>
          </a:stretch>
        </p:blipFill>
        <p:spPr>
          <a:xfrm>
            <a:off x="754380" y="1485900"/>
            <a:ext cx="228600" cy="228600"/>
          </a:xfrm>
          <a:prstGeom prst="rect">
            <a:avLst/>
          </a:prstGeom>
        </p:spPr>
      </p:pic>
      <p:sp>
        <p:nvSpPr>
          <p:cNvPr id="6" name="Text 3"/>
          <p:cNvSpPr txBox="1"/>
          <p:nvPr/>
        </p:nvSpPr>
        <p:spPr>
          <a:xfrm>
            <a:off x="640080" y="192024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Healthcare</a:t>
            </a:r>
            <a:endParaRPr lang="en-US" sz="1600" dirty="0"/>
          </a:p>
        </p:txBody>
      </p:sp>
      <p:sp>
        <p:nvSpPr>
          <p:cNvPr id="7" name="Text 4"/>
          <p:cNvSpPr txBox="1"/>
          <p:nvPr/>
        </p:nvSpPr>
        <p:spPr>
          <a:xfrm>
            <a:off x="640080" y="2212848"/>
            <a:ext cx="1600200" cy="457200"/>
          </a:xfrm>
          <a:prstGeom prst="rect">
            <a:avLst/>
          </a:prstGeom>
          <a:noFill/>
          <a:ln/>
        </p:spPr>
        <p:txBody>
          <a:bodyPr wrap="square" lIns="0" tIns="0" rIns="0" bIns="0" rtlCol="0" anchor="t"/>
          <a:lstStyle/>
          <a:p>
            <a:pPr indent="0" marL="0">
              <a:buNone/>
            </a:pPr>
            <a:r>
              <a:rPr lang="en-US" sz="1400" dirty="0">
                <a:solidFill>
                  <a:schemeClr val="tx2"/>
                </a:solidFill>
              </a:rPr>
              <a:t>Reads X-rays and scans</a:t>
            </a:r>
            <a:endParaRPr lang="en-US" sz="1400" dirty="0"/>
          </a:p>
        </p:txBody>
      </p:sp>
      <p:sp>
        <p:nvSpPr>
          <p:cNvPr id="8" name="card"/>
          <p:cNvSpPr/>
          <p:nvPr/>
        </p:nvSpPr>
        <p:spPr>
          <a:xfrm>
            <a:off x="2560320" y="123444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badge"/>
          <p:cNvSpPr/>
          <p:nvPr/>
        </p:nvSpPr>
        <p:spPr>
          <a:xfrm>
            <a:off x="2743200" y="1371600"/>
            <a:ext cx="457200" cy="457200"/>
          </a:xfrm>
          <a:prstGeom prst="ellipse">
            <a:avLst/>
          </a:prstGeom>
          <a:solidFill>
            <a:schemeClr val="accent1"/>
          </a:solidFill>
          <a:ln w="12700">
            <a:solidFill>
              <a:schemeClr val="accent1"/>
            </a:solidFill>
            <a:prstDash val="solid"/>
          </a:ln>
        </p:spPr>
      </p:sp>
      <p:pic>
        <p:nvPicPr>
          <p:cNvPr id="10" name="Image 1" descr="bank icon">    </p:cNvPr>
          <p:cNvPicPr>
            <a:picLocks noChangeAspect="1"/>
          </p:cNvPicPr>
          <p:nvPr/>
        </p:nvPicPr>
        <p:blipFill>
          <a:blip r:embed="rId2"/>
          <a:stretch>
            <a:fillRect/>
          </a:stretch>
        </p:blipFill>
        <p:spPr>
          <a:xfrm>
            <a:off x="2857500" y="1485900"/>
            <a:ext cx="228600" cy="228600"/>
          </a:xfrm>
          <a:prstGeom prst="rect">
            <a:avLst/>
          </a:prstGeom>
        </p:spPr>
      </p:pic>
      <p:sp>
        <p:nvSpPr>
          <p:cNvPr id="11" name="Text 7"/>
          <p:cNvSpPr txBox="1"/>
          <p:nvPr/>
        </p:nvSpPr>
        <p:spPr>
          <a:xfrm>
            <a:off x="2743200" y="192024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Banking</a:t>
            </a:r>
            <a:endParaRPr lang="en-US" sz="1600" dirty="0"/>
          </a:p>
        </p:txBody>
      </p:sp>
      <p:sp>
        <p:nvSpPr>
          <p:cNvPr id="12" name="Text 8"/>
          <p:cNvSpPr txBox="1"/>
          <p:nvPr/>
        </p:nvSpPr>
        <p:spPr>
          <a:xfrm>
            <a:off x="2743200" y="2212848"/>
            <a:ext cx="1600200" cy="457200"/>
          </a:xfrm>
          <a:prstGeom prst="rect">
            <a:avLst/>
          </a:prstGeom>
          <a:noFill/>
          <a:ln/>
        </p:spPr>
        <p:txBody>
          <a:bodyPr wrap="square" lIns="0" tIns="0" rIns="0" bIns="0" rtlCol="0" anchor="t"/>
          <a:lstStyle/>
          <a:p>
            <a:pPr indent="0" marL="0">
              <a:buNone/>
            </a:pPr>
            <a:r>
              <a:rPr lang="en-US" sz="1400" dirty="0">
                <a:solidFill>
                  <a:schemeClr val="tx2"/>
                </a:solidFill>
              </a:rPr>
              <a:t>Fraud detection</a:t>
            </a:r>
            <a:endParaRPr lang="en-US" sz="1400" dirty="0"/>
          </a:p>
        </p:txBody>
      </p:sp>
      <p:sp>
        <p:nvSpPr>
          <p:cNvPr id="13" name="card"/>
          <p:cNvSpPr/>
          <p:nvPr/>
        </p:nvSpPr>
        <p:spPr>
          <a:xfrm>
            <a:off x="4663440" y="123444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badge"/>
          <p:cNvSpPr/>
          <p:nvPr/>
        </p:nvSpPr>
        <p:spPr>
          <a:xfrm>
            <a:off x="4846320" y="1371600"/>
            <a:ext cx="457200" cy="457200"/>
          </a:xfrm>
          <a:prstGeom prst="ellipse">
            <a:avLst/>
          </a:prstGeom>
          <a:solidFill>
            <a:schemeClr val="accent3"/>
          </a:solidFill>
          <a:ln w="12700">
            <a:solidFill>
              <a:schemeClr val="accent3"/>
            </a:solidFill>
            <a:prstDash val="solid"/>
          </a:ln>
        </p:spPr>
      </p:sp>
      <p:pic>
        <p:nvPicPr>
          <p:cNvPr id="15" name="Image 2" descr="tower icon">    </p:cNvPr>
          <p:cNvPicPr>
            <a:picLocks noChangeAspect="1"/>
          </p:cNvPicPr>
          <p:nvPr/>
        </p:nvPicPr>
        <p:blipFill>
          <a:blip r:embed="rId3"/>
          <a:stretch>
            <a:fillRect/>
          </a:stretch>
        </p:blipFill>
        <p:spPr>
          <a:xfrm>
            <a:off x="4960620" y="1485900"/>
            <a:ext cx="228600" cy="228600"/>
          </a:xfrm>
          <a:prstGeom prst="rect">
            <a:avLst/>
          </a:prstGeom>
        </p:spPr>
      </p:pic>
      <p:sp>
        <p:nvSpPr>
          <p:cNvPr id="16" name="Text 11"/>
          <p:cNvSpPr txBox="1"/>
          <p:nvPr/>
        </p:nvSpPr>
        <p:spPr>
          <a:xfrm>
            <a:off x="4846320" y="192024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Telecom</a:t>
            </a:r>
            <a:endParaRPr lang="en-US" sz="1600" dirty="0"/>
          </a:p>
        </p:txBody>
      </p:sp>
      <p:sp>
        <p:nvSpPr>
          <p:cNvPr id="17" name="Text 12"/>
          <p:cNvSpPr txBox="1"/>
          <p:nvPr/>
        </p:nvSpPr>
        <p:spPr>
          <a:xfrm>
            <a:off x="4846320" y="2212848"/>
            <a:ext cx="1600200" cy="457200"/>
          </a:xfrm>
          <a:prstGeom prst="rect">
            <a:avLst/>
          </a:prstGeom>
          <a:noFill/>
          <a:ln/>
        </p:spPr>
        <p:txBody>
          <a:bodyPr wrap="square" lIns="0" tIns="0" rIns="0" bIns="0" rtlCol="0" anchor="t"/>
          <a:lstStyle/>
          <a:p>
            <a:pPr indent="0" marL="0">
              <a:buNone/>
            </a:pPr>
            <a:r>
              <a:rPr lang="en-US" sz="1400" dirty="0">
                <a:solidFill>
                  <a:schemeClr val="tx2"/>
                </a:solidFill>
              </a:rPr>
              <a:t>Network anomaly detection</a:t>
            </a:r>
            <a:endParaRPr lang="en-US" sz="1400" dirty="0"/>
          </a:p>
        </p:txBody>
      </p:sp>
      <p:sp>
        <p:nvSpPr>
          <p:cNvPr id="18" name="card"/>
          <p:cNvSpPr/>
          <p:nvPr/>
        </p:nvSpPr>
        <p:spPr>
          <a:xfrm>
            <a:off x="6766560" y="123444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 badge"/>
          <p:cNvSpPr/>
          <p:nvPr/>
        </p:nvSpPr>
        <p:spPr>
          <a:xfrm>
            <a:off x="6949440" y="1371600"/>
            <a:ext cx="457200" cy="457200"/>
          </a:xfrm>
          <a:prstGeom prst="ellipse">
            <a:avLst/>
          </a:prstGeom>
          <a:solidFill>
            <a:schemeClr val="accent2"/>
          </a:solidFill>
          <a:ln w="12700">
            <a:solidFill>
              <a:schemeClr val="accent2"/>
            </a:solidFill>
            <a:prstDash val="solid"/>
          </a:ln>
        </p:spPr>
      </p:sp>
      <p:pic>
        <p:nvPicPr>
          <p:cNvPr id="20" name="Image 3" descr="industry icon">    </p:cNvPr>
          <p:cNvPicPr>
            <a:picLocks noChangeAspect="1"/>
          </p:cNvPicPr>
          <p:nvPr/>
        </p:nvPicPr>
        <p:blipFill>
          <a:blip r:embed="rId4"/>
          <a:stretch>
            <a:fillRect/>
          </a:stretch>
        </p:blipFill>
        <p:spPr>
          <a:xfrm>
            <a:off x="7063740" y="1485900"/>
            <a:ext cx="228600" cy="228600"/>
          </a:xfrm>
          <a:prstGeom prst="rect">
            <a:avLst/>
          </a:prstGeom>
        </p:spPr>
      </p:pic>
      <p:sp>
        <p:nvSpPr>
          <p:cNvPr id="21" name="Text 15"/>
          <p:cNvSpPr txBox="1"/>
          <p:nvPr/>
        </p:nvSpPr>
        <p:spPr>
          <a:xfrm>
            <a:off x="6949440" y="192024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Manufacturing</a:t>
            </a:r>
            <a:endParaRPr lang="en-US" sz="1600" dirty="0"/>
          </a:p>
        </p:txBody>
      </p:sp>
      <p:sp>
        <p:nvSpPr>
          <p:cNvPr id="22" name="Text 16"/>
          <p:cNvSpPr txBox="1"/>
          <p:nvPr/>
        </p:nvSpPr>
        <p:spPr>
          <a:xfrm>
            <a:off x="6949440" y="2212848"/>
            <a:ext cx="1600200" cy="457200"/>
          </a:xfrm>
          <a:prstGeom prst="rect">
            <a:avLst/>
          </a:prstGeom>
          <a:noFill/>
          <a:ln/>
        </p:spPr>
        <p:txBody>
          <a:bodyPr wrap="square" lIns="0" tIns="0" rIns="0" bIns="0" rtlCol="0" anchor="t"/>
          <a:lstStyle/>
          <a:p>
            <a:pPr indent="0" marL="0">
              <a:buNone/>
            </a:pPr>
            <a:r>
              <a:rPr lang="en-US" sz="1400" dirty="0">
                <a:solidFill>
                  <a:schemeClr val="tx2"/>
                </a:solidFill>
              </a:rPr>
              <a:t>Defect inspection</a:t>
            </a:r>
            <a:endParaRPr lang="en-US" sz="1400" dirty="0"/>
          </a:p>
        </p:txBody>
      </p:sp>
      <p:sp>
        <p:nvSpPr>
          <p:cNvPr id="23" name="card"/>
          <p:cNvSpPr/>
          <p:nvPr/>
        </p:nvSpPr>
        <p:spPr>
          <a:xfrm>
            <a:off x="457200" y="292608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 badge"/>
          <p:cNvSpPr/>
          <p:nvPr/>
        </p:nvSpPr>
        <p:spPr>
          <a:xfrm>
            <a:off x="640080" y="3063240"/>
            <a:ext cx="457200" cy="457200"/>
          </a:xfrm>
          <a:prstGeom prst="ellipse">
            <a:avLst/>
          </a:prstGeom>
          <a:solidFill>
            <a:schemeClr val="accent5"/>
          </a:solidFill>
          <a:ln w="12700">
            <a:solidFill>
              <a:schemeClr val="accent5"/>
            </a:solidFill>
            <a:prstDash val="solid"/>
          </a:ln>
        </p:spPr>
      </p:sp>
      <p:pic>
        <p:nvPicPr>
          <p:cNvPr id="25" name="Image 4" descr="store icon">    </p:cNvPr>
          <p:cNvPicPr>
            <a:picLocks noChangeAspect="1"/>
          </p:cNvPicPr>
          <p:nvPr/>
        </p:nvPicPr>
        <p:blipFill>
          <a:blip r:embed="rId5"/>
          <a:stretch>
            <a:fillRect/>
          </a:stretch>
        </p:blipFill>
        <p:spPr>
          <a:xfrm>
            <a:off x="754380" y="3177540"/>
            <a:ext cx="228600" cy="228600"/>
          </a:xfrm>
          <a:prstGeom prst="rect">
            <a:avLst/>
          </a:prstGeom>
        </p:spPr>
      </p:pic>
      <p:sp>
        <p:nvSpPr>
          <p:cNvPr id="26" name="Text 19"/>
          <p:cNvSpPr txBox="1"/>
          <p:nvPr/>
        </p:nvSpPr>
        <p:spPr>
          <a:xfrm>
            <a:off x="640080" y="361188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Retail</a:t>
            </a:r>
            <a:endParaRPr lang="en-US" sz="1600" dirty="0"/>
          </a:p>
        </p:txBody>
      </p:sp>
      <p:sp>
        <p:nvSpPr>
          <p:cNvPr id="27" name="Text 20"/>
          <p:cNvSpPr txBox="1"/>
          <p:nvPr/>
        </p:nvSpPr>
        <p:spPr>
          <a:xfrm>
            <a:off x="640080" y="3904488"/>
            <a:ext cx="1600200" cy="457200"/>
          </a:xfrm>
          <a:prstGeom prst="rect">
            <a:avLst/>
          </a:prstGeom>
          <a:noFill/>
          <a:ln/>
        </p:spPr>
        <p:txBody>
          <a:bodyPr wrap="square" lIns="0" tIns="0" rIns="0" bIns="0" rtlCol="0" anchor="t"/>
          <a:lstStyle/>
          <a:p>
            <a:pPr indent="0" marL="0">
              <a:buNone/>
            </a:pPr>
            <a:r>
              <a:rPr lang="en-US" sz="1400" dirty="0">
                <a:solidFill>
                  <a:schemeClr val="tx2"/>
                </a:solidFill>
              </a:rPr>
              <a:t>Demand forecasting</a:t>
            </a:r>
            <a:endParaRPr lang="en-US" sz="1400" dirty="0"/>
          </a:p>
        </p:txBody>
      </p:sp>
      <p:sp>
        <p:nvSpPr>
          <p:cNvPr id="28" name="card"/>
          <p:cNvSpPr/>
          <p:nvPr/>
        </p:nvSpPr>
        <p:spPr>
          <a:xfrm>
            <a:off x="2560320" y="292608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con badge"/>
          <p:cNvSpPr/>
          <p:nvPr/>
        </p:nvSpPr>
        <p:spPr>
          <a:xfrm>
            <a:off x="2743200" y="3063240"/>
            <a:ext cx="457200" cy="457200"/>
          </a:xfrm>
          <a:prstGeom prst="ellipse">
            <a:avLst/>
          </a:prstGeom>
          <a:solidFill>
            <a:schemeClr val="accent6"/>
          </a:solidFill>
          <a:ln w="12700">
            <a:solidFill>
              <a:schemeClr val="accent6"/>
            </a:solidFill>
            <a:prstDash val="solid"/>
          </a:ln>
        </p:spPr>
      </p:sp>
      <p:pic>
        <p:nvPicPr>
          <p:cNvPr id="30" name="Image 5" descr="seed icon">    </p:cNvPr>
          <p:cNvPicPr>
            <a:picLocks noChangeAspect="1"/>
          </p:cNvPicPr>
          <p:nvPr/>
        </p:nvPicPr>
        <p:blipFill>
          <a:blip r:embed="rId6"/>
          <a:stretch>
            <a:fillRect/>
          </a:stretch>
        </p:blipFill>
        <p:spPr>
          <a:xfrm>
            <a:off x="2857500" y="3177540"/>
            <a:ext cx="228600" cy="228600"/>
          </a:xfrm>
          <a:prstGeom prst="rect">
            <a:avLst/>
          </a:prstGeom>
        </p:spPr>
      </p:pic>
      <p:sp>
        <p:nvSpPr>
          <p:cNvPr id="31" name="Text 23"/>
          <p:cNvSpPr txBox="1"/>
          <p:nvPr/>
        </p:nvSpPr>
        <p:spPr>
          <a:xfrm>
            <a:off x="2743200" y="361188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Agriculture</a:t>
            </a:r>
            <a:endParaRPr lang="en-US" sz="1600" dirty="0"/>
          </a:p>
        </p:txBody>
      </p:sp>
      <p:sp>
        <p:nvSpPr>
          <p:cNvPr id="32" name="Text 24"/>
          <p:cNvSpPr txBox="1"/>
          <p:nvPr/>
        </p:nvSpPr>
        <p:spPr>
          <a:xfrm>
            <a:off x="2743200" y="3904488"/>
            <a:ext cx="1600200" cy="457200"/>
          </a:xfrm>
          <a:prstGeom prst="rect">
            <a:avLst/>
          </a:prstGeom>
          <a:noFill/>
          <a:ln/>
        </p:spPr>
        <p:txBody>
          <a:bodyPr wrap="square" lIns="0" tIns="0" rIns="0" bIns="0" rtlCol="0" anchor="t"/>
          <a:lstStyle/>
          <a:p>
            <a:pPr indent="0" marL="0">
              <a:buNone/>
            </a:pPr>
            <a:r>
              <a:rPr lang="en-US" sz="1400" dirty="0">
                <a:solidFill>
                  <a:schemeClr val="tx2"/>
                </a:solidFill>
              </a:rPr>
              <a:t>Crop disease detection</a:t>
            </a:r>
            <a:endParaRPr lang="en-US" sz="1400" dirty="0"/>
          </a:p>
        </p:txBody>
      </p:sp>
      <p:sp>
        <p:nvSpPr>
          <p:cNvPr id="33" name="card"/>
          <p:cNvSpPr/>
          <p:nvPr/>
        </p:nvSpPr>
        <p:spPr>
          <a:xfrm>
            <a:off x="4663440" y="2926080"/>
            <a:ext cx="19202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4" name="icon badge"/>
          <p:cNvSpPr/>
          <p:nvPr/>
        </p:nvSpPr>
        <p:spPr>
          <a:xfrm>
            <a:off x="4846320" y="3063240"/>
            <a:ext cx="457200" cy="457200"/>
          </a:xfrm>
          <a:prstGeom prst="ellipse">
            <a:avLst/>
          </a:prstGeom>
          <a:solidFill>
            <a:schemeClr val="accent1"/>
          </a:solidFill>
          <a:ln w="12700">
            <a:solidFill>
              <a:schemeClr val="accent1"/>
            </a:solidFill>
            <a:prstDash val="solid"/>
          </a:ln>
        </p:spPr>
      </p:sp>
      <p:pic>
        <p:nvPicPr>
          <p:cNvPr id="35" name="Image 6" descr="shield icon">    </p:cNvPr>
          <p:cNvPicPr>
            <a:picLocks noChangeAspect="1"/>
          </p:cNvPicPr>
          <p:nvPr/>
        </p:nvPicPr>
        <p:blipFill>
          <a:blip r:embed="rId7"/>
          <a:stretch>
            <a:fillRect/>
          </a:stretch>
        </p:blipFill>
        <p:spPr>
          <a:xfrm>
            <a:off x="4960620" y="3177540"/>
            <a:ext cx="228600" cy="228600"/>
          </a:xfrm>
          <a:prstGeom prst="rect">
            <a:avLst/>
          </a:prstGeom>
        </p:spPr>
      </p:pic>
      <p:sp>
        <p:nvSpPr>
          <p:cNvPr id="36" name="Text 27"/>
          <p:cNvSpPr txBox="1"/>
          <p:nvPr/>
        </p:nvSpPr>
        <p:spPr>
          <a:xfrm>
            <a:off x="4846320" y="3611880"/>
            <a:ext cx="1645920" cy="292608"/>
          </a:xfrm>
          <a:prstGeom prst="rect">
            <a:avLst/>
          </a:prstGeom>
          <a:noFill/>
          <a:ln/>
        </p:spPr>
        <p:txBody>
          <a:bodyPr wrap="square" lIns="0" tIns="0" rIns="0" bIns="0" rtlCol="0" anchor="ctr"/>
          <a:lstStyle/>
          <a:p>
            <a:pPr indent="0" marL="0">
              <a:buNone/>
            </a:pPr>
            <a:r>
              <a:rPr lang="en-US" sz="1600" b="1" dirty="0">
                <a:solidFill>
                  <a:schemeClr val="tx1"/>
                </a:solidFill>
              </a:rPr>
              <a:t>Security</a:t>
            </a:r>
            <a:endParaRPr lang="en-US" sz="1600" dirty="0"/>
          </a:p>
        </p:txBody>
      </p:sp>
      <p:sp>
        <p:nvSpPr>
          <p:cNvPr id="37" name="Text 28"/>
          <p:cNvSpPr txBox="1"/>
          <p:nvPr/>
        </p:nvSpPr>
        <p:spPr>
          <a:xfrm>
            <a:off x="4846320" y="3904488"/>
            <a:ext cx="1600200" cy="457200"/>
          </a:xfrm>
          <a:prstGeom prst="rect">
            <a:avLst/>
          </a:prstGeom>
          <a:noFill/>
          <a:ln/>
        </p:spPr>
        <p:txBody>
          <a:bodyPr wrap="square" lIns="0" tIns="0" rIns="0" bIns="0" rtlCol="0" anchor="t"/>
          <a:lstStyle/>
          <a:p>
            <a:pPr indent="0" marL="0">
              <a:buNone/>
            </a:pPr>
            <a:r>
              <a:rPr lang="en-US" sz="1400" dirty="0">
                <a:solidFill>
                  <a:schemeClr val="tx2"/>
                </a:solidFill>
              </a:rPr>
              <a:t>Face and intruder detection</a:t>
            </a:r>
            <a:endParaRPr lang="en-US" sz="1400" dirty="0"/>
          </a:p>
        </p:txBody>
      </p:sp>
      <p:sp>
        <p:nvSpPr>
          <p:cNvPr id="38" name="card"/>
          <p:cNvSpPr/>
          <p:nvPr/>
        </p:nvSpPr>
        <p:spPr>
          <a:xfrm>
            <a:off x="6766560" y="2926080"/>
            <a:ext cx="1920240" cy="1508760"/>
          </a:xfrm>
          <a:prstGeom prst="roundRect">
            <a:avLst>
              <a:gd name="adj" fmla="val 7273"/>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39" name="icon badge"/>
          <p:cNvSpPr/>
          <p:nvPr/>
        </p:nvSpPr>
        <p:spPr>
          <a:xfrm>
            <a:off x="6949440" y="3063240"/>
            <a:ext cx="457200" cy="457200"/>
          </a:xfrm>
          <a:prstGeom prst="ellipse">
            <a:avLst/>
          </a:prstGeom>
          <a:solidFill>
            <a:schemeClr val="accent5"/>
          </a:solidFill>
          <a:ln w="12700">
            <a:solidFill>
              <a:schemeClr val="accent5"/>
            </a:solidFill>
            <a:prstDash val="solid"/>
          </a:ln>
        </p:spPr>
      </p:sp>
      <p:pic>
        <p:nvPicPr>
          <p:cNvPr id="40" name="Image 7" descr="star icon">    </p:cNvPr>
          <p:cNvPicPr>
            <a:picLocks noChangeAspect="1"/>
          </p:cNvPicPr>
          <p:nvPr/>
        </p:nvPicPr>
        <p:blipFill>
          <a:blip r:embed="rId8"/>
          <a:stretch>
            <a:fillRect/>
          </a:stretch>
        </p:blipFill>
        <p:spPr>
          <a:xfrm>
            <a:off x="7063740" y="3177540"/>
            <a:ext cx="228600" cy="228600"/>
          </a:xfrm>
          <a:prstGeom prst="rect">
            <a:avLst/>
          </a:prstGeom>
        </p:spPr>
      </p:pic>
      <p:sp>
        <p:nvSpPr>
          <p:cNvPr id="41" name="Text 31"/>
          <p:cNvSpPr txBox="1"/>
          <p:nvPr/>
        </p:nvSpPr>
        <p:spPr>
          <a:xfrm>
            <a:off x="6949440" y="3611880"/>
            <a:ext cx="1645920" cy="292608"/>
          </a:xfrm>
          <a:prstGeom prst="rect">
            <a:avLst/>
          </a:prstGeom>
          <a:noFill/>
          <a:ln/>
        </p:spPr>
        <p:txBody>
          <a:bodyPr wrap="square" lIns="0" tIns="0" rIns="0" bIns="0" rtlCol="0" anchor="ctr"/>
          <a:lstStyle/>
          <a:p>
            <a:pPr indent="0" marL="0">
              <a:buNone/>
            </a:pPr>
            <a:r>
              <a:rPr lang="en-US" sz="1600" b="1" dirty="0">
                <a:solidFill>
                  <a:schemeClr val="bg1"/>
                </a:solidFill>
              </a:rPr>
              <a:t>Your industry</a:t>
            </a:r>
            <a:endParaRPr lang="en-US" sz="1600" dirty="0"/>
          </a:p>
        </p:txBody>
      </p:sp>
      <p:sp>
        <p:nvSpPr>
          <p:cNvPr id="42" name="Text 32"/>
          <p:cNvSpPr txBox="1"/>
          <p:nvPr/>
        </p:nvSpPr>
        <p:spPr>
          <a:xfrm>
            <a:off x="6949440" y="3904488"/>
            <a:ext cx="1600200" cy="457200"/>
          </a:xfrm>
          <a:prstGeom prst="rect">
            <a:avLst/>
          </a:prstGeom>
          <a:noFill/>
          <a:ln/>
        </p:spPr>
        <p:txBody>
          <a:bodyPr wrap="square" lIns="0" tIns="0" rIns="0" bIns="0" rtlCol="0" anchor="t"/>
          <a:lstStyle/>
          <a:p>
            <a:pPr indent="0" marL="0">
              <a:buNone/>
            </a:pPr>
            <a:r>
              <a:rPr lang="en-US" sz="1400" dirty="0">
                <a:solidFill>
                  <a:schemeClr val="bg1"/>
                </a:solidFill>
              </a:rPr>
              <a:t>AI fits almost anywhere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machine learning?</a:t>
            </a:r>
            <a:endParaRPr lang="en-US" sz="3400" dirty="0"/>
          </a:p>
        </p:txBody>
      </p:sp>
      <p:sp>
        <p:nvSpPr>
          <p:cNvPr id="3" name="card"/>
          <p:cNvSpPr/>
          <p:nvPr/>
        </p:nvSpPr>
        <p:spPr>
          <a:xfrm>
            <a:off x="457200" y="1234440"/>
            <a:ext cx="4114800" cy="1554480"/>
          </a:xfrm>
          <a:prstGeom prst="roundRect">
            <a:avLst>
              <a:gd name="adj" fmla="val 7059"/>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25880"/>
            <a:ext cx="3657600" cy="1371600"/>
          </a:xfrm>
          <a:prstGeom prst="rect">
            <a:avLst/>
          </a:prstGeom>
          <a:noFill/>
          <a:ln/>
        </p:spPr>
        <p:txBody>
          <a:bodyPr wrap="square" lIns="0" tIns="0" rIns="0" bIns="0" rtlCol="0" anchor="ctr"/>
          <a:lstStyle/>
          <a:p>
            <a:pPr indent="0" marL="0">
              <a:buNone/>
            </a:pPr>
            <a:r>
              <a:rPr lang="en-US" sz="1800" b="1" dirty="0">
                <a:solidFill>
                  <a:schemeClr val="bg1"/>
                </a:solidFill>
              </a:rPr>
              <a:t>A subset of AI that lets computers learn patterns from data without being explicitly programmed.</a:t>
            </a:r>
            <a:endParaRPr lang="en-US" sz="1800" dirty="0"/>
          </a:p>
        </p:txBody>
      </p:sp>
      <p:sp>
        <p:nvSpPr>
          <p:cNvPr id="5" name="card"/>
          <p:cNvSpPr/>
          <p:nvPr/>
        </p:nvSpPr>
        <p:spPr>
          <a:xfrm>
            <a:off x="457200" y="2971800"/>
            <a:ext cx="4114800" cy="685800"/>
          </a:xfrm>
          <a:prstGeom prst="roundRect">
            <a:avLst>
              <a:gd name="adj" fmla="val 1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640080" y="2971800"/>
            <a:ext cx="3840480" cy="685800"/>
          </a:xfrm>
          <a:prstGeom prst="rect">
            <a:avLst/>
          </a:prstGeom>
          <a:noFill/>
          <a:ln/>
        </p:spPr>
        <p:txBody>
          <a:bodyPr wrap="square" lIns="0" tIns="0" rIns="0" bIns="0" rtlCol="0" anchor="ctr"/>
          <a:lstStyle/>
          <a:p>
            <a:pPr indent="0" marL="0">
              <a:buNone/>
            </a:pPr>
            <a:r>
              <a:rPr lang="en-US" sz="1400" b="1" dirty="0">
                <a:solidFill>
                  <a:srgbClr val="DB2777"/>
                </a:solidFill>
              </a:rPr>
              <a:t>Traditional code:  </a:t>
            </a:r>
            <a:pPr indent="0" marL="0">
              <a:buNone/>
            </a:pPr>
            <a:r>
              <a:rPr lang="en-US" sz="1400" dirty="0">
                <a:solidFill>
                  <a:srgbClr val="141B4D"/>
                </a:solidFill>
              </a:rPr>
              <a:t>Rules + Data → Answers</a:t>
            </a:r>
            <a:endParaRPr lang="en-US" sz="1400" dirty="0"/>
          </a:p>
        </p:txBody>
      </p:sp>
      <p:sp>
        <p:nvSpPr>
          <p:cNvPr id="7" name="card"/>
          <p:cNvSpPr/>
          <p:nvPr/>
        </p:nvSpPr>
        <p:spPr>
          <a:xfrm>
            <a:off x="457200" y="3840480"/>
            <a:ext cx="4114800" cy="685800"/>
          </a:xfrm>
          <a:prstGeom prst="roundRect">
            <a:avLst>
              <a:gd name="adj" fmla="val 16000"/>
            </a:avLst>
          </a:prstGeom>
          <a:solidFill>
            <a:schemeClr val="accent6"/>
          </a:solidFill>
          <a:ln w="12700">
            <a:solidFill>
              <a:schemeClr val="accent6"/>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640080" y="3840480"/>
            <a:ext cx="3840480" cy="685800"/>
          </a:xfrm>
          <a:prstGeom prst="rect">
            <a:avLst/>
          </a:prstGeom>
          <a:noFill/>
          <a:ln/>
        </p:spPr>
        <p:txBody>
          <a:bodyPr wrap="square" lIns="0" tIns="0" rIns="0" bIns="0" rtlCol="0" anchor="ctr"/>
          <a:lstStyle/>
          <a:p>
            <a:pPr indent="0" marL="0">
              <a:buNone/>
            </a:pPr>
            <a:r>
              <a:rPr lang="en-US" sz="1400" b="1" dirty="0">
                <a:solidFill>
                  <a:schemeClr val="tx1"/>
                </a:solidFill>
              </a:rPr>
              <a:t>Machine learning:  </a:t>
            </a:r>
            <a:pPr indent="0" marL="0">
              <a:buNone/>
            </a:pPr>
            <a:r>
              <a:rPr lang="en-US" sz="1400" dirty="0">
                <a:solidFill>
                  <a:schemeClr val="tx1"/>
                </a:solidFill>
              </a:rPr>
              <a:t>Data + Answers → Rules</a:t>
            </a:r>
            <a:endParaRPr lang="en-US" sz="1400" dirty="0"/>
          </a:p>
        </p:txBody>
      </p:sp>
      <p:sp>
        <p:nvSpPr>
          <p:cNvPr id="9" name="nested AI"/>
          <p:cNvSpPr/>
          <p:nvPr/>
        </p:nvSpPr>
        <p:spPr>
          <a:xfrm>
            <a:off x="5074920" y="1280160"/>
            <a:ext cx="3200400" cy="3200400"/>
          </a:xfrm>
          <a:prstGeom prst="ellipse">
            <a:avLst/>
          </a:prstGeom>
          <a:solidFill>
            <a:schemeClr val="bg2"/>
          </a:solidFill>
          <a:ln w="25400">
            <a:solidFill>
              <a:schemeClr val="bg1"/>
            </a:solidFill>
            <a:prstDash val="solid"/>
          </a:ln>
          <a:effectLst>
            <a:outerShdw sx="100000" sy="100000" kx="0" ky="0" algn="bl" rotWithShape="0" blurRad="101600" dist="25400" dir="5400000">
              <a:srgbClr val="000000">
                <a:alpha val="12000"/>
              </a:srgbClr>
            </a:outerShdw>
          </a:effectLst>
        </p:spPr>
      </p:sp>
      <p:sp>
        <p:nvSpPr>
          <p:cNvPr id="10" name="nested ML"/>
          <p:cNvSpPr/>
          <p:nvPr/>
        </p:nvSpPr>
        <p:spPr>
          <a:xfrm>
            <a:off x="5577840" y="1783080"/>
            <a:ext cx="2194560" cy="2194560"/>
          </a:xfrm>
          <a:prstGeom prst="ellipse">
            <a:avLst/>
          </a:prstGeom>
          <a:solidFill>
            <a:schemeClr val="accent1"/>
          </a:solidFill>
          <a:ln w="50800">
            <a:solidFill>
              <a:schemeClr val="accent5"/>
            </a:solidFill>
            <a:prstDash val="solid"/>
          </a:ln>
          <a:effectLst>
            <a:outerShdw sx="100000" sy="100000" kx="0" ky="0" algn="bl" rotWithShape="0" blurRad="101600" dist="25400" dir="5400000">
              <a:srgbClr val="000000">
                <a:alpha val="12000"/>
              </a:srgbClr>
            </a:outerShdw>
          </a:effectLst>
        </p:spPr>
      </p:sp>
      <p:sp>
        <p:nvSpPr>
          <p:cNvPr id="11" name="nested DL"/>
          <p:cNvSpPr/>
          <p:nvPr/>
        </p:nvSpPr>
        <p:spPr>
          <a:xfrm>
            <a:off x="6080760" y="2286000"/>
            <a:ext cx="1188720" cy="1188720"/>
          </a:xfrm>
          <a:prstGeom prst="ellipse">
            <a:avLst/>
          </a:prstGeom>
          <a:solidFill>
            <a:schemeClr val="accent2">
              <a:alpha val="45000"/>
            </a:schemeClr>
          </a:solidFill>
          <a:ln w="25400">
            <a:solidFill>
              <a:schemeClr val="bg1"/>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5394960" y="1325880"/>
            <a:ext cx="2560320" cy="365760"/>
          </a:xfrm>
          <a:prstGeom prst="rect">
            <a:avLst/>
          </a:prstGeom>
          <a:noFill/>
          <a:ln/>
        </p:spPr>
        <p:txBody>
          <a:bodyPr wrap="square" lIns="0" tIns="0" rIns="0" bIns="0" rtlCol="0" anchor="ctr"/>
          <a:lstStyle/>
          <a:p>
            <a:pPr algn="ctr" indent="0" marL="0">
              <a:buNone/>
            </a:pPr>
            <a:r>
              <a:rPr lang="en-US" sz="1400" b="1" dirty="0">
                <a:solidFill>
                  <a:schemeClr val="tx1"/>
                </a:solidFill>
              </a:rPr>
              <a:t>Artificial Intelligence</a:t>
            </a:r>
            <a:endParaRPr lang="en-US" sz="1400" dirty="0"/>
          </a:p>
        </p:txBody>
      </p:sp>
      <p:sp>
        <p:nvSpPr>
          <p:cNvPr id="13" name="Text 11"/>
          <p:cNvSpPr txBox="1"/>
          <p:nvPr/>
        </p:nvSpPr>
        <p:spPr>
          <a:xfrm>
            <a:off x="5760720" y="1920240"/>
            <a:ext cx="1828800" cy="320040"/>
          </a:xfrm>
          <a:prstGeom prst="rect">
            <a:avLst/>
          </a:prstGeom>
          <a:noFill/>
          <a:ln/>
        </p:spPr>
        <p:txBody>
          <a:bodyPr wrap="square" lIns="0" tIns="0" rIns="0" bIns="0" rtlCol="0" anchor="ctr"/>
          <a:lstStyle/>
          <a:p>
            <a:pPr algn="ctr" indent="0" marL="0">
              <a:buNone/>
            </a:pPr>
            <a:r>
              <a:rPr lang="en-US" sz="1400" b="1" dirty="0">
                <a:solidFill>
                  <a:schemeClr val="bg1"/>
                </a:solidFill>
              </a:rPr>
              <a:t>Machine Learning</a:t>
            </a:r>
            <a:endParaRPr lang="en-US" sz="1400" dirty="0"/>
          </a:p>
        </p:txBody>
      </p:sp>
      <p:sp>
        <p:nvSpPr>
          <p:cNvPr id="14" name="Text 12"/>
          <p:cNvSpPr txBox="1"/>
          <p:nvPr/>
        </p:nvSpPr>
        <p:spPr>
          <a:xfrm>
            <a:off x="6126480" y="2606040"/>
            <a:ext cx="1097280" cy="548640"/>
          </a:xfrm>
          <a:prstGeom prst="rect">
            <a:avLst/>
          </a:prstGeom>
          <a:noFill/>
          <a:ln/>
        </p:spPr>
        <p:txBody>
          <a:bodyPr wrap="square" lIns="0" tIns="0" rIns="0" bIns="0" rtlCol="0" anchor="ctr"/>
          <a:lstStyle/>
          <a:p>
            <a:pPr algn="ctr" indent="0" marL="0">
              <a:buNone/>
            </a:pPr>
            <a:r>
              <a:rPr lang="en-US" sz="1400" b="1" dirty="0">
                <a:solidFill>
                  <a:schemeClr val="bg1"/>
                </a:solidFill>
              </a:rPr>
              <a:t>Deep</a:t>
            </a:r>
            <a:endParaRPr lang="en-US" sz="1400" dirty="0"/>
          </a:p>
          <a:p>
            <a:pPr algn="ctr" indent="0" marL="0">
              <a:buNone/>
            </a:pPr>
            <a:r>
              <a:rPr lang="en-US" sz="1400" b="1" dirty="0">
                <a:solidFill>
                  <a:schemeClr val="bg1"/>
                </a:solidFill>
              </a:rPr>
              <a:t>Learning</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How machine learning works</a:t>
            </a:r>
            <a:endParaRPr lang="en-US" sz="3400" dirty="0"/>
          </a:p>
        </p:txBody>
      </p:sp>
      <p:sp>
        <p:nvSpPr>
          <p:cNvPr id="3" name="flow step"/>
          <p:cNvSpPr/>
          <p:nvPr/>
        </p:nvSpPr>
        <p:spPr>
          <a:xfrm>
            <a:off x="457200" y="1188720"/>
            <a:ext cx="1748790" cy="640080"/>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02920" y="1188720"/>
            <a:ext cx="1657350" cy="640080"/>
          </a:xfrm>
          <a:prstGeom prst="rect">
            <a:avLst/>
          </a:prstGeom>
          <a:noFill/>
          <a:ln/>
        </p:spPr>
        <p:txBody>
          <a:bodyPr wrap="square" lIns="0" tIns="0" rIns="0" bIns="0" rtlCol="0" anchor="ctr"/>
          <a:lstStyle/>
          <a:p>
            <a:pPr algn="ctr" indent="0" marL="0">
              <a:buNone/>
            </a:pPr>
            <a:r>
              <a:rPr lang="en-US" sz="1400" b="1" dirty="0">
                <a:solidFill>
                  <a:schemeClr val="bg1"/>
                </a:solidFill>
              </a:rPr>
              <a:t>Data</a:t>
            </a:r>
            <a:endParaRPr lang="en-US" sz="1400" dirty="0"/>
          </a:p>
        </p:txBody>
      </p:sp>
      <p:sp>
        <p:nvSpPr>
          <p:cNvPr id="5" name="arrow"/>
          <p:cNvSpPr/>
          <p:nvPr/>
        </p:nvSpPr>
        <p:spPr>
          <a:xfrm>
            <a:off x="2233422" y="1508760"/>
            <a:ext cx="356616" cy="0"/>
          </a:xfrm>
          <a:prstGeom prst="line">
            <a:avLst/>
          </a:prstGeom>
          <a:noFill/>
          <a:ln w="25400">
            <a:solidFill>
              <a:schemeClr val="accent2"/>
            </a:solidFill>
            <a:prstDash val="solid"/>
            <a:tailEnd type="triangle"/>
          </a:ln>
        </p:spPr>
      </p:sp>
      <p:sp>
        <p:nvSpPr>
          <p:cNvPr id="6" name="flow step"/>
          <p:cNvSpPr/>
          <p:nvPr/>
        </p:nvSpPr>
        <p:spPr>
          <a:xfrm>
            <a:off x="2617470" y="1188720"/>
            <a:ext cx="1748790" cy="640080"/>
          </a:xfrm>
          <a:prstGeom prst="roundRect">
            <a:avLst>
              <a:gd name="adj" fmla="val 14286"/>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663190" y="1188720"/>
            <a:ext cx="1657350" cy="640080"/>
          </a:xfrm>
          <a:prstGeom prst="rect">
            <a:avLst/>
          </a:prstGeom>
          <a:noFill/>
          <a:ln/>
        </p:spPr>
        <p:txBody>
          <a:bodyPr wrap="square" lIns="0" tIns="0" rIns="0" bIns="0" rtlCol="0" anchor="ctr"/>
          <a:lstStyle/>
          <a:p>
            <a:pPr algn="ctr" indent="0" marL="0">
              <a:buNone/>
            </a:pPr>
            <a:r>
              <a:rPr lang="en-US" sz="1400" b="1" dirty="0">
                <a:solidFill>
                  <a:schemeClr val="bg1"/>
                </a:solidFill>
              </a:rPr>
              <a:t>Training</a:t>
            </a:r>
            <a:endParaRPr lang="en-US" sz="1400" dirty="0"/>
          </a:p>
        </p:txBody>
      </p:sp>
      <p:sp>
        <p:nvSpPr>
          <p:cNvPr id="8" name="arrow"/>
          <p:cNvSpPr/>
          <p:nvPr/>
        </p:nvSpPr>
        <p:spPr>
          <a:xfrm>
            <a:off x="4393692" y="1508760"/>
            <a:ext cx="356616" cy="0"/>
          </a:xfrm>
          <a:prstGeom prst="line">
            <a:avLst/>
          </a:prstGeom>
          <a:noFill/>
          <a:ln w="25400">
            <a:solidFill>
              <a:schemeClr val="accent2"/>
            </a:solidFill>
            <a:prstDash val="solid"/>
            <a:tailEnd type="triangle"/>
          </a:ln>
        </p:spPr>
      </p:sp>
      <p:sp>
        <p:nvSpPr>
          <p:cNvPr id="9" name="flow step"/>
          <p:cNvSpPr/>
          <p:nvPr/>
        </p:nvSpPr>
        <p:spPr>
          <a:xfrm>
            <a:off x="4777740" y="1188720"/>
            <a:ext cx="1748790" cy="640080"/>
          </a:xfrm>
          <a:prstGeom prst="roundRect">
            <a:avLst>
              <a:gd name="adj" fmla="val 14286"/>
            </a:avLst>
          </a:prstGeom>
          <a:solidFill>
            <a:schemeClr val="accent3"/>
          </a:solidFill>
          <a:ln w="12700">
            <a:solidFill>
              <a:schemeClr val="accent3"/>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4823460" y="1188720"/>
            <a:ext cx="1657350" cy="640080"/>
          </a:xfrm>
          <a:prstGeom prst="rect">
            <a:avLst/>
          </a:prstGeom>
          <a:noFill/>
          <a:ln/>
        </p:spPr>
        <p:txBody>
          <a:bodyPr wrap="square" lIns="0" tIns="0" rIns="0" bIns="0" rtlCol="0" anchor="ctr"/>
          <a:lstStyle/>
          <a:p>
            <a:pPr algn="ctr" indent="0" marL="0">
              <a:buNone/>
            </a:pPr>
            <a:r>
              <a:rPr lang="en-US" sz="1400" b="1" dirty="0">
                <a:solidFill>
                  <a:schemeClr val="bg1"/>
                </a:solidFill>
              </a:rPr>
              <a:t>Model</a:t>
            </a:r>
            <a:endParaRPr lang="en-US" sz="1400" dirty="0"/>
          </a:p>
        </p:txBody>
      </p:sp>
      <p:sp>
        <p:nvSpPr>
          <p:cNvPr id="11" name="arrow"/>
          <p:cNvSpPr/>
          <p:nvPr/>
        </p:nvSpPr>
        <p:spPr>
          <a:xfrm>
            <a:off x="6553962" y="1508760"/>
            <a:ext cx="356616" cy="0"/>
          </a:xfrm>
          <a:prstGeom prst="line">
            <a:avLst/>
          </a:prstGeom>
          <a:noFill/>
          <a:ln w="25400">
            <a:solidFill>
              <a:schemeClr val="accent2"/>
            </a:solidFill>
            <a:prstDash val="solid"/>
            <a:tailEnd type="triangle"/>
          </a:ln>
        </p:spPr>
      </p:sp>
      <p:sp>
        <p:nvSpPr>
          <p:cNvPr id="12" name="flow step"/>
          <p:cNvSpPr/>
          <p:nvPr/>
        </p:nvSpPr>
        <p:spPr>
          <a:xfrm>
            <a:off x="6938010" y="1188720"/>
            <a:ext cx="1748790" cy="640080"/>
          </a:xfrm>
          <a:prstGeom prst="roundRect">
            <a:avLst>
              <a:gd name="adj" fmla="val 14286"/>
            </a:avLst>
          </a:prstGeom>
          <a:solidFill>
            <a:schemeClr val="accent5"/>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983730" y="1188720"/>
            <a:ext cx="1657350" cy="640080"/>
          </a:xfrm>
          <a:prstGeom prst="rect">
            <a:avLst/>
          </a:prstGeom>
          <a:noFill/>
          <a:ln/>
        </p:spPr>
        <p:txBody>
          <a:bodyPr wrap="square" lIns="0" tIns="0" rIns="0" bIns="0" rtlCol="0" anchor="ctr"/>
          <a:lstStyle/>
          <a:p>
            <a:pPr algn="ctr" indent="0" marL="0">
              <a:buNone/>
            </a:pPr>
            <a:r>
              <a:rPr lang="en-US" sz="1400" b="1" dirty="0">
                <a:solidFill>
                  <a:schemeClr val="tx1"/>
                </a:solidFill>
              </a:rPr>
              <a:t>Prediction</a:t>
            </a:r>
            <a:endParaRPr lang="en-US" sz="1400" dirty="0"/>
          </a:p>
        </p:txBody>
      </p:sp>
      <p:sp>
        <p:nvSpPr>
          <p:cNvPr id="14" name="card"/>
          <p:cNvSpPr/>
          <p:nvPr/>
        </p:nvSpPr>
        <p:spPr>
          <a:xfrm>
            <a:off x="457200" y="2103120"/>
            <a:ext cx="8229600" cy="246888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685800" y="219456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Example: house price prediction</a:t>
            </a:r>
            <a:endParaRPr lang="en-US" sz="1800" dirty="0"/>
          </a:p>
        </p:txBody>
      </p:sp>
      <p:sp>
        <p:nvSpPr>
          <p:cNvPr id="16" name="pill"/>
          <p:cNvSpPr/>
          <p:nvPr/>
        </p:nvSpPr>
        <p:spPr>
          <a:xfrm>
            <a:off x="731520" y="2697480"/>
            <a:ext cx="2103120" cy="502920"/>
          </a:xfrm>
          <a:prstGeom prst="roundRect">
            <a:avLst>
              <a:gd name="adj" fmla="val 50000"/>
            </a:avLst>
          </a:prstGeom>
          <a:solidFill>
            <a:schemeClr val="accent1"/>
          </a:solidFill>
          <a:ln w="12700">
            <a:solidFill>
              <a:schemeClr val="accent1"/>
            </a:solidFill>
            <a:prstDash val="solid"/>
          </a:ln>
        </p:spPr>
      </p:sp>
      <p:pic>
        <p:nvPicPr>
          <p:cNvPr id="17" name="Image 0" descr="ruler">    </p:cNvPr>
          <p:cNvPicPr>
            <a:picLocks noChangeAspect="1"/>
          </p:cNvPicPr>
          <p:nvPr/>
        </p:nvPicPr>
        <p:blipFill>
          <a:blip r:embed="rId1"/>
          <a:stretch>
            <a:fillRect/>
          </a:stretch>
        </p:blipFill>
        <p:spPr>
          <a:xfrm>
            <a:off x="868680" y="2839212"/>
            <a:ext cx="219456" cy="219456"/>
          </a:xfrm>
          <a:prstGeom prst="rect">
            <a:avLst/>
          </a:prstGeom>
        </p:spPr>
      </p:pic>
      <p:sp>
        <p:nvSpPr>
          <p:cNvPr id="18" name="Text 15"/>
          <p:cNvSpPr txBox="1"/>
          <p:nvPr/>
        </p:nvSpPr>
        <p:spPr>
          <a:xfrm>
            <a:off x="1188720" y="2697480"/>
            <a:ext cx="1554480" cy="502920"/>
          </a:xfrm>
          <a:prstGeom prst="rect">
            <a:avLst/>
          </a:prstGeom>
          <a:noFill/>
          <a:ln/>
        </p:spPr>
        <p:txBody>
          <a:bodyPr wrap="square" lIns="0" tIns="0" rIns="0" bIns="0" rtlCol="0" anchor="ctr"/>
          <a:lstStyle/>
          <a:p>
            <a:pPr indent="0" marL="0">
              <a:buNone/>
            </a:pPr>
            <a:r>
              <a:rPr lang="en-US" sz="1400" b="1" dirty="0">
                <a:solidFill>
                  <a:schemeClr val="bg1"/>
                </a:solidFill>
              </a:rPr>
              <a:t>Area</a:t>
            </a:r>
            <a:endParaRPr lang="en-US" sz="1400" dirty="0"/>
          </a:p>
        </p:txBody>
      </p:sp>
      <p:sp>
        <p:nvSpPr>
          <p:cNvPr id="19" name="feature link"/>
          <p:cNvSpPr/>
          <p:nvPr/>
        </p:nvSpPr>
        <p:spPr>
          <a:xfrm>
            <a:off x="2834640" y="2944368"/>
            <a:ext cx="1097280" cy="667512"/>
          </a:xfrm>
          <a:prstGeom prst="line">
            <a:avLst/>
          </a:prstGeom>
          <a:noFill/>
          <a:ln w="19050">
            <a:solidFill>
              <a:schemeClr val="accent2"/>
            </a:solidFill>
            <a:prstDash val="solid"/>
          </a:ln>
        </p:spPr>
      </p:sp>
      <p:sp>
        <p:nvSpPr>
          <p:cNvPr id="20" name="pill"/>
          <p:cNvSpPr/>
          <p:nvPr/>
        </p:nvSpPr>
        <p:spPr>
          <a:xfrm>
            <a:off x="731520" y="3319272"/>
            <a:ext cx="2103120" cy="502920"/>
          </a:xfrm>
          <a:prstGeom prst="roundRect">
            <a:avLst>
              <a:gd name="adj" fmla="val 50000"/>
            </a:avLst>
          </a:prstGeom>
          <a:solidFill>
            <a:schemeClr val="accent1"/>
          </a:solidFill>
          <a:ln w="12700">
            <a:solidFill>
              <a:schemeClr val="accent1"/>
            </a:solidFill>
            <a:prstDash val="solid"/>
          </a:ln>
        </p:spPr>
      </p:sp>
      <p:pic>
        <p:nvPicPr>
          <p:cNvPr id="21" name="Image 1" descr="pin">    </p:cNvPr>
          <p:cNvPicPr>
            <a:picLocks noChangeAspect="1"/>
          </p:cNvPicPr>
          <p:nvPr/>
        </p:nvPicPr>
        <p:blipFill>
          <a:blip r:embed="rId2"/>
          <a:stretch>
            <a:fillRect/>
          </a:stretch>
        </p:blipFill>
        <p:spPr>
          <a:xfrm>
            <a:off x="868680" y="3461004"/>
            <a:ext cx="219456" cy="219456"/>
          </a:xfrm>
          <a:prstGeom prst="rect">
            <a:avLst/>
          </a:prstGeom>
        </p:spPr>
      </p:pic>
      <p:sp>
        <p:nvSpPr>
          <p:cNvPr id="22" name="Text 18"/>
          <p:cNvSpPr txBox="1"/>
          <p:nvPr/>
        </p:nvSpPr>
        <p:spPr>
          <a:xfrm>
            <a:off x="1188720" y="3319272"/>
            <a:ext cx="1554480" cy="502920"/>
          </a:xfrm>
          <a:prstGeom prst="rect">
            <a:avLst/>
          </a:prstGeom>
          <a:noFill/>
          <a:ln/>
        </p:spPr>
        <p:txBody>
          <a:bodyPr wrap="square" lIns="0" tIns="0" rIns="0" bIns="0" rtlCol="0" anchor="ctr"/>
          <a:lstStyle/>
          <a:p>
            <a:pPr indent="0" marL="0">
              <a:buNone/>
            </a:pPr>
            <a:r>
              <a:rPr lang="en-US" sz="1400" b="1" dirty="0">
                <a:solidFill>
                  <a:schemeClr val="bg1"/>
                </a:solidFill>
              </a:rPr>
              <a:t>Location</a:t>
            </a:r>
            <a:endParaRPr lang="en-US" sz="1400" dirty="0"/>
          </a:p>
        </p:txBody>
      </p:sp>
      <p:sp>
        <p:nvSpPr>
          <p:cNvPr id="23" name="feature link"/>
          <p:cNvSpPr/>
          <p:nvPr/>
        </p:nvSpPr>
        <p:spPr>
          <a:xfrm>
            <a:off x="2834640" y="3566160"/>
            <a:ext cx="1097280" cy="45720"/>
          </a:xfrm>
          <a:prstGeom prst="line">
            <a:avLst/>
          </a:prstGeom>
          <a:noFill/>
          <a:ln w="19050">
            <a:solidFill>
              <a:schemeClr val="accent2"/>
            </a:solidFill>
            <a:prstDash val="solid"/>
          </a:ln>
        </p:spPr>
      </p:sp>
      <p:sp>
        <p:nvSpPr>
          <p:cNvPr id="24" name="pill"/>
          <p:cNvSpPr/>
          <p:nvPr/>
        </p:nvSpPr>
        <p:spPr>
          <a:xfrm>
            <a:off x="731520" y="3941064"/>
            <a:ext cx="2103120" cy="502920"/>
          </a:xfrm>
          <a:prstGeom prst="roundRect">
            <a:avLst>
              <a:gd name="adj" fmla="val 50000"/>
            </a:avLst>
          </a:prstGeom>
          <a:solidFill>
            <a:schemeClr val="accent1"/>
          </a:solidFill>
          <a:ln w="12700">
            <a:solidFill>
              <a:schemeClr val="accent1"/>
            </a:solidFill>
            <a:prstDash val="solid"/>
          </a:ln>
        </p:spPr>
      </p:sp>
      <p:pic>
        <p:nvPicPr>
          <p:cNvPr id="25" name="Image 2" descr="bed">    </p:cNvPr>
          <p:cNvPicPr>
            <a:picLocks noChangeAspect="1"/>
          </p:cNvPicPr>
          <p:nvPr/>
        </p:nvPicPr>
        <p:blipFill>
          <a:blip r:embed="rId3"/>
          <a:stretch>
            <a:fillRect/>
          </a:stretch>
        </p:blipFill>
        <p:spPr>
          <a:xfrm>
            <a:off x="868680" y="4082796"/>
            <a:ext cx="219456" cy="219456"/>
          </a:xfrm>
          <a:prstGeom prst="rect">
            <a:avLst/>
          </a:prstGeom>
        </p:spPr>
      </p:pic>
      <p:sp>
        <p:nvSpPr>
          <p:cNvPr id="26" name="Text 21"/>
          <p:cNvSpPr txBox="1"/>
          <p:nvPr/>
        </p:nvSpPr>
        <p:spPr>
          <a:xfrm>
            <a:off x="1188720" y="3941064"/>
            <a:ext cx="1554480" cy="502920"/>
          </a:xfrm>
          <a:prstGeom prst="rect">
            <a:avLst/>
          </a:prstGeom>
          <a:noFill/>
          <a:ln/>
        </p:spPr>
        <p:txBody>
          <a:bodyPr wrap="square" lIns="0" tIns="0" rIns="0" bIns="0" rtlCol="0" anchor="ctr"/>
          <a:lstStyle/>
          <a:p>
            <a:pPr indent="0" marL="0">
              <a:buNone/>
            </a:pPr>
            <a:r>
              <a:rPr lang="en-US" sz="1400" b="1" dirty="0">
                <a:solidFill>
                  <a:schemeClr val="bg1"/>
                </a:solidFill>
              </a:rPr>
              <a:t>Rooms</a:t>
            </a:r>
            <a:endParaRPr lang="en-US" sz="1400" dirty="0"/>
          </a:p>
        </p:txBody>
      </p:sp>
      <p:sp>
        <p:nvSpPr>
          <p:cNvPr id="27" name="feature link"/>
          <p:cNvSpPr/>
          <p:nvPr/>
        </p:nvSpPr>
        <p:spPr>
          <a:xfrm flipV="1">
            <a:off x="2834640" y="4187952"/>
            <a:ext cx="1097280" cy="-576072"/>
          </a:xfrm>
          <a:prstGeom prst="line">
            <a:avLst/>
          </a:prstGeom>
          <a:noFill/>
          <a:ln w="19050">
            <a:solidFill>
              <a:schemeClr val="accent2"/>
            </a:solidFill>
            <a:prstDash val="solid"/>
          </a:ln>
        </p:spPr>
      </p:sp>
      <p:sp>
        <p:nvSpPr>
          <p:cNvPr id="28" name="Text 23"/>
          <p:cNvSpPr txBox="1"/>
          <p:nvPr/>
        </p:nvSpPr>
        <p:spPr>
          <a:xfrm>
            <a:off x="731520" y="2514600"/>
            <a:ext cx="2103120" cy="182880"/>
          </a:xfrm>
          <a:prstGeom prst="rect">
            <a:avLst/>
          </a:prstGeom>
          <a:noFill/>
          <a:ln/>
        </p:spPr>
        <p:txBody>
          <a:bodyPr wrap="square" lIns="0" tIns="0" rIns="0" bIns="0" rtlCol="0" anchor="ctr"/>
          <a:lstStyle/>
          <a:p>
            <a:pPr indent="0" marL="0">
              <a:buNone/>
            </a:pPr>
            <a:r>
              <a:rPr lang="en-US" sz="1100" b="1" dirty="0">
                <a:solidFill>
                  <a:schemeClr val="tx2"/>
                </a:solidFill>
              </a:rPr>
              <a:t>FEATURES</a:t>
            </a:r>
            <a:endParaRPr lang="en-US" sz="1100" dirty="0"/>
          </a:p>
        </p:txBody>
      </p:sp>
      <p:sp>
        <p:nvSpPr>
          <p:cNvPr id="29" name="model box"/>
          <p:cNvSpPr/>
          <p:nvPr/>
        </p:nvSpPr>
        <p:spPr>
          <a:xfrm>
            <a:off x="3931920" y="3063240"/>
            <a:ext cx="1920240" cy="109728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pic>
        <p:nvPicPr>
          <p:cNvPr id="30" name="Image 3" descr="model">    </p:cNvPr>
          <p:cNvPicPr>
            <a:picLocks noChangeAspect="1"/>
          </p:cNvPicPr>
          <p:nvPr/>
        </p:nvPicPr>
        <p:blipFill>
          <a:blip r:embed="rId4"/>
          <a:stretch>
            <a:fillRect/>
          </a:stretch>
        </p:blipFill>
        <p:spPr>
          <a:xfrm>
            <a:off x="4663440" y="3154680"/>
            <a:ext cx="457200" cy="457200"/>
          </a:xfrm>
          <a:prstGeom prst="rect">
            <a:avLst/>
          </a:prstGeom>
        </p:spPr>
      </p:pic>
      <p:sp>
        <p:nvSpPr>
          <p:cNvPr id="31" name="Text 25"/>
          <p:cNvSpPr txBox="1"/>
          <p:nvPr/>
        </p:nvSpPr>
        <p:spPr>
          <a:xfrm>
            <a:off x="3931920" y="3657600"/>
            <a:ext cx="1920240" cy="365760"/>
          </a:xfrm>
          <a:prstGeom prst="rect">
            <a:avLst/>
          </a:prstGeom>
          <a:noFill/>
          <a:ln/>
        </p:spPr>
        <p:txBody>
          <a:bodyPr wrap="square" lIns="0" tIns="0" rIns="0" bIns="0" rtlCol="0" anchor="ctr"/>
          <a:lstStyle/>
          <a:p>
            <a:pPr algn="ctr" indent="0" marL="0">
              <a:buNone/>
            </a:pPr>
            <a:r>
              <a:rPr lang="en-US" sz="1600" b="1" dirty="0">
                <a:solidFill>
                  <a:schemeClr val="bg1"/>
                </a:solidFill>
              </a:rPr>
              <a:t>ML model</a:t>
            </a:r>
            <a:endParaRPr lang="en-US" sz="1600" dirty="0"/>
          </a:p>
        </p:txBody>
      </p:sp>
      <p:sp>
        <p:nvSpPr>
          <p:cNvPr id="32" name="arrow"/>
          <p:cNvSpPr/>
          <p:nvPr/>
        </p:nvSpPr>
        <p:spPr>
          <a:xfrm>
            <a:off x="5897880" y="3611880"/>
            <a:ext cx="731520" cy="0"/>
          </a:xfrm>
          <a:prstGeom prst="line">
            <a:avLst/>
          </a:prstGeom>
          <a:noFill/>
          <a:ln w="25400">
            <a:solidFill>
              <a:schemeClr val="accent2"/>
            </a:solidFill>
            <a:prstDash val="solid"/>
            <a:tailEnd type="triangle"/>
          </a:ln>
        </p:spPr>
      </p:sp>
      <p:sp>
        <p:nvSpPr>
          <p:cNvPr id="33" name="price"/>
          <p:cNvSpPr/>
          <p:nvPr/>
        </p:nvSpPr>
        <p:spPr>
          <a:xfrm>
            <a:off x="6675120" y="3246120"/>
            <a:ext cx="1737360" cy="731520"/>
          </a:xfrm>
          <a:prstGeom prst="roundRect">
            <a:avLst>
              <a:gd name="adj" fmla="val 15000"/>
            </a:avLst>
          </a:prstGeom>
          <a:solidFill>
            <a:schemeClr val="accent5"/>
          </a:solidFill>
          <a:ln w="12700">
            <a:solidFill>
              <a:schemeClr val="accent5"/>
            </a:solidFill>
            <a:prstDash val="solid"/>
          </a:ln>
        </p:spPr>
      </p:sp>
      <p:sp>
        <p:nvSpPr>
          <p:cNvPr id="34" name="Text 28"/>
          <p:cNvSpPr txBox="1"/>
          <p:nvPr/>
        </p:nvSpPr>
        <p:spPr>
          <a:xfrm>
            <a:off x="6675120" y="3246120"/>
            <a:ext cx="1737360" cy="731520"/>
          </a:xfrm>
          <a:prstGeom prst="rect">
            <a:avLst/>
          </a:prstGeom>
          <a:noFill/>
          <a:ln/>
        </p:spPr>
        <p:txBody>
          <a:bodyPr wrap="square" lIns="0" tIns="0" rIns="0" bIns="0" rtlCol="0" anchor="ctr"/>
          <a:lstStyle/>
          <a:p>
            <a:pPr algn="ctr" indent="0" marL="0">
              <a:buNone/>
            </a:pPr>
            <a:r>
              <a:rPr lang="en-US" sz="2200" b="1" dirty="0">
                <a:solidFill>
                  <a:schemeClr val="tx1"/>
                </a:solidFill>
              </a:rPr>
              <a:t>Price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Three ways machines learn</a:t>
            </a:r>
            <a:endParaRPr lang="en-US" sz="3400" dirty="0"/>
          </a:p>
        </p:txBody>
      </p:sp>
      <p:sp>
        <p:nvSpPr>
          <p:cNvPr id="3" name="card"/>
          <p:cNvSpPr/>
          <p:nvPr/>
        </p:nvSpPr>
        <p:spPr>
          <a:xfrm>
            <a:off x="45720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1508760" y="1325880"/>
            <a:ext cx="548640" cy="548640"/>
          </a:xfrm>
          <a:prstGeom prst="ellipse">
            <a:avLst/>
          </a:prstGeom>
          <a:solidFill>
            <a:schemeClr val="accent1"/>
          </a:solidFill>
          <a:ln w="12700">
            <a:solidFill>
              <a:schemeClr val="accent1"/>
            </a:solidFill>
            <a:prstDash val="solid"/>
          </a:ln>
        </p:spPr>
      </p:sp>
      <p:pic>
        <p:nvPicPr>
          <p:cNvPr id="5" name="Image 0" descr="tag icon">    </p:cNvPr>
          <p:cNvPicPr>
            <a:picLocks noChangeAspect="1"/>
          </p:cNvPicPr>
          <p:nvPr/>
        </p:nvPicPr>
        <p:blipFill>
          <a:blip r:embed="rId1"/>
          <a:stretch>
            <a:fillRect/>
          </a:stretch>
        </p:blipFill>
        <p:spPr>
          <a:xfrm>
            <a:off x="1645920" y="1463040"/>
            <a:ext cx="274320" cy="274320"/>
          </a:xfrm>
          <a:prstGeom prst="rect">
            <a:avLst/>
          </a:prstGeom>
        </p:spPr>
      </p:pic>
      <p:sp>
        <p:nvSpPr>
          <p:cNvPr id="6" name="Text 3"/>
          <p:cNvSpPr txBox="1"/>
          <p:nvPr/>
        </p:nvSpPr>
        <p:spPr>
          <a:xfrm>
            <a:off x="457200" y="1965960"/>
            <a:ext cx="2651760" cy="365760"/>
          </a:xfrm>
          <a:prstGeom prst="rect">
            <a:avLst/>
          </a:prstGeom>
          <a:noFill/>
          <a:ln/>
        </p:spPr>
        <p:txBody>
          <a:bodyPr wrap="square" lIns="0" tIns="0" rIns="0" bIns="0" rtlCol="0" anchor="ctr"/>
          <a:lstStyle/>
          <a:p>
            <a:pPr algn="ctr" indent="0" marL="0">
              <a:buNone/>
            </a:pPr>
            <a:r>
              <a:rPr lang="en-US" sz="1800" b="1" dirty="0">
                <a:solidFill>
                  <a:schemeClr val="tx1"/>
                </a:solidFill>
              </a:rPr>
              <a:t>Supervised</a:t>
            </a:r>
            <a:endParaRPr lang="en-US" sz="1800" dirty="0"/>
          </a:p>
        </p:txBody>
      </p:sp>
      <p:sp>
        <p:nvSpPr>
          <p:cNvPr id="7" name="info row"/>
          <p:cNvSpPr/>
          <p:nvPr/>
        </p:nvSpPr>
        <p:spPr>
          <a:xfrm>
            <a:off x="594360" y="2468880"/>
            <a:ext cx="2377440" cy="594360"/>
          </a:xfrm>
          <a:prstGeom prst="roundRect">
            <a:avLst>
              <a:gd name="adj" fmla="val 12308"/>
            </a:avLst>
          </a:prstGeom>
          <a:solidFill>
            <a:schemeClr val="bg1"/>
          </a:solidFill>
          <a:ln w="12700">
            <a:solidFill>
              <a:schemeClr val="bg1"/>
            </a:solidFill>
            <a:prstDash val="solid"/>
          </a:ln>
        </p:spPr>
      </p:sp>
      <p:sp>
        <p:nvSpPr>
          <p:cNvPr id="8" name="Text 5"/>
          <p:cNvSpPr txBox="1"/>
          <p:nvPr/>
        </p:nvSpPr>
        <p:spPr>
          <a:xfrm>
            <a:off x="731520" y="2514600"/>
            <a:ext cx="2286000" cy="182880"/>
          </a:xfrm>
          <a:prstGeom prst="rect">
            <a:avLst/>
          </a:prstGeom>
          <a:noFill/>
          <a:ln/>
        </p:spPr>
        <p:txBody>
          <a:bodyPr wrap="square" lIns="0" tIns="0" rIns="0" bIns="0" rtlCol="0" anchor="ctr"/>
          <a:lstStyle/>
          <a:p>
            <a:pPr indent="0" marL="0">
              <a:buNone/>
            </a:pPr>
            <a:r>
              <a:rPr lang="en-US" sz="1100" b="1" dirty="0">
                <a:solidFill>
                  <a:schemeClr val="accent1"/>
                </a:solidFill>
              </a:rPr>
              <a:t>DATA</a:t>
            </a:r>
            <a:endParaRPr lang="en-US" sz="1100" dirty="0"/>
          </a:p>
        </p:txBody>
      </p:sp>
      <p:sp>
        <p:nvSpPr>
          <p:cNvPr id="9" name="Text 6"/>
          <p:cNvSpPr txBox="1"/>
          <p:nvPr/>
        </p:nvSpPr>
        <p:spPr>
          <a:xfrm>
            <a:off x="731520" y="27157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Labeled</a:t>
            </a:r>
            <a:endParaRPr lang="en-US" sz="1400" dirty="0"/>
          </a:p>
        </p:txBody>
      </p:sp>
      <p:sp>
        <p:nvSpPr>
          <p:cNvPr id="10" name="info row"/>
          <p:cNvSpPr/>
          <p:nvPr/>
        </p:nvSpPr>
        <p:spPr>
          <a:xfrm>
            <a:off x="594360" y="3154680"/>
            <a:ext cx="2377440" cy="594360"/>
          </a:xfrm>
          <a:prstGeom prst="roundRect">
            <a:avLst>
              <a:gd name="adj" fmla="val 12308"/>
            </a:avLst>
          </a:prstGeom>
          <a:solidFill>
            <a:schemeClr val="bg1"/>
          </a:solidFill>
          <a:ln w="12700">
            <a:solidFill>
              <a:schemeClr val="bg1"/>
            </a:solidFill>
            <a:prstDash val="solid"/>
          </a:ln>
        </p:spPr>
      </p:sp>
      <p:sp>
        <p:nvSpPr>
          <p:cNvPr id="11" name="Text 8"/>
          <p:cNvSpPr txBox="1"/>
          <p:nvPr/>
        </p:nvSpPr>
        <p:spPr>
          <a:xfrm>
            <a:off x="731520" y="3200400"/>
            <a:ext cx="2286000" cy="182880"/>
          </a:xfrm>
          <a:prstGeom prst="rect">
            <a:avLst/>
          </a:prstGeom>
          <a:noFill/>
          <a:ln/>
        </p:spPr>
        <p:txBody>
          <a:bodyPr wrap="square" lIns="0" tIns="0" rIns="0" bIns="0" rtlCol="0" anchor="ctr"/>
          <a:lstStyle/>
          <a:p>
            <a:pPr indent="0" marL="0">
              <a:buNone/>
            </a:pPr>
            <a:r>
              <a:rPr lang="en-US" sz="1100" b="1" dirty="0">
                <a:solidFill>
                  <a:schemeClr val="accent1"/>
                </a:solidFill>
              </a:rPr>
              <a:t>GOAL</a:t>
            </a:r>
            <a:endParaRPr lang="en-US" sz="1100" dirty="0"/>
          </a:p>
        </p:txBody>
      </p:sp>
      <p:sp>
        <p:nvSpPr>
          <p:cNvPr id="12" name="Text 9"/>
          <p:cNvSpPr txBox="1"/>
          <p:nvPr/>
        </p:nvSpPr>
        <p:spPr>
          <a:xfrm>
            <a:off x="731520" y="34015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Predict a known answer</a:t>
            </a:r>
            <a:endParaRPr lang="en-US" sz="1400" dirty="0"/>
          </a:p>
        </p:txBody>
      </p:sp>
      <p:sp>
        <p:nvSpPr>
          <p:cNvPr id="13" name="info row"/>
          <p:cNvSpPr/>
          <p:nvPr/>
        </p:nvSpPr>
        <p:spPr>
          <a:xfrm>
            <a:off x="594360" y="3840480"/>
            <a:ext cx="2377440" cy="594360"/>
          </a:xfrm>
          <a:prstGeom prst="roundRect">
            <a:avLst>
              <a:gd name="adj" fmla="val 12308"/>
            </a:avLst>
          </a:prstGeom>
          <a:solidFill>
            <a:schemeClr val="bg1"/>
          </a:solidFill>
          <a:ln w="12700">
            <a:solidFill>
              <a:schemeClr val="bg1"/>
            </a:solidFill>
            <a:prstDash val="solid"/>
          </a:ln>
        </p:spPr>
      </p:sp>
      <p:sp>
        <p:nvSpPr>
          <p:cNvPr id="14" name="Text 11"/>
          <p:cNvSpPr txBox="1"/>
          <p:nvPr/>
        </p:nvSpPr>
        <p:spPr>
          <a:xfrm>
            <a:off x="731520" y="3886200"/>
            <a:ext cx="2286000" cy="182880"/>
          </a:xfrm>
          <a:prstGeom prst="rect">
            <a:avLst/>
          </a:prstGeom>
          <a:noFill/>
          <a:ln/>
        </p:spPr>
        <p:txBody>
          <a:bodyPr wrap="square" lIns="0" tIns="0" rIns="0" bIns="0" rtlCol="0" anchor="ctr"/>
          <a:lstStyle/>
          <a:p>
            <a:pPr indent="0" marL="0">
              <a:buNone/>
            </a:pPr>
            <a:r>
              <a:rPr lang="en-US" sz="1100" b="1" dirty="0">
                <a:solidFill>
                  <a:schemeClr val="accent1"/>
                </a:solidFill>
              </a:rPr>
              <a:t>EXAMPLE</a:t>
            </a:r>
            <a:endParaRPr lang="en-US" sz="1100" dirty="0"/>
          </a:p>
        </p:txBody>
      </p:sp>
      <p:sp>
        <p:nvSpPr>
          <p:cNvPr id="15" name="Text 12"/>
          <p:cNvSpPr txBox="1"/>
          <p:nvPr/>
        </p:nvSpPr>
        <p:spPr>
          <a:xfrm>
            <a:off x="731520" y="40873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Spam or not spam</a:t>
            </a:r>
            <a:endParaRPr lang="en-US" sz="1400" dirty="0"/>
          </a:p>
        </p:txBody>
      </p:sp>
      <p:sp>
        <p:nvSpPr>
          <p:cNvPr id="16" name="card"/>
          <p:cNvSpPr/>
          <p:nvPr/>
        </p:nvSpPr>
        <p:spPr>
          <a:xfrm>
            <a:off x="324612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icon badge"/>
          <p:cNvSpPr/>
          <p:nvPr/>
        </p:nvSpPr>
        <p:spPr>
          <a:xfrm>
            <a:off x="4297680" y="1325880"/>
            <a:ext cx="548640" cy="548640"/>
          </a:xfrm>
          <a:prstGeom prst="ellipse">
            <a:avLst/>
          </a:prstGeom>
          <a:solidFill>
            <a:schemeClr val="accent2"/>
          </a:solidFill>
          <a:ln w="12700">
            <a:solidFill>
              <a:schemeClr val="accent2"/>
            </a:solidFill>
            <a:prstDash val="solid"/>
          </a:ln>
        </p:spPr>
      </p:sp>
      <p:pic>
        <p:nvPicPr>
          <p:cNvPr id="18" name="Image 1" descr="diagram icon">    </p:cNvPr>
          <p:cNvPicPr>
            <a:picLocks noChangeAspect="1"/>
          </p:cNvPicPr>
          <p:nvPr/>
        </p:nvPicPr>
        <p:blipFill>
          <a:blip r:embed="rId2"/>
          <a:stretch>
            <a:fillRect/>
          </a:stretch>
        </p:blipFill>
        <p:spPr>
          <a:xfrm>
            <a:off x="4434840" y="1463040"/>
            <a:ext cx="274320" cy="274320"/>
          </a:xfrm>
          <a:prstGeom prst="rect">
            <a:avLst/>
          </a:prstGeom>
        </p:spPr>
      </p:pic>
      <p:sp>
        <p:nvSpPr>
          <p:cNvPr id="19" name="Text 15"/>
          <p:cNvSpPr txBox="1"/>
          <p:nvPr/>
        </p:nvSpPr>
        <p:spPr>
          <a:xfrm>
            <a:off x="3246120" y="1965960"/>
            <a:ext cx="2651760" cy="365760"/>
          </a:xfrm>
          <a:prstGeom prst="rect">
            <a:avLst/>
          </a:prstGeom>
          <a:noFill/>
          <a:ln/>
        </p:spPr>
        <p:txBody>
          <a:bodyPr wrap="square" lIns="0" tIns="0" rIns="0" bIns="0" rtlCol="0" anchor="ctr"/>
          <a:lstStyle/>
          <a:p>
            <a:pPr algn="ctr" indent="0" marL="0">
              <a:buNone/>
            </a:pPr>
            <a:r>
              <a:rPr lang="en-US" sz="1800" b="1" dirty="0">
                <a:solidFill>
                  <a:schemeClr val="tx1"/>
                </a:solidFill>
              </a:rPr>
              <a:t>Unsupervised</a:t>
            </a:r>
            <a:endParaRPr lang="en-US" sz="1800" dirty="0"/>
          </a:p>
        </p:txBody>
      </p:sp>
      <p:sp>
        <p:nvSpPr>
          <p:cNvPr id="20" name="info row"/>
          <p:cNvSpPr/>
          <p:nvPr/>
        </p:nvSpPr>
        <p:spPr>
          <a:xfrm>
            <a:off x="3383280" y="2468880"/>
            <a:ext cx="2377440" cy="594360"/>
          </a:xfrm>
          <a:prstGeom prst="roundRect">
            <a:avLst>
              <a:gd name="adj" fmla="val 12308"/>
            </a:avLst>
          </a:prstGeom>
          <a:solidFill>
            <a:schemeClr val="bg1"/>
          </a:solidFill>
          <a:ln w="12700">
            <a:solidFill>
              <a:schemeClr val="bg1"/>
            </a:solidFill>
            <a:prstDash val="solid"/>
          </a:ln>
        </p:spPr>
      </p:sp>
      <p:sp>
        <p:nvSpPr>
          <p:cNvPr id="21" name="Text 17"/>
          <p:cNvSpPr txBox="1"/>
          <p:nvPr/>
        </p:nvSpPr>
        <p:spPr>
          <a:xfrm>
            <a:off x="3520440" y="2514600"/>
            <a:ext cx="2286000" cy="182880"/>
          </a:xfrm>
          <a:prstGeom prst="rect">
            <a:avLst/>
          </a:prstGeom>
          <a:noFill/>
          <a:ln/>
        </p:spPr>
        <p:txBody>
          <a:bodyPr wrap="square" lIns="0" tIns="0" rIns="0" bIns="0" rtlCol="0" anchor="ctr"/>
          <a:lstStyle/>
          <a:p>
            <a:pPr indent="0" marL="0">
              <a:buNone/>
            </a:pPr>
            <a:r>
              <a:rPr lang="en-US" sz="1100" b="1" dirty="0">
                <a:solidFill>
                  <a:schemeClr val="accent2"/>
                </a:solidFill>
              </a:rPr>
              <a:t>DATA</a:t>
            </a:r>
            <a:endParaRPr lang="en-US" sz="1100" dirty="0"/>
          </a:p>
        </p:txBody>
      </p:sp>
      <p:sp>
        <p:nvSpPr>
          <p:cNvPr id="22" name="Text 18"/>
          <p:cNvSpPr txBox="1"/>
          <p:nvPr/>
        </p:nvSpPr>
        <p:spPr>
          <a:xfrm>
            <a:off x="3520440" y="27157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Unlabeled</a:t>
            </a:r>
            <a:endParaRPr lang="en-US" sz="1400" dirty="0"/>
          </a:p>
        </p:txBody>
      </p:sp>
      <p:sp>
        <p:nvSpPr>
          <p:cNvPr id="23" name="info row"/>
          <p:cNvSpPr/>
          <p:nvPr/>
        </p:nvSpPr>
        <p:spPr>
          <a:xfrm>
            <a:off x="3383280" y="3154680"/>
            <a:ext cx="2377440" cy="594360"/>
          </a:xfrm>
          <a:prstGeom prst="roundRect">
            <a:avLst>
              <a:gd name="adj" fmla="val 12308"/>
            </a:avLst>
          </a:prstGeom>
          <a:solidFill>
            <a:schemeClr val="bg1"/>
          </a:solidFill>
          <a:ln w="12700">
            <a:solidFill>
              <a:schemeClr val="bg1"/>
            </a:solidFill>
            <a:prstDash val="solid"/>
          </a:ln>
        </p:spPr>
      </p:sp>
      <p:sp>
        <p:nvSpPr>
          <p:cNvPr id="24" name="Text 20"/>
          <p:cNvSpPr txBox="1"/>
          <p:nvPr/>
        </p:nvSpPr>
        <p:spPr>
          <a:xfrm>
            <a:off x="3520440" y="3200400"/>
            <a:ext cx="2286000" cy="182880"/>
          </a:xfrm>
          <a:prstGeom prst="rect">
            <a:avLst/>
          </a:prstGeom>
          <a:noFill/>
          <a:ln/>
        </p:spPr>
        <p:txBody>
          <a:bodyPr wrap="square" lIns="0" tIns="0" rIns="0" bIns="0" rtlCol="0" anchor="ctr"/>
          <a:lstStyle/>
          <a:p>
            <a:pPr indent="0" marL="0">
              <a:buNone/>
            </a:pPr>
            <a:r>
              <a:rPr lang="en-US" sz="1100" b="1" dirty="0">
                <a:solidFill>
                  <a:schemeClr val="accent2"/>
                </a:solidFill>
              </a:rPr>
              <a:t>GOAL</a:t>
            </a:r>
            <a:endParaRPr lang="en-US" sz="1100" dirty="0"/>
          </a:p>
        </p:txBody>
      </p:sp>
      <p:sp>
        <p:nvSpPr>
          <p:cNvPr id="25" name="Text 21"/>
          <p:cNvSpPr txBox="1"/>
          <p:nvPr/>
        </p:nvSpPr>
        <p:spPr>
          <a:xfrm>
            <a:off x="3520440" y="34015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Find hidden patterns</a:t>
            </a:r>
            <a:endParaRPr lang="en-US" sz="1400" dirty="0"/>
          </a:p>
        </p:txBody>
      </p:sp>
      <p:sp>
        <p:nvSpPr>
          <p:cNvPr id="26" name="info row"/>
          <p:cNvSpPr/>
          <p:nvPr/>
        </p:nvSpPr>
        <p:spPr>
          <a:xfrm>
            <a:off x="3383280" y="3840480"/>
            <a:ext cx="2377440" cy="594360"/>
          </a:xfrm>
          <a:prstGeom prst="roundRect">
            <a:avLst>
              <a:gd name="adj" fmla="val 12308"/>
            </a:avLst>
          </a:prstGeom>
          <a:solidFill>
            <a:schemeClr val="bg1"/>
          </a:solidFill>
          <a:ln w="12700">
            <a:solidFill>
              <a:schemeClr val="bg1"/>
            </a:solidFill>
            <a:prstDash val="solid"/>
          </a:ln>
        </p:spPr>
      </p:sp>
      <p:sp>
        <p:nvSpPr>
          <p:cNvPr id="27" name="Text 23"/>
          <p:cNvSpPr txBox="1"/>
          <p:nvPr/>
        </p:nvSpPr>
        <p:spPr>
          <a:xfrm>
            <a:off x="3520440" y="3886200"/>
            <a:ext cx="2286000" cy="182880"/>
          </a:xfrm>
          <a:prstGeom prst="rect">
            <a:avLst/>
          </a:prstGeom>
          <a:noFill/>
          <a:ln/>
        </p:spPr>
        <p:txBody>
          <a:bodyPr wrap="square" lIns="0" tIns="0" rIns="0" bIns="0" rtlCol="0" anchor="ctr"/>
          <a:lstStyle/>
          <a:p>
            <a:pPr indent="0" marL="0">
              <a:buNone/>
            </a:pPr>
            <a:r>
              <a:rPr lang="en-US" sz="1100" b="1" dirty="0">
                <a:solidFill>
                  <a:schemeClr val="accent2"/>
                </a:solidFill>
              </a:rPr>
              <a:t>EXAMPLE</a:t>
            </a:r>
            <a:endParaRPr lang="en-US" sz="1100" dirty="0"/>
          </a:p>
        </p:txBody>
      </p:sp>
      <p:sp>
        <p:nvSpPr>
          <p:cNvPr id="28" name="Text 24"/>
          <p:cNvSpPr txBox="1"/>
          <p:nvPr/>
        </p:nvSpPr>
        <p:spPr>
          <a:xfrm>
            <a:off x="3520440" y="40873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Customer groups</a:t>
            </a:r>
            <a:endParaRPr lang="en-US" sz="1400" dirty="0"/>
          </a:p>
        </p:txBody>
      </p:sp>
      <p:sp>
        <p:nvSpPr>
          <p:cNvPr id="29" name="card"/>
          <p:cNvSpPr/>
          <p:nvPr/>
        </p:nvSpPr>
        <p:spPr>
          <a:xfrm>
            <a:off x="6035040" y="1188720"/>
            <a:ext cx="2651760" cy="338328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icon badge"/>
          <p:cNvSpPr/>
          <p:nvPr/>
        </p:nvSpPr>
        <p:spPr>
          <a:xfrm>
            <a:off x="7086600" y="1325880"/>
            <a:ext cx="548640" cy="548640"/>
          </a:xfrm>
          <a:prstGeom prst="ellipse">
            <a:avLst/>
          </a:prstGeom>
          <a:solidFill>
            <a:schemeClr val="accent5"/>
          </a:solidFill>
          <a:ln w="12700">
            <a:solidFill>
              <a:schemeClr val="accent5"/>
            </a:solidFill>
            <a:prstDash val="solid"/>
          </a:ln>
        </p:spPr>
      </p:sp>
      <p:pic>
        <p:nvPicPr>
          <p:cNvPr id="31" name="Image 2" descr="game icon">    </p:cNvPr>
          <p:cNvPicPr>
            <a:picLocks noChangeAspect="1"/>
          </p:cNvPicPr>
          <p:nvPr/>
        </p:nvPicPr>
        <p:blipFill>
          <a:blip r:embed="rId3"/>
          <a:stretch>
            <a:fillRect/>
          </a:stretch>
        </p:blipFill>
        <p:spPr>
          <a:xfrm>
            <a:off x="7223760" y="1463040"/>
            <a:ext cx="274320" cy="274320"/>
          </a:xfrm>
          <a:prstGeom prst="rect">
            <a:avLst/>
          </a:prstGeom>
        </p:spPr>
      </p:pic>
      <p:sp>
        <p:nvSpPr>
          <p:cNvPr id="32" name="Text 27"/>
          <p:cNvSpPr txBox="1"/>
          <p:nvPr/>
        </p:nvSpPr>
        <p:spPr>
          <a:xfrm>
            <a:off x="6035040" y="1965960"/>
            <a:ext cx="2651760" cy="365760"/>
          </a:xfrm>
          <a:prstGeom prst="rect">
            <a:avLst/>
          </a:prstGeom>
          <a:noFill/>
          <a:ln/>
        </p:spPr>
        <p:txBody>
          <a:bodyPr wrap="square" lIns="0" tIns="0" rIns="0" bIns="0" rtlCol="0" anchor="ctr"/>
          <a:lstStyle/>
          <a:p>
            <a:pPr algn="ctr" indent="0" marL="0">
              <a:buNone/>
            </a:pPr>
            <a:r>
              <a:rPr lang="en-US" sz="1800" b="1" dirty="0">
                <a:solidFill>
                  <a:schemeClr val="tx1"/>
                </a:solidFill>
              </a:rPr>
              <a:t>Reinforcement</a:t>
            </a:r>
            <a:endParaRPr lang="en-US" sz="1800" dirty="0"/>
          </a:p>
        </p:txBody>
      </p:sp>
      <p:sp>
        <p:nvSpPr>
          <p:cNvPr id="33" name="info row"/>
          <p:cNvSpPr/>
          <p:nvPr/>
        </p:nvSpPr>
        <p:spPr>
          <a:xfrm>
            <a:off x="6172200" y="2468880"/>
            <a:ext cx="2377440" cy="594360"/>
          </a:xfrm>
          <a:prstGeom prst="roundRect">
            <a:avLst>
              <a:gd name="adj" fmla="val 12308"/>
            </a:avLst>
          </a:prstGeom>
          <a:solidFill>
            <a:schemeClr val="bg1"/>
          </a:solidFill>
          <a:ln w="12700">
            <a:solidFill>
              <a:schemeClr val="bg1"/>
            </a:solidFill>
            <a:prstDash val="solid"/>
          </a:ln>
        </p:spPr>
      </p:sp>
      <p:sp>
        <p:nvSpPr>
          <p:cNvPr id="34" name="Text 29"/>
          <p:cNvSpPr txBox="1"/>
          <p:nvPr/>
        </p:nvSpPr>
        <p:spPr>
          <a:xfrm>
            <a:off x="6309360" y="2514600"/>
            <a:ext cx="2286000" cy="182880"/>
          </a:xfrm>
          <a:prstGeom prst="rect">
            <a:avLst/>
          </a:prstGeom>
          <a:noFill/>
          <a:ln/>
        </p:spPr>
        <p:txBody>
          <a:bodyPr wrap="square" lIns="0" tIns="0" rIns="0" bIns="0" rtlCol="0" anchor="ctr"/>
          <a:lstStyle/>
          <a:p>
            <a:pPr indent="0" marL="0">
              <a:buNone/>
            </a:pPr>
            <a:r>
              <a:rPr lang="en-US" sz="1100" b="1" dirty="0">
                <a:solidFill>
                  <a:schemeClr val="accent4"/>
                </a:solidFill>
              </a:rPr>
              <a:t>DATA</a:t>
            </a:r>
            <a:endParaRPr lang="en-US" sz="1100" dirty="0"/>
          </a:p>
        </p:txBody>
      </p:sp>
      <p:sp>
        <p:nvSpPr>
          <p:cNvPr id="35" name="Text 30"/>
          <p:cNvSpPr txBox="1"/>
          <p:nvPr/>
        </p:nvSpPr>
        <p:spPr>
          <a:xfrm>
            <a:off x="6309360" y="27157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Rewards</a:t>
            </a:r>
            <a:endParaRPr lang="en-US" sz="1400" dirty="0"/>
          </a:p>
        </p:txBody>
      </p:sp>
      <p:sp>
        <p:nvSpPr>
          <p:cNvPr id="36" name="info row"/>
          <p:cNvSpPr/>
          <p:nvPr/>
        </p:nvSpPr>
        <p:spPr>
          <a:xfrm>
            <a:off x="6172200" y="3154680"/>
            <a:ext cx="2377440" cy="594360"/>
          </a:xfrm>
          <a:prstGeom prst="roundRect">
            <a:avLst>
              <a:gd name="adj" fmla="val 12308"/>
            </a:avLst>
          </a:prstGeom>
          <a:solidFill>
            <a:schemeClr val="bg1"/>
          </a:solidFill>
          <a:ln w="12700">
            <a:solidFill>
              <a:schemeClr val="bg1"/>
            </a:solidFill>
            <a:prstDash val="solid"/>
          </a:ln>
        </p:spPr>
      </p:sp>
      <p:sp>
        <p:nvSpPr>
          <p:cNvPr id="37" name="Text 32"/>
          <p:cNvSpPr txBox="1"/>
          <p:nvPr/>
        </p:nvSpPr>
        <p:spPr>
          <a:xfrm>
            <a:off x="6309360" y="3200400"/>
            <a:ext cx="2286000" cy="182880"/>
          </a:xfrm>
          <a:prstGeom prst="rect">
            <a:avLst/>
          </a:prstGeom>
          <a:noFill/>
          <a:ln/>
        </p:spPr>
        <p:txBody>
          <a:bodyPr wrap="square" lIns="0" tIns="0" rIns="0" bIns="0" rtlCol="0" anchor="ctr"/>
          <a:lstStyle/>
          <a:p>
            <a:pPr indent="0" marL="0">
              <a:buNone/>
            </a:pPr>
            <a:r>
              <a:rPr lang="en-US" sz="1100" b="1" dirty="0">
                <a:solidFill>
                  <a:schemeClr val="accent4"/>
                </a:solidFill>
              </a:rPr>
              <a:t>GOAL</a:t>
            </a:r>
            <a:endParaRPr lang="en-US" sz="1100" dirty="0"/>
          </a:p>
        </p:txBody>
      </p:sp>
      <p:sp>
        <p:nvSpPr>
          <p:cNvPr id="38" name="Text 33"/>
          <p:cNvSpPr txBox="1"/>
          <p:nvPr/>
        </p:nvSpPr>
        <p:spPr>
          <a:xfrm>
            <a:off x="6309360" y="34015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Learn by trial and error</a:t>
            </a:r>
            <a:endParaRPr lang="en-US" sz="1400" dirty="0"/>
          </a:p>
        </p:txBody>
      </p:sp>
      <p:sp>
        <p:nvSpPr>
          <p:cNvPr id="39" name="info row"/>
          <p:cNvSpPr/>
          <p:nvPr/>
        </p:nvSpPr>
        <p:spPr>
          <a:xfrm>
            <a:off x="6172200" y="3840480"/>
            <a:ext cx="2377440" cy="594360"/>
          </a:xfrm>
          <a:prstGeom prst="roundRect">
            <a:avLst>
              <a:gd name="adj" fmla="val 12308"/>
            </a:avLst>
          </a:prstGeom>
          <a:solidFill>
            <a:schemeClr val="bg1"/>
          </a:solidFill>
          <a:ln w="12700">
            <a:solidFill>
              <a:schemeClr val="bg1"/>
            </a:solidFill>
            <a:prstDash val="solid"/>
          </a:ln>
        </p:spPr>
      </p:sp>
      <p:sp>
        <p:nvSpPr>
          <p:cNvPr id="40" name="Text 35"/>
          <p:cNvSpPr txBox="1"/>
          <p:nvPr/>
        </p:nvSpPr>
        <p:spPr>
          <a:xfrm>
            <a:off x="6309360" y="3886200"/>
            <a:ext cx="2286000" cy="182880"/>
          </a:xfrm>
          <a:prstGeom prst="rect">
            <a:avLst/>
          </a:prstGeom>
          <a:noFill/>
          <a:ln/>
        </p:spPr>
        <p:txBody>
          <a:bodyPr wrap="square" lIns="0" tIns="0" rIns="0" bIns="0" rtlCol="0" anchor="ctr"/>
          <a:lstStyle/>
          <a:p>
            <a:pPr indent="0" marL="0">
              <a:buNone/>
            </a:pPr>
            <a:r>
              <a:rPr lang="en-US" sz="1100" b="1" dirty="0">
                <a:solidFill>
                  <a:schemeClr val="accent4"/>
                </a:solidFill>
              </a:rPr>
              <a:t>EXAMPLE</a:t>
            </a:r>
            <a:endParaRPr lang="en-US" sz="1100" dirty="0"/>
          </a:p>
        </p:txBody>
      </p:sp>
      <p:sp>
        <p:nvSpPr>
          <p:cNvPr id="41" name="Text 36"/>
          <p:cNvSpPr txBox="1"/>
          <p:nvPr/>
        </p:nvSpPr>
        <p:spPr>
          <a:xfrm>
            <a:off x="6309360" y="4087368"/>
            <a:ext cx="2377440" cy="301752"/>
          </a:xfrm>
          <a:prstGeom prst="rect">
            <a:avLst/>
          </a:prstGeom>
          <a:noFill/>
          <a:ln/>
        </p:spPr>
        <p:txBody>
          <a:bodyPr wrap="square" lIns="0" tIns="0" rIns="0" bIns="0" rtlCol="0" anchor="ctr"/>
          <a:lstStyle/>
          <a:p>
            <a:pPr indent="0" marL="0">
              <a:buNone/>
            </a:pPr>
            <a:r>
              <a:rPr lang="en-US" sz="1400" b="1" dirty="0">
                <a:solidFill>
                  <a:schemeClr val="tx1"/>
                </a:solidFill>
              </a:rPr>
              <a:t>A game-playing agent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Supervised learning algorithms</a:t>
            </a:r>
            <a:endParaRPr lang="en-US" sz="3400" dirty="0"/>
          </a:p>
        </p:txBody>
      </p:sp>
      <p:graphicFrame>
        <p:nvGraphicFramePr>
          <p:cNvPr id="15" name="supervised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194560"/>
                <a:gridCol w="1828800"/>
                <a:gridCol w="2103120"/>
                <a:gridCol w="2103120"/>
              </a:tblGrid>
              <a:tr h="429768">
                <a:tc>
                  <a:txBody>
                    <a:bodyPr/>
                    <a:lstStyle/>
                    <a:p>
                      <a:pPr indent="0" marL="0">
                        <a:buNone/>
                      </a:pPr>
                      <a:r>
                        <a:rPr lang="en-US" sz="1400" b="1" dirty="0">
                          <a:solidFill>
                            <a:srgbClr val="FFFFFF"/>
                          </a:solidFill>
                        </a:rPr>
                        <a:t>Algorithm</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3B5BDB"/>
                    </a:solidFill>
                  </a:tcPr>
                </a:tc>
                <a:tc>
                  <a:txBody>
                    <a:bodyPr/>
                    <a:lstStyle/>
                    <a:p>
                      <a:pPr indent="0" marL="0">
                        <a:buNone/>
                      </a:pPr>
                      <a:r>
                        <a:rPr lang="en-US" sz="1400" b="1" dirty="0">
                          <a:solidFill>
                            <a:srgbClr val="FFFFFF"/>
                          </a:solidFill>
                        </a:rPr>
                        <a:t>Purpose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3B5BDB"/>
                    </a:solidFill>
                  </a:tcPr>
                </a:tc>
                <a:tc>
                  <a:txBody>
                    <a:bodyPr/>
                    <a:lstStyle/>
                    <a:p>
                      <a:pPr indent="0" marL="0">
                        <a:buNone/>
                      </a:pPr>
                      <a:r>
                        <a:rPr lang="en-US" sz="1400" b="1" dirty="0">
                          <a:solidFill>
                            <a:srgbClr val="FFFFFF"/>
                          </a:solidFill>
                        </a:rPr>
                        <a:t>Example use case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3B5BDB"/>
                    </a:solidFill>
                  </a:tcPr>
                </a:tc>
                <a:tc>
                  <a:txBody>
                    <a:bodyPr/>
                    <a:lstStyle/>
                    <a:p>
                      <a:pPr indent="0" marL="0">
                        <a:buNone/>
                      </a:pPr>
                      <a:r>
                        <a:rPr lang="en-US" sz="1400" b="1" dirty="0">
                          <a:solidFill>
                            <a:srgbClr val="FFFFFF"/>
                          </a:solidFill>
                        </a:rPr>
                        <a:t>Advantage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3B5BDB"/>
                    </a:solidFill>
                  </a:tcPr>
                </a:tc>
              </a:tr>
              <a:tr h="429768">
                <a:tc>
                  <a:txBody>
                    <a:bodyPr/>
                    <a:lstStyle/>
                    <a:p>
                      <a:pPr indent="0" marL="0">
                        <a:buNone/>
                      </a:pPr>
                      <a:r>
                        <a:rPr lang="en-US" sz="1400" b="1" dirty="0">
                          <a:solidFill>
                            <a:srgbClr val="141B4D"/>
                          </a:solidFill>
                        </a:rPr>
                        <a:t>Linear Regression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Predict a number</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House prices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Simple and fast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29768">
                <a:tc>
                  <a:txBody>
                    <a:bodyPr/>
                    <a:lstStyle/>
                    <a:p>
                      <a:pPr indent="0" marL="0">
                        <a:buNone/>
                      </a:pPr>
                      <a:r>
                        <a:rPr lang="en-US" sz="1400" b="1" dirty="0">
                          <a:solidFill>
                            <a:srgbClr val="141B4D"/>
                          </a:solidFill>
                        </a:rPr>
                        <a:t>Logistic Regression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Yes or no outcome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Loan default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Easy to explain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41B4D"/>
                          </a:solidFill>
                        </a:rPr>
                        <a:t>Decision Tree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Rule-based choices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Loan approval</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Easy to visualise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29768">
                <a:tc>
                  <a:txBody>
                    <a:bodyPr/>
                    <a:lstStyle/>
                    <a:p>
                      <a:pPr indent="0" marL="0">
                        <a:buNone/>
                      </a:pPr>
                      <a:r>
                        <a:rPr lang="en-US" sz="1400" b="1" dirty="0">
                          <a:solidFill>
                            <a:srgbClr val="141B4D"/>
                          </a:solidFill>
                        </a:rPr>
                        <a:t>Random Forest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Many trees vote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Churn prediction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Accurate, robust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41B4D"/>
                          </a:solidFill>
                        </a:rPr>
                        <a:t>Support Vector Machine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Separate classes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Text classification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Good on small data</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29768">
                <a:tc>
                  <a:txBody>
                    <a:bodyPr/>
                    <a:lstStyle/>
                    <a:p>
                      <a:pPr indent="0" marL="0">
                        <a:buNone/>
                      </a:pPr>
                      <a:r>
                        <a:rPr lang="en-US" sz="1400" b="1" dirty="0">
                          <a:solidFill>
                            <a:srgbClr val="141B4D"/>
                          </a:solidFill>
                        </a:rPr>
                        <a:t>Naive Bayes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Probability based</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Spam filtering</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Very fast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41B4D"/>
                          </a:solidFill>
                        </a:rPr>
                        <a:t>KNN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Copy the neighbours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Recommendations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No training step</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Unsupervised learning algorithms</a:t>
            </a:r>
            <a:endParaRPr lang="en-US" sz="3400" dirty="0"/>
          </a:p>
        </p:txBody>
      </p:sp>
      <p:sp>
        <p:nvSpPr>
          <p:cNvPr id="3" name="card"/>
          <p:cNvSpPr/>
          <p:nvPr/>
        </p:nvSpPr>
        <p:spPr>
          <a:xfrm>
            <a:off x="457200" y="1234440"/>
            <a:ext cx="26060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640080" y="1417320"/>
            <a:ext cx="457200" cy="457200"/>
          </a:xfrm>
          <a:prstGeom prst="ellipse">
            <a:avLst/>
          </a:prstGeom>
          <a:solidFill>
            <a:schemeClr val="accent1"/>
          </a:solidFill>
          <a:ln w="12700">
            <a:solidFill>
              <a:schemeClr val="accent1"/>
            </a:solidFill>
            <a:prstDash val="solid"/>
          </a:ln>
        </p:spPr>
      </p:sp>
      <p:pic>
        <p:nvPicPr>
          <p:cNvPr id="5" name="Image 0" descr="layers icon">    </p:cNvPr>
          <p:cNvPicPr>
            <a:picLocks noChangeAspect="1"/>
          </p:cNvPicPr>
          <p:nvPr/>
        </p:nvPicPr>
        <p:blipFill>
          <a:blip r:embed="rId1"/>
          <a:stretch>
            <a:fillRect/>
          </a:stretch>
        </p:blipFill>
        <p:spPr>
          <a:xfrm>
            <a:off x="754380" y="1531620"/>
            <a:ext cx="228600" cy="228600"/>
          </a:xfrm>
          <a:prstGeom prst="rect">
            <a:avLst/>
          </a:prstGeom>
        </p:spPr>
      </p:pic>
      <p:sp>
        <p:nvSpPr>
          <p:cNvPr id="6" name="Text 3"/>
          <p:cNvSpPr txBox="1"/>
          <p:nvPr/>
        </p:nvSpPr>
        <p:spPr>
          <a:xfrm>
            <a:off x="1234440" y="1417320"/>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K-Means</a:t>
            </a:r>
            <a:endParaRPr lang="en-US" sz="1800" dirty="0"/>
          </a:p>
        </p:txBody>
      </p:sp>
      <p:sp>
        <p:nvSpPr>
          <p:cNvPr id="7" name="Text 4"/>
          <p:cNvSpPr txBox="1"/>
          <p:nvPr/>
        </p:nvSpPr>
        <p:spPr>
          <a:xfrm>
            <a:off x="640080" y="2011680"/>
            <a:ext cx="2286000" cy="640080"/>
          </a:xfrm>
          <a:prstGeom prst="rect">
            <a:avLst/>
          </a:prstGeom>
          <a:noFill/>
          <a:ln/>
        </p:spPr>
        <p:txBody>
          <a:bodyPr wrap="square" lIns="0" tIns="0" rIns="0" bIns="0" rtlCol="0" anchor="t"/>
          <a:lstStyle/>
          <a:p>
            <a:pPr indent="0" marL="0">
              <a:buNone/>
            </a:pPr>
            <a:r>
              <a:rPr lang="en-US" sz="1400" dirty="0">
                <a:solidFill>
                  <a:schemeClr val="tx2"/>
                </a:solidFill>
              </a:rPr>
              <a:t>Groups data into K clusters</a:t>
            </a:r>
            <a:endParaRPr lang="en-US" sz="1400" dirty="0"/>
          </a:p>
        </p:txBody>
      </p:sp>
      <p:sp>
        <p:nvSpPr>
          <p:cNvPr id="8" name="card"/>
          <p:cNvSpPr/>
          <p:nvPr/>
        </p:nvSpPr>
        <p:spPr>
          <a:xfrm>
            <a:off x="3246120" y="1234440"/>
            <a:ext cx="26060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badge"/>
          <p:cNvSpPr/>
          <p:nvPr/>
        </p:nvSpPr>
        <p:spPr>
          <a:xfrm>
            <a:off x="3429000" y="1417320"/>
            <a:ext cx="457200" cy="457200"/>
          </a:xfrm>
          <a:prstGeom prst="ellipse">
            <a:avLst/>
          </a:prstGeom>
          <a:solidFill>
            <a:schemeClr val="accent2"/>
          </a:solidFill>
          <a:ln w="12700">
            <a:solidFill>
              <a:schemeClr val="accent2"/>
            </a:solidFill>
            <a:prstDash val="solid"/>
          </a:ln>
        </p:spPr>
      </p:sp>
      <p:pic>
        <p:nvPicPr>
          <p:cNvPr id="10" name="Image 1" descr="sitemap icon">    </p:cNvPr>
          <p:cNvPicPr>
            <a:picLocks noChangeAspect="1"/>
          </p:cNvPicPr>
          <p:nvPr/>
        </p:nvPicPr>
        <p:blipFill>
          <a:blip r:embed="rId2"/>
          <a:stretch>
            <a:fillRect/>
          </a:stretch>
        </p:blipFill>
        <p:spPr>
          <a:xfrm>
            <a:off x="3543300" y="1531620"/>
            <a:ext cx="228600" cy="228600"/>
          </a:xfrm>
          <a:prstGeom prst="rect">
            <a:avLst/>
          </a:prstGeom>
        </p:spPr>
      </p:pic>
      <p:sp>
        <p:nvSpPr>
          <p:cNvPr id="11" name="Text 7"/>
          <p:cNvSpPr txBox="1"/>
          <p:nvPr/>
        </p:nvSpPr>
        <p:spPr>
          <a:xfrm>
            <a:off x="4023360" y="1417320"/>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Hierarchical</a:t>
            </a:r>
            <a:endParaRPr lang="en-US" sz="1800" dirty="0"/>
          </a:p>
        </p:txBody>
      </p:sp>
      <p:sp>
        <p:nvSpPr>
          <p:cNvPr id="12" name="Text 8"/>
          <p:cNvSpPr txBox="1"/>
          <p:nvPr/>
        </p:nvSpPr>
        <p:spPr>
          <a:xfrm>
            <a:off x="3429000" y="2011680"/>
            <a:ext cx="2286000" cy="640080"/>
          </a:xfrm>
          <a:prstGeom prst="rect">
            <a:avLst/>
          </a:prstGeom>
          <a:noFill/>
          <a:ln/>
        </p:spPr>
        <p:txBody>
          <a:bodyPr wrap="square" lIns="0" tIns="0" rIns="0" bIns="0" rtlCol="0" anchor="t"/>
          <a:lstStyle/>
          <a:p>
            <a:pPr indent="0" marL="0">
              <a:buNone/>
            </a:pPr>
            <a:r>
              <a:rPr lang="en-US" sz="1400" dirty="0">
                <a:solidFill>
                  <a:schemeClr val="tx2"/>
                </a:solidFill>
              </a:rPr>
              <a:t>Builds a tree of groups</a:t>
            </a:r>
            <a:endParaRPr lang="en-US" sz="1400" dirty="0"/>
          </a:p>
        </p:txBody>
      </p:sp>
      <p:sp>
        <p:nvSpPr>
          <p:cNvPr id="13" name="card"/>
          <p:cNvSpPr/>
          <p:nvPr/>
        </p:nvSpPr>
        <p:spPr>
          <a:xfrm>
            <a:off x="457200" y="2926080"/>
            <a:ext cx="26060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badge"/>
          <p:cNvSpPr/>
          <p:nvPr/>
        </p:nvSpPr>
        <p:spPr>
          <a:xfrm>
            <a:off x="640080" y="3108960"/>
            <a:ext cx="457200" cy="457200"/>
          </a:xfrm>
          <a:prstGeom prst="ellipse">
            <a:avLst/>
          </a:prstGeom>
          <a:solidFill>
            <a:schemeClr val="accent3"/>
          </a:solidFill>
          <a:ln w="12700">
            <a:solidFill>
              <a:schemeClr val="accent3"/>
            </a:solidFill>
            <a:prstDash val="solid"/>
          </a:ln>
        </p:spPr>
      </p:sp>
      <p:pic>
        <p:nvPicPr>
          <p:cNvPr id="15" name="Image 2" descr="scan icon">    </p:cNvPr>
          <p:cNvPicPr>
            <a:picLocks noChangeAspect="1"/>
          </p:cNvPicPr>
          <p:nvPr/>
        </p:nvPicPr>
        <p:blipFill>
          <a:blip r:embed="rId3"/>
          <a:stretch>
            <a:fillRect/>
          </a:stretch>
        </p:blipFill>
        <p:spPr>
          <a:xfrm>
            <a:off x="754380" y="3223260"/>
            <a:ext cx="228600" cy="228600"/>
          </a:xfrm>
          <a:prstGeom prst="rect">
            <a:avLst/>
          </a:prstGeom>
        </p:spPr>
      </p:pic>
      <p:sp>
        <p:nvSpPr>
          <p:cNvPr id="16" name="Text 11"/>
          <p:cNvSpPr txBox="1"/>
          <p:nvPr/>
        </p:nvSpPr>
        <p:spPr>
          <a:xfrm>
            <a:off x="1234440" y="3108960"/>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DBSCAN</a:t>
            </a:r>
            <a:endParaRPr lang="en-US" sz="1800" dirty="0"/>
          </a:p>
        </p:txBody>
      </p:sp>
      <p:sp>
        <p:nvSpPr>
          <p:cNvPr id="17" name="Text 12"/>
          <p:cNvSpPr txBox="1"/>
          <p:nvPr/>
        </p:nvSpPr>
        <p:spPr>
          <a:xfrm>
            <a:off x="640080" y="3703320"/>
            <a:ext cx="2286000" cy="640080"/>
          </a:xfrm>
          <a:prstGeom prst="rect">
            <a:avLst/>
          </a:prstGeom>
          <a:noFill/>
          <a:ln/>
        </p:spPr>
        <p:txBody>
          <a:bodyPr wrap="square" lIns="0" tIns="0" rIns="0" bIns="0" rtlCol="0" anchor="t"/>
          <a:lstStyle/>
          <a:p>
            <a:pPr indent="0" marL="0">
              <a:buNone/>
            </a:pPr>
            <a:r>
              <a:rPr lang="en-US" sz="1400" dirty="0">
                <a:solidFill>
                  <a:schemeClr val="tx2"/>
                </a:solidFill>
              </a:rPr>
              <a:t>Finds dense clusters and outliers</a:t>
            </a:r>
            <a:endParaRPr lang="en-US" sz="1400" dirty="0"/>
          </a:p>
        </p:txBody>
      </p:sp>
      <p:sp>
        <p:nvSpPr>
          <p:cNvPr id="18" name="card"/>
          <p:cNvSpPr/>
          <p:nvPr/>
        </p:nvSpPr>
        <p:spPr>
          <a:xfrm>
            <a:off x="3246120" y="2926080"/>
            <a:ext cx="26060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 badge"/>
          <p:cNvSpPr/>
          <p:nvPr/>
        </p:nvSpPr>
        <p:spPr>
          <a:xfrm>
            <a:off x="3429000" y="3108960"/>
            <a:ext cx="457200" cy="457200"/>
          </a:xfrm>
          <a:prstGeom prst="ellipse">
            <a:avLst/>
          </a:prstGeom>
          <a:solidFill>
            <a:schemeClr val="accent5"/>
          </a:solidFill>
          <a:ln w="12700">
            <a:solidFill>
              <a:schemeClr val="accent5"/>
            </a:solidFill>
            <a:prstDash val="solid"/>
          </a:ln>
        </p:spPr>
      </p:sp>
      <p:pic>
        <p:nvPicPr>
          <p:cNvPr id="20" name="Image 3" descr="chart icon">    </p:cNvPr>
          <p:cNvPicPr>
            <a:picLocks noChangeAspect="1"/>
          </p:cNvPicPr>
          <p:nvPr/>
        </p:nvPicPr>
        <p:blipFill>
          <a:blip r:embed="rId4"/>
          <a:stretch>
            <a:fillRect/>
          </a:stretch>
        </p:blipFill>
        <p:spPr>
          <a:xfrm>
            <a:off x="3543300" y="3223260"/>
            <a:ext cx="228600" cy="228600"/>
          </a:xfrm>
          <a:prstGeom prst="rect">
            <a:avLst/>
          </a:prstGeom>
        </p:spPr>
      </p:pic>
      <p:sp>
        <p:nvSpPr>
          <p:cNvPr id="21" name="Text 15"/>
          <p:cNvSpPr txBox="1"/>
          <p:nvPr/>
        </p:nvSpPr>
        <p:spPr>
          <a:xfrm>
            <a:off x="4023360" y="3108960"/>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PCA</a:t>
            </a:r>
            <a:endParaRPr lang="en-US" sz="1800" dirty="0"/>
          </a:p>
        </p:txBody>
      </p:sp>
      <p:sp>
        <p:nvSpPr>
          <p:cNvPr id="22" name="Text 16"/>
          <p:cNvSpPr txBox="1"/>
          <p:nvPr/>
        </p:nvSpPr>
        <p:spPr>
          <a:xfrm>
            <a:off x="3429000" y="3703320"/>
            <a:ext cx="2286000" cy="640080"/>
          </a:xfrm>
          <a:prstGeom prst="rect">
            <a:avLst/>
          </a:prstGeom>
          <a:noFill/>
          <a:ln/>
        </p:spPr>
        <p:txBody>
          <a:bodyPr wrap="square" lIns="0" tIns="0" rIns="0" bIns="0" rtlCol="0" anchor="t"/>
          <a:lstStyle/>
          <a:p>
            <a:pPr indent="0" marL="0">
              <a:buNone/>
            </a:pPr>
            <a:r>
              <a:rPr lang="en-US" sz="1400" dirty="0">
                <a:solidFill>
                  <a:schemeClr val="tx2"/>
                </a:solidFill>
              </a:rPr>
              <a:t>Shrinks many features into a few</a:t>
            </a:r>
            <a:endParaRPr lang="en-US" sz="1400" dirty="0"/>
          </a:p>
        </p:txBody>
      </p:sp>
      <p:sp>
        <p:nvSpPr>
          <p:cNvPr id="23" name="applications panel"/>
          <p:cNvSpPr/>
          <p:nvPr/>
        </p:nvSpPr>
        <p:spPr>
          <a:xfrm>
            <a:off x="6126480" y="1234440"/>
            <a:ext cx="2560320" cy="3200400"/>
          </a:xfrm>
          <a:prstGeom prst="roundRect">
            <a:avLst>
              <a:gd name="adj" fmla="val 4286"/>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24" name="Text 18"/>
          <p:cNvSpPr txBox="1"/>
          <p:nvPr/>
        </p:nvSpPr>
        <p:spPr>
          <a:xfrm>
            <a:off x="6355080" y="1371600"/>
            <a:ext cx="2194560" cy="365760"/>
          </a:xfrm>
          <a:prstGeom prst="rect">
            <a:avLst/>
          </a:prstGeom>
          <a:noFill/>
          <a:ln/>
        </p:spPr>
        <p:txBody>
          <a:bodyPr wrap="square" lIns="0" tIns="0" rIns="0" bIns="0" rtlCol="0" anchor="ctr"/>
          <a:lstStyle/>
          <a:p>
            <a:pPr indent="0" marL="0">
              <a:buNone/>
            </a:pPr>
            <a:r>
              <a:rPr lang="en-US" sz="1800" b="1" dirty="0">
                <a:solidFill>
                  <a:schemeClr val="accent5"/>
                </a:solidFill>
              </a:rPr>
              <a:t>Applications</a:t>
            </a:r>
            <a:endParaRPr lang="en-US" sz="1800" dirty="0"/>
          </a:p>
        </p:txBody>
      </p:sp>
      <p:sp>
        <p:nvSpPr>
          <p:cNvPr id="25" name="icon badge"/>
          <p:cNvSpPr/>
          <p:nvPr/>
        </p:nvSpPr>
        <p:spPr>
          <a:xfrm>
            <a:off x="6355080" y="1965960"/>
            <a:ext cx="457200" cy="457200"/>
          </a:xfrm>
          <a:prstGeom prst="ellipse">
            <a:avLst/>
          </a:prstGeom>
          <a:solidFill>
            <a:schemeClr val="accent2"/>
          </a:solidFill>
          <a:ln w="12700">
            <a:solidFill>
              <a:schemeClr val="accent2"/>
            </a:solidFill>
            <a:prstDash val="solid"/>
          </a:ln>
        </p:spPr>
      </p:sp>
      <p:pic>
        <p:nvPicPr>
          <p:cNvPr id="26" name="Image 4" descr="users icon">    </p:cNvPr>
          <p:cNvPicPr>
            <a:picLocks noChangeAspect="1"/>
          </p:cNvPicPr>
          <p:nvPr/>
        </p:nvPicPr>
        <p:blipFill>
          <a:blip r:embed="rId5"/>
          <a:stretch>
            <a:fillRect/>
          </a:stretch>
        </p:blipFill>
        <p:spPr>
          <a:xfrm>
            <a:off x="6469380" y="2080260"/>
            <a:ext cx="228600" cy="228600"/>
          </a:xfrm>
          <a:prstGeom prst="rect">
            <a:avLst/>
          </a:prstGeom>
        </p:spPr>
      </p:pic>
      <p:sp>
        <p:nvSpPr>
          <p:cNvPr id="27" name="Text 20"/>
          <p:cNvSpPr txBox="1"/>
          <p:nvPr/>
        </p:nvSpPr>
        <p:spPr>
          <a:xfrm>
            <a:off x="6949440" y="1965960"/>
            <a:ext cx="1645920" cy="457200"/>
          </a:xfrm>
          <a:prstGeom prst="rect">
            <a:avLst/>
          </a:prstGeom>
          <a:noFill/>
          <a:ln/>
        </p:spPr>
        <p:txBody>
          <a:bodyPr wrap="square" lIns="0" tIns="0" rIns="0" bIns="0" rtlCol="0" anchor="ctr"/>
          <a:lstStyle/>
          <a:p>
            <a:pPr indent="0" marL="0">
              <a:buNone/>
            </a:pPr>
            <a:r>
              <a:rPr lang="en-US" sz="1400" b="1" dirty="0">
                <a:solidFill>
                  <a:schemeClr val="bg1"/>
                </a:solidFill>
              </a:rPr>
              <a:t>Customer segmentation</a:t>
            </a:r>
            <a:endParaRPr lang="en-US" sz="1400" dirty="0"/>
          </a:p>
        </p:txBody>
      </p:sp>
      <p:sp>
        <p:nvSpPr>
          <p:cNvPr id="28" name="icon badge"/>
          <p:cNvSpPr/>
          <p:nvPr/>
        </p:nvSpPr>
        <p:spPr>
          <a:xfrm>
            <a:off x="6355080" y="2743200"/>
            <a:ext cx="457200" cy="457200"/>
          </a:xfrm>
          <a:prstGeom prst="ellipse">
            <a:avLst/>
          </a:prstGeom>
          <a:solidFill>
            <a:schemeClr val="accent2"/>
          </a:solidFill>
          <a:ln w="12700">
            <a:solidFill>
              <a:schemeClr val="accent2"/>
            </a:solidFill>
            <a:prstDash val="solid"/>
          </a:ln>
        </p:spPr>
      </p:sp>
      <p:pic>
        <p:nvPicPr>
          <p:cNvPr id="29" name="Image 5" descr="search icon">    </p:cNvPr>
          <p:cNvPicPr>
            <a:picLocks noChangeAspect="1"/>
          </p:cNvPicPr>
          <p:nvPr/>
        </p:nvPicPr>
        <p:blipFill>
          <a:blip r:embed="rId6"/>
          <a:stretch>
            <a:fillRect/>
          </a:stretch>
        </p:blipFill>
        <p:spPr>
          <a:xfrm>
            <a:off x="6469380" y="2857500"/>
            <a:ext cx="228600" cy="228600"/>
          </a:xfrm>
          <a:prstGeom prst="rect">
            <a:avLst/>
          </a:prstGeom>
        </p:spPr>
      </p:pic>
      <p:sp>
        <p:nvSpPr>
          <p:cNvPr id="30" name="Text 22"/>
          <p:cNvSpPr txBox="1"/>
          <p:nvPr/>
        </p:nvSpPr>
        <p:spPr>
          <a:xfrm>
            <a:off x="6949440" y="2743200"/>
            <a:ext cx="1645920" cy="457200"/>
          </a:xfrm>
          <a:prstGeom prst="rect">
            <a:avLst/>
          </a:prstGeom>
          <a:noFill/>
          <a:ln/>
        </p:spPr>
        <p:txBody>
          <a:bodyPr wrap="square" lIns="0" tIns="0" rIns="0" bIns="0" rtlCol="0" anchor="ctr"/>
          <a:lstStyle/>
          <a:p>
            <a:pPr indent="0" marL="0">
              <a:buNone/>
            </a:pPr>
            <a:r>
              <a:rPr lang="en-US" sz="1400" b="1" dirty="0">
                <a:solidFill>
                  <a:schemeClr val="bg1"/>
                </a:solidFill>
              </a:rPr>
              <a:t>Pattern discovery</a:t>
            </a:r>
            <a:endParaRPr lang="en-US" sz="1400" dirty="0"/>
          </a:p>
        </p:txBody>
      </p:sp>
      <p:sp>
        <p:nvSpPr>
          <p:cNvPr id="31" name="icon badge"/>
          <p:cNvSpPr/>
          <p:nvPr/>
        </p:nvSpPr>
        <p:spPr>
          <a:xfrm>
            <a:off x="6355080" y="3520440"/>
            <a:ext cx="457200" cy="457200"/>
          </a:xfrm>
          <a:prstGeom prst="ellipse">
            <a:avLst/>
          </a:prstGeom>
          <a:solidFill>
            <a:schemeClr val="accent2"/>
          </a:solidFill>
          <a:ln w="12700">
            <a:solidFill>
              <a:schemeClr val="accent2"/>
            </a:solidFill>
            <a:prstDash val="solid"/>
          </a:ln>
        </p:spPr>
      </p:sp>
      <p:pic>
        <p:nvPicPr>
          <p:cNvPr id="32" name="Image 6" descr="bolt icon">    </p:cNvPr>
          <p:cNvPicPr>
            <a:picLocks noChangeAspect="1"/>
          </p:cNvPicPr>
          <p:nvPr/>
        </p:nvPicPr>
        <p:blipFill>
          <a:blip r:embed="rId7"/>
          <a:stretch>
            <a:fillRect/>
          </a:stretch>
        </p:blipFill>
        <p:spPr>
          <a:xfrm>
            <a:off x="6469380" y="3634740"/>
            <a:ext cx="228600" cy="228600"/>
          </a:xfrm>
          <a:prstGeom prst="rect">
            <a:avLst/>
          </a:prstGeom>
        </p:spPr>
      </p:pic>
      <p:sp>
        <p:nvSpPr>
          <p:cNvPr id="33" name="Text 24"/>
          <p:cNvSpPr txBox="1"/>
          <p:nvPr/>
        </p:nvSpPr>
        <p:spPr>
          <a:xfrm>
            <a:off x="6949440" y="3520440"/>
            <a:ext cx="1645920" cy="457200"/>
          </a:xfrm>
          <a:prstGeom prst="rect">
            <a:avLst/>
          </a:prstGeom>
          <a:noFill/>
          <a:ln/>
        </p:spPr>
        <p:txBody>
          <a:bodyPr wrap="square" lIns="0" tIns="0" rIns="0" bIns="0" rtlCol="0" anchor="ctr"/>
          <a:lstStyle/>
          <a:p>
            <a:pPr indent="0" marL="0">
              <a:buNone/>
            </a:pPr>
            <a:r>
              <a:rPr lang="en-US" sz="1400" b="1" dirty="0">
                <a:solidFill>
                  <a:schemeClr val="bg1"/>
                </a:solidFill>
              </a:rPr>
              <a:t>Anomaly detection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Reinforcement learning</a:t>
            </a:r>
            <a:endParaRPr lang="en-US" sz="3400" dirty="0"/>
          </a:p>
        </p:txBody>
      </p:sp>
      <p:sp>
        <p:nvSpPr>
          <p:cNvPr id="3" name="card"/>
          <p:cNvSpPr/>
          <p:nvPr/>
        </p:nvSpPr>
        <p:spPr>
          <a:xfrm>
            <a:off x="457200" y="1188720"/>
            <a:ext cx="5120640" cy="338328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agent"/>
          <p:cNvSpPr/>
          <p:nvPr/>
        </p:nvSpPr>
        <p:spPr>
          <a:xfrm>
            <a:off x="731520" y="1508760"/>
            <a:ext cx="1645920" cy="822960"/>
          </a:xfrm>
          <a:prstGeom prst="roundRect">
            <a:avLst>
              <a:gd name="adj" fmla="val 13333"/>
            </a:avLst>
          </a:prstGeom>
          <a:solidFill>
            <a:schemeClr val="accent1"/>
          </a:solidFill>
          <a:ln w="12700">
            <a:solidFill>
              <a:schemeClr val="accent1"/>
            </a:solidFill>
            <a:prstDash val="solid"/>
          </a:ln>
        </p:spPr>
      </p:sp>
      <p:sp>
        <p:nvSpPr>
          <p:cNvPr id="5" name="Text 3"/>
          <p:cNvSpPr txBox="1"/>
          <p:nvPr/>
        </p:nvSpPr>
        <p:spPr>
          <a:xfrm>
            <a:off x="731520" y="1508760"/>
            <a:ext cx="1645920" cy="822960"/>
          </a:xfrm>
          <a:prstGeom prst="rect">
            <a:avLst/>
          </a:prstGeom>
          <a:noFill/>
          <a:ln/>
        </p:spPr>
        <p:txBody>
          <a:bodyPr wrap="square" lIns="0" tIns="0" rIns="0" bIns="0" rtlCol="0" anchor="ctr"/>
          <a:lstStyle/>
          <a:p>
            <a:pPr algn="ctr" indent="0" marL="0">
              <a:buNone/>
            </a:pPr>
            <a:r>
              <a:rPr lang="en-US" sz="1800" b="1" dirty="0">
                <a:solidFill>
                  <a:schemeClr val="bg1"/>
                </a:solidFill>
              </a:rPr>
              <a:t>Agent</a:t>
            </a:r>
            <a:endParaRPr lang="en-US" sz="1800" dirty="0"/>
          </a:p>
        </p:txBody>
      </p:sp>
      <p:sp>
        <p:nvSpPr>
          <p:cNvPr id="6" name="environment"/>
          <p:cNvSpPr/>
          <p:nvPr/>
        </p:nvSpPr>
        <p:spPr>
          <a:xfrm>
            <a:off x="3566160" y="1508760"/>
            <a:ext cx="1737360" cy="822960"/>
          </a:xfrm>
          <a:prstGeom prst="roundRect">
            <a:avLst>
              <a:gd name="adj" fmla="val 13333"/>
            </a:avLst>
          </a:prstGeom>
          <a:solidFill>
            <a:schemeClr val="accent2"/>
          </a:solidFill>
          <a:ln w="12700">
            <a:solidFill>
              <a:schemeClr val="accent2"/>
            </a:solidFill>
            <a:prstDash val="solid"/>
          </a:ln>
        </p:spPr>
      </p:sp>
      <p:sp>
        <p:nvSpPr>
          <p:cNvPr id="7" name="Text 5"/>
          <p:cNvSpPr txBox="1"/>
          <p:nvPr/>
        </p:nvSpPr>
        <p:spPr>
          <a:xfrm>
            <a:off x="3566160" y="1508760"/>
            <a:ext cx="1737360" cy="822960"/>
          </a:xfrm>
          <a:prstGeom prst="rect">
            <a:avLst/>
          </a:prstGeom>
          <a:noFill/>
          <a:ln/>
        </p:spPr>
        <p:txBody>
          <a:bodyPr wrap="square" lIns="0" tIns="0" rIns="0" bIns="0" rtlCol="0" anchor="ctr"/>
          <a:lstStyle/>
          <a:p>
            <a:pPr algn="ctr" indent="0" marL="0">
              <a:buNone/>
            </a:pPr>
            <a:r>
              <a:rPr lang="en-US" sz="1800" b="1" dirty="0">
                <a:solidFill>
                  <a:schemeClr val="bg1"/>
                </a:solidFill>
              </a:rPr>
              <a:t>Environment</a:t>
            </a:r>
            <a:endParaRPr lang="en-US" sz="1800" dirty="0"/>
          </a:p>
        </p:txBody>
      </p:sp>
      <p:sp>
        <p:nvSpPr>
          <p:cNvPr id="8" name="arrow"/>
          <p:cNvSpPr/>
          <p:nvPr/>
        </p:nvSpPr>
        <p:spPr>
          <a:xfrm>
            <a:off x="2423160" y="1920240"/>
            <a:ext cx="1097280" cy="0"/>
          </a:xfrm>
          <a:prstGeom prst="line">
            <a:avLst/>
          </a:prstGeom>
          <a:noFill/>
          <a:ln w="25400">
            <a:solidFill>
              <a:schemeClr val="accent4"/>
            </a:solidFill>
            <a:prstDash val="solid"/>
            <a:tailEnd type="triangle"/>
          </a:ln>
        </p:spPr>
      </p:sp>
      <p:sp>
        <p:nvSpPr>
          <p:cNvPr id="9" name="Text 7"/>
          <p:cNvSpPr txBox="1"/>
          <p:nvPr/>
        </p:nvSpPr>
        <p:spPr>
          <a:xfrm>
            <a:off x="2423160" y="1554480"/>
            <a:ext cx="1097280" cy="274320"/>
          </a:xfrm>
          <a:prstGeom prst="rect">
            <a:avLst/>
          </a:prstGeom>
          <a:noFill/>
          <a:ln/>
        </p:spPr>
        <p:txBody>
          <a:bodyPr wrap="square" lIns="0" tIns="0" rIns="0" bIns="0" rtlCol="0" anchor="ctr"/>
          <a:lstStyle/>
          <a:p>
            <a:pPr algn="ctr" indent="0" marL="0">
              <a:buNone/>
            </a:pPr>
            <a:r>
              <a:rPr lang="en-US" sz="1400" b="1" dirty="0">
                <a:solidFill>
                  <a:schemeClr val="accent4"/>
                </a:solidFill>
              </a:rPr>
              <a:t>Action</a:t>
            </a:r>
            <a:endParaRPr lang="en-US" sz="1400" dirty="0"/>
          </a:p>
        </p:txBody>
      </p:sp>
      <p:sp>
        <p:nvSpPr>
          <p:cNvPr id="10" name="return path"/>
          <p:cNvSpPr/>
          <p:nvPr/>
        </p:nvSpPr>
        <p:spPr>
          <a:xfrm>
            <a:off x="4434840" y="2331720"/>
            <a:ext cx="0" cy="868680"/>
          </a:xfrm>
          <a:prstGeom prst="line">
            <a:avLst/>
          </a:prstGeom>
          <a:noFill/>
          <a:ln w="25400">
            <a:solidFill>
              <a:schemeClr val="accent6"/>
            </a:solidFill>
            <a:prstDash val="solid"/>
          </a:ln>
        </p:spPr>
      </p:sp>
      <p:sp>
        <p:nvSpPr>
          <p:cNvPr id="11" name="return path"/>
          <p:cNvSpPr/>
          <p:nvPr/>
        </p:nvSpPr>
        <p:spPr>
          <a:xfrm>
            <a:off x="1554480" y="3200400"/>
            <a:ext cx="2880360" cy="0"/>
          </a:xfrm>
          <a:prstGeom prst="line">
            <a:avLst/>
          </a:prstGeom>
          <a:noFill/>
          <a:ln w="25400">
            <a:solidFill>
              <a:schemeClr val="accent6"/>
            </a:solidFill>
            <a:prstDash val="solid"/>
          </a:ln>
        </p:spPr>
      </p:sp>
      <p:sp>
        <p:nvSpPr>
          <p:cNvPr id="12" name="return arrow"/>
          <p:cNvSpPr/>
          <p:nvPr/>
        </p:nvSpPr>
        <p:spPr>
          <a:xfrm>
            <a:off x="1554480" y="2331720"/>
            <a:ext cx="0" cy="868680"/>
          </a:xfrm>
          <a:prstGeom prst="line">
            <a:avLst/>
          </a:prstGeom>
          <a:noFill/>
          <a:ln w="25400">
            <a:solidFill>
              <a:schemeClr val="accent6"/>
            </a:solidFill>
            <a:prstDash val="solid"/>
            <a:headEnd type="triangle"/>
          </a:ln>
        </p:spPr>
      </p:sp>
      <p:sp>
        <p:nvSpPr>
          <p:cNvPr id="13" name="Text 11"/>
          <p:cNvSpPr txBox="1"/>
          <p:nvPr/>
        </p:nvSpPr>
        <p:spPr>
          <a:xfrm>
            <a:off x="1737360" y="3273552"/>
            <a:ext cx="2651760" cy="320040"/>
          </a:xfrm>
          <a:prstGeom prst="rect">
            <a:avLst/>
          </a:prstGeom>
          <a:noFill/>
          <a:ln/>
        </p:spPr>
        <p:txBody>
          <a:bodyPr wrap="square" lIns="0" tIns="0" rIns="0" bIns="0" rtlCol="0" anchor="ctr"/>
          <a:lstStyle/>
          <a:p>
            <a:pPr algn="ctr" indent="0" marL="0">
              <a:buNone/>
            </a:pPr>
            <a:r>
              <a:rPr lang="en-US" sz="1400" b="1" dirty="0">
                <a:solidFill>
                  <a:schemeClr val="accent6"/>
                </a:solidFill>
              </a:rPr>
              <a:t>Reward + new state</a:t>
            </a:r>
            <a:endParaRPr lang="en-US" sz="1400" dirty="0"/>
          </a:p>
        </p:txBody>
      </p:sp>
      <p:sp>
        <p:nvSpPr>
          <p:cNvPr id="14" name="Text 12"/>
          <p:cNvSpPr txBox="1"/>
          <p:nvPr/>
        </p:nvSpPr>
        <p:spPr>
          <a:xfrm>
            <a:off x="731520" y="3931920"/>
            <a:ext cx="4572000" cy="365760"/>
          </a:xfrm>
          <a:prstGeom prst="rect">
            <a:avLst/>
          </a:prstGeom>
          <a:noFill/>
          <a:ln/>
        </p:spPr>
        <p:txBody>
          <a:bodyPr wrap="square" lIns="0" tIns="0" rIns="0" bIns="0" rtlCol="0" anchor="ctr"/>
          <a:lstStyle/>
          <a:p>
            <a:pPr algn="ctr" indent="0" marL="0">
              <a:buNone/>
            </a:pPr>
            <a:r>
              <a:rPr lang="en-US" sz="1600" i="1" dirty="0">
                <a:solidFill>
                  <a:schemeClr val="tx2"/>
                </a:solidFill>
              </a:rPr>
              <a:t>Try → get feedback → improve</a:t>
            </a:r>
            <a:endParaRPr lang="en-US" sz="1600" dirty="0"/>
          </a:p>
        </p:txBody>
      </p:sp>
      <p:sp>
        <p:nvSpPr>
          <p:cNvPr id="15" name="card"/>
          <p:cNvSpPr/>
          <p:nvPr/>
        </p:nvSpPr>
        <p:spPr>
          <a:xfrm>
            <a:off x="5852160" y="1188720"/>
            <a:ext cx="2834640" cy="731520"/>
          </a:xfrm>
          <a:prstGeom prst="roundRect">
            <a:avLst>
              <a:gd name="adj" fmla="val 1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icon badge"/>
          <p:cNvSpPr/>
          <p:nvPr/>
        </p:nvSpPr>
        <p:spPr>
          <a:xfrm>
            <a:off x="5989320" y="1298448"/>
            <a:ext cx="512064" cy="512064"/>
          </a:xfrm>
          <a:prstGeom prst="ellipse">
            <a:avLst/>
          </a:prstGeom>
          <a:solidFill>
            <a:schemeClr val="accent1"/>
          </a:solidFill>
          <a:ln w="12700">
            <a:solidFill>
              <a:schemeClr val="accent1"/>
            </a:solidFill>
            <a:prstDash val="solid"/>
          </a:ln>
        </p:spPr>
      </p:sp>
      <p:pic>
        <p:nvPicPr>
          <p:cNvPr id="17" name="Image 0" descr="robot icon">    </p:cNvPr>
          <p:cNvPicPr>
            <a:picLocks noChangeAspect="1"/>
          </p:cNvPicPr>
          <p:nvPr/>
        </p:nvPicPr>
        <p:blipFill>
          <a:blip r:embed="rId1"/>
          <a:stretch>
            <a:fillRect/>
          </a:stretch>
        </p:blipFill>
        <p:spPr>
          <a:xfrm>
            <a:off x="6117336" y="1426464"/>
            <a:ext cx="256032" cy="256032"/>
          </a:xfrm>
          <a:prstGeom prst="rect">
            <a:avLst/>
          </a:prstGeom>
        </p:spPr>
      </p:pic>
      <p:sp>
        <p:nvSpPr>
          <p:cNvPr id="18" name="Text 15"/>
          <p:cNvSpPr txBox="1"/>
          <p:nvPr/>
        </p:nvSpPr>
        <p:spPr>
          <a:xfrm>
            <a:off x="6629400" y="1188720"/>
            <a:ext cx="2011680" cy="731520"/>
          </a:xfrm>
          <a:prstGeom prst="rect">
            <a:avLst/>
          </a:prstGeom>
          <a:noFill/>
          <a:ln/>
        </p:spPr>
        <p:txBody>
          <a:bodyPr wrap="square" lIns="0" tIns="0" rIns="0" bIns="0" rtlCol="0" anchor="ctr"/>
          <a:lstStyle/>
          <a:p>
            <a:pPr indent="0" marL="0">
              <a:buNone/>
            </a:pPr>
            <a:r>
              <a:rPr lang="en-US" sz="1400" b="1" dirty="0">
                <a:solidFill>
                  <a:schemeClr val="tx1"/>
                </a:solidFill>
              </a:rPr>
              <a:t>Robotics</a:t>
            </a:r>
            <a:endParaRPr lang="en-US" sz="1400" dirty="0"/>
          </a:p>
        </p:txBody>
      </p:sp>
      <p:sp>
        <p:nvSpPr>
          <p:cNvPr id="19" name="card"/>
          <p:cNvSpPr/>
          <p:nvPr/>
        </p:nvSpPr>
        <p:spPr>
          <a:xfrm>
            <a:off x="5852160" y="2057400"/>
            <a:ext cx="2834640" cy="731520"/>
          </a:xfrm>
          <a:prstGeom prst="roundRect">
            <a:avLst>
              <a:gd name="adj" fmla="val 1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icon badge"/>
          <p:cNvSpPr/>
          <p:nvPr/>
        </p:nvSpPr>
        <p:spPr>
          <a:xfrm>
            <a:off x="5989320" y="2167128"/>
            <a:ext cx="512064" cy="512064"/>
          </a:xfrm>
          <a:prstGeom prst="ellipse">
            <a:avLst/>
          </a:prstGeom>
          <a:solidFill>
            <a:schemeClr val="accent2"/>
          </a:solidFill>
          <a:ln w="12700">
            <a:solidFill>
              <a:schemeClr val="accent2"/>
            </a:solidFill>
            <a:prstDash val="solid"/>
          </a:ln>
        </p:spPr>
      </p:sp>
      <p:pic>
        <p:nvPicPr>
          <p:cNvPr id="21" name="Image 1" descr="game icon">    </p:cNvPr>
          <p:cNvPicPr>
            <a:picLocks noChangeAspect="1"/>
          </p:cNvPicPr>
          <p:nvPr/>
        </p:nvPicPr>
        <p:blipFill>
          <a:blip r:embed="rId2"/>
          <a:stretch>
            <a:fillRect/>
          </a:stretch>
        </p:blipFill>
        <p:spPr>
          <a:xfrm>
            <a:off x="6117336" y="2295144"/>
            <a:ext cx="256032" cy="256032"/>
          </a:xfrm>
          <a:prstGeom prst="rect">
            <a:avLst/>
          </a:prstGeom>
        </p:spPr>
      </p:pic>
      <p:sp>
        <p:nvSpPr>
          <p:cNvPr id="22" name="Text 18"/>
          <p:cNvSpPr txBox="1"/>
          <p:nvPr/>
        </p:nvSpPr>
        <p:spPr>
          <a:xfrm>
            <a:off x="6629400" y="2057400"/>
            <a:ext cx="2011680" cy="731520"/>
          </a:xfrm>
          <a:prstGeom prst="rect">
            <a:avLst/>
          </a:prstGeom>
          <a:noFill/>
          <a:ln/>
        </p:spPr>
        <p:txBody>
          <a:bodyPr wrap="square" lIns="0" tIns="0" rIns="0" bIns="0" rtlCol="0" anchor="ctr"/>
          <a:lstStyle/>
          <a:p>
            <a:pPr indent="0" marL="0">
              <a:buNone/>
            </a:pPr>
            <a:r>
              <a:rPr lang="en-US" sz="1400" b="1" dirty="0">
                <a:solidFill>
                  <a:schemeClr val="tx1"/>
                </a:solidFill>
              </a:rPr>
              <a:t>Gaming</a:t>
            </a:r>
            <a:endParaRPr lang="en-US" sz="1400" dirty="0"/>
          </a:p>
        </p:txBody>
      </p:sp>
      <p:sp>
        <p:nvSpPr>
          <p:cNvPr id="23" name="card"/>
          <p:cNvSpPr/>
          <p:nvPr/>
        </p:nvSpPr>
        <p:spPr>
          <a:xfrm>
            <a:off x="5852160" y="2926080"/>
            <a:ext cx="2834640" cy="731520"/>
          </a:xfrm>
          <a:prstGeom prst="roundRect">
            <a:avLst>
              <a:gd name="adj" fmla="val 1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 badge"/>
          <p:cNvSpPr/>
          <p:nvPr/>
        </p:nvSpPr>
        <p:spPr>
          <a:xfrm>
            <a:off x="5989320" y="3035808"/>
            <a:ext cx="512064" cy="512064"/>
          </a:xfrm>
          <a:prstGeom prst="ellipse">
            <a:avLst/>
          </a:prstGeom>
          <a:solidFill>
            <a:schemeClr val="accent3"/>
          </a:solidFill>
          <a:ln w="12700">
            <a:solidFill>
              <a:schemeClr val="accent3"/>
            </a:solidFill>
            <a:prstDash val="solid"/>
          </a:ln>
        </p:spPr>
      </p:sp>
      <p:pic>
        <p:nvPicPr>
          <p:cNvPr id="25" name="Image 2" descr="car icon">    </p:cNvPr>
          <p:cNvPicPr>
            <a:picLocks noChangeAspect="1"/>
          </p:cNvPicPr>
          <p:nvPr/>
        </p:nvPicPr>
        <p:blipFill>
          <a:blip r:embed="rId3"/>
          <a:stretch>
            <a:fillRect/>
          </a:stretch>
        </p:blipFill>
        <p:spPr>
          <a:xfrm>
            <a:off x="6117336" y="3163824"/>
            <a:ext cx="256032" cy="256032"/>
          </a:xfrm>
          <a:prstGeom prst="rect">
            <a:avLst/>
          </a:prstGeom>
        </p:spPr>
      </p:pic>
      <p:sp>
        <p:nvSpPr>
          <p:cNvPr id="26" name="Text 21"/>
          <p:cNvSpPr txBox="1"/>
          <p:nvPr/>
        </p:nvSpPr>
        <p:spPr>
          <a:xfrm>
            <a:off x="6629400" y="2926080"/>
            <a:ext cx="2011680" cy="731520"/>
          </a:xfrm>
          <a:prstGeom prst="rect">
            <a:avLst/>
          </a:prstGeom>
          <a:noFill/>
          <a:ln/>
        </p:spPr>
        <p:txBody>
          <a:bodyPr wrap="square" lIns="0" tIns="0" rIns="0" bIns="0" rtlCol="0" anchor="ctr"/>
          <a:lstStyle/>
          <a:p>
            <a:pPr indent="0" marL="0">
              <a:buNone/>
            </a:pPr>
            <a:r>
              <a:rPr lang="en-US" sz="1400" b="1" dirty="0">
                <a:solidFill>
                  <a:schemeClr val="tx1"/>
                </a:solidFill>
              </a:rPr>
              <a:t>Autonomous vehicles</a:t>
            </a:r>
            <a:endParaRPr lang="en-US" sz="1400" dirty="0"/>
          </a:p>
        </p:txBody>
      </p:sp>
      <p:sp>
        <p:nvSpPr>
          <p:cNvPr id="27" name="card"/>
          <p:cNvSpPr/>
          <p:nvPr/>
        </p:nvSpPr>
        <p:spPr>
          <a:xfrm>
            <a:off x="5852160" y="3794760"/>
            <a:ext cx="2834640" cy="731520"/>
          </a:xfrm>
          <a:prstGeom prst="roundRect">
            <a:avLst>
              <a:gd name="adj" fmla="val 1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8" name="icon badge"/>
          <p:cNvSpPr/>
          <p:nvPr/>
        </p:nvSpPr>
        <p:spPr>
          <a:xfrm>
            <a:off x="5989320" y="3904488"/>
            <a:ext cx="512064" cy="512064"/>
          </a:xfrm>
          <a:prstGeom prst="ellipse">
            <a:avLst/>
          </a:prstGeom>
          <a:solidFill>
            <a:schemeClr val="accent5"/>
          </a:solidFill>
          <a:ln w="12700">
            <a:solidFill>
              <a:schemeClr val="accent5"/>
            </a:solidFill>
            <a:prstDash val="solid"/>
          </a:ln>
        </p:spPr>
      </p:sp>
      <p:pic>
        <p:nvPicPr>
          <p:cNvPr id="29" name="Image 3" descr="star icon">    </p:cNvPr>
          <p:cNvPicPr>
            <a:picLocks noChangeAspect="1"/>
          </p:cNvPicPr>
          <p:nvPr/>
        </p:nvPicPr>
        <p:blipFill>
          <a:blip r:embed="rId4"/>
          <a:stretch>
            <a:fillRect/>
          </a:stretch>
        </p:blipFill>
        <p:spPr>
          <a:xfrm>
            <a:off x="6117336" y="4032504"/>
            <a:ext cx="256032" cy="256032"/>
          </a:xfrm>
          <a:prstGeom prst="rect">
            <a:avLst/>
          </a:prstGeom>
        </p:spPr>
      </p:pic>
      <p:sp>
        <p:nvSpPr>
          <p:cNvPr id="30" name="Text 24"/>
          <p:cNvSpPr txBox="1"/>
          <p:nvPr/>
        </p:nvSpPr>
        <p:spPr>
          <a:xfrm>
            <a:off x="6629400" y="3794760"/>
            <a:ext cx="2011680" cy="731520"/>
          </a:xfrm>
          <a:prstGeom prst="rect">
            <a:avLst/>
          </a:prstGeom>
          <a:noFill/>
          <a:ln/>
        </p:spPr>
        <p:txBody>
          <a:bodyPr wrap="square" lIns="0" tIns="0" rIns="0" bIns="0" rtlCol="0" anchor="ctr"/>
          <a:lstStyle/>
          <a:p>
            <a:pPr indent="0" marL="0">
              <a:buNone/>
            </a:pPr>
            <a:r>
              <a:rPr lang="en-US" sz="1400" b="1" dirty="0">
                <a:solidFill>
                  <a:schemeClr val="tx1"/>
                </a:solidFill>
              </a:rPr>
              <a:t>Recommendation systems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deep learning?</a:t>
            </a:r>
            <a:endParaRPr lang="en-US" sz="3400" dirty="0"/>
          </a:p>
        </p:txBody>
      </p:sp>
      <p:sp>
        <p:nvSpPr>
          <p:cNvPr id="3" name="card"/>
          <p:cNvSpPr/>
          <p:nvPr/>
        </p:nvSpPr>
        <p:spPr>
          <a:xfrm>
            <a:off x="457200" y="1234440"/>
            <a:ext cx="4114800" cy="1737360"/>
          </a:xfrm>
          <a:prstGeom prst="roundRect">
            <a:avLst>
              <a:gd name="adj" fmla="val 6316"/>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25880"/>
            <a:ext cx="3657600" cy="1554480"/>
          </a:xfrm>
          <a:prstGeom prst="rect">
            <a:avLst/>
          </a:prstGeom>
          <a:noFill/>
          <a:ln/>
        </p:spPr>
        <p:txBody>
          <a:bodyPr wrap="square" lIns="0" tIns="0" rIns="0" bIns="0" rtlCol="0" anchor="ctr"/>
          <a:lstStyle/>
          <a:p>
            <a:pPr indent="0" marL="0">
              <a:buNone/>
            </a:pPr>
            <a:r>
              <a:rPr lang="en-US" sz="1800" b="1" dirty="0">
                <a:solidFill>
                  <a:schemeClr val="bg1"/>
                </a:solidFill>
              </a:rPr>
              <a:t>A subset of machine learning that uses artificial neural networks with many layers.</a:t>
            </a:r>
            <a:endParaRPr lang="en-US" sz="1800" dirty="0"/>
          </a:p>
        </p:txBody>
      </p:sp>
      <p:sp>
        <p:nvSpPr>
          <p:cNvPr id="5" name="pill"/>
          <p:cNvSpPr/>
          <p:nvPr/>
        </p:nvSpPr>
        <p:spPr>
          <a:xfrm>
            <a:off x="457200" y="3154680"/>
            <a:ext cx="4114800" cy="402336"/>
          </a:xfrm>
          <a:prstGeom prst="roundRect">
            <a:avLst>
              <a:gd name="adj" fmla="val 50000"/>
            </a:avLst>
          </a:prstGeom>
          <a:solidFill>
            <a:schemeClr val="accent1"/>
          </a:solidFill>
          <a:ln w="12700">
            <a:solidFill>
              <a:schemeClr val="accent1"/>
            </a:solidFill>
            <a:prstDash val="solid"/>
          </a:ln>
        </p:spPr>
      </p:sp>
      <p:pic>
        <p:nvPicPr>
          <p:cNvPr id="6" name="Image 0" descr="bulb">    </p:cNvPr>
          <p:cNvPicPr>
            <a:picLocks noChangeAspect="1"/>
          </p:cNvPicPr>
          <p:nvPr/>
        </p:nvPicPr>
        <p:blipFill>
          <a:blip r:embed="rId1"/>
          <a:stretch>
            <a:fillRect/>
          </a:stretch>
        </p:blipFill>
        <p:spPr>
          <a:xfrm>
            <a:off x="594360" y="3246120"/>
            <a:ext cx="219456" cy="219456"/>
          </a:xfrm>
          <a:prstGeom prst="rect">
            <a:avLst/>
          </a:prstGeom>
        </p:spPr>
      </p:pic>
      <p:sp>
        <p:nvSpPr>
          <p:cNvPr id="7" name="Text 4"/>
          <p:cNvSpPr txBox="1"/>
          <p:nvPr/>
        </p:nvSpPr>
        <p:spPr>
          <a:xfrm>
            <a:off x="914400" y="3154680"/>
            <a:ext cx="3566160" cy="402336"/>
          </a:xfrm>
          <a:prstGeom prst="rect">
            <a:avLst/>
          </a:prstGeom>
          <a:noFill/>
          <a:ln/>
        </p:spPr>
        <p:txBody>
          <a:bodyPr wrap="square" lIns="0" tIns="0" rIns="0" bIns="0" rtlCol="0" anchor="ctr"/>
          <a:lstStyle/>
          <a:p>
            <a:pPr indent="0" marL="0">
              <a:buNone/>
            </a:pPr>
            <a:r>
              <a:rPr lang="en-US" sz="1400" b="1" dirty="0">
                <a:solidFill>
                  <a:schemeClr val="bg1"/>
                </a:solidFill>
              </a:rPr>
              <a:t>Learns features automatically</a:t>
            </a:r>
            <a:endParaRPr lang="en-US" sz="1400" dirty="0"/>
          </a:p>
        </p:txBody>
      </p:sp>
      <p:sp>
        <p:nvSpPr>
          <p:cNvPr id="8" name="pill"/>
          <p:cNvSpPr/>
          <p:nvPr/>
        </p:nvSpPr>
        <p:spPr>
          <a:xfrm>
            <a:off x="457200" y="3630168"/>
            <a:ext cx="4114800" cy="402336"/>
          </a:xfrm>
          <a:prstGeom prst="roundRect">
            <a:avLst>
              <a:gd name="adj" fmla="val 50000"/>
            </a:avLst>
          </a:prstGeom>
          <a:solidFill>
            <a:schemeClr val="accent3"/>
          </a:solidFill>
          <a:ln w="12700">
            <a:solidFill>
              <a:schemeClr val="accent3"/>
            </a:solidFill>
            <a:prstDash val="solid"/>
          </a:ln>
        </p:spPr>
      </p:sp>
      <p:pic>
        <p:nvPicPr>
          <p:cNvPr id="9" name="Image 1" descr="db">    </p:cNvPr>
          <p:cNvPicPr>
            <a:picLocks noChangeAspect="1"/>
          </p:cNvPicPr>
          <p:nvPr/>
        </p:nvPicPr>
        <p:blipFill>
          <a:blip r:embed="rId2"/>
          <a:stretch>
            <a:fillRect/>
          </a:stretch>
        </p:blipFill>
        <p:spPr>
          <a:xfrm>
            <a:off x="594360" y="3721608"/>
            <a:ext cx="219456" cy="219456"/>
          </a:xfrm>
          <a:prstGeom prst="rect">
            <a:avLst/>
          </a:prstGeom>
        </p:spPr>
      </p:pic>
      <p:sp>
        <p:nvSpPr>
          <p:cNvPr id="10" name="Text 6"/>
          <p:cNvSpPr txBox="1"/>
          <p:nvPr/>
        </p:nvSpPr>
        <p:spPr>
          <a:xfrm>
            <a:off x="914400" y="3630168"/>
            <a:ext cx="3566160" cy="402336"/>
          </a:xfrm>
          <a:prstGeom prst="rect">
            <a:avLst/>
          </a:prstGeom>
          <a:noFill/>
          <a:ln/>
        </p:spPr>
        <p:txBody>
          <a:bodyPr wrap="square" lIns="0" tIns="0" rIns="0" bIns="0" rtlCol="0" anchor="ctr"/>
          <a:lstStyle/>
          <a:p>
            <a:pPr indent="0" marL="0">
              <a:buNone/>
            </a:pPr>
            <a:r>
              <a:rPr lang="en-US" sz="1400" b="1" dirty="0">
                <a:solidFill>
                  <a:schemeClr val="bg1"/>
                </a:solidFill>
              </a:rPr>
              <a:t>Needs lots of data</a:t>
            </a:r>
            <a:endParaRPr lang="en-US" sz="1400" dirty="0"/>
          </a:p>
        </p:txBody>
      </p:sp>
      <p:sp>
        <p:nvSpPr>
          <p:cNvPr id="11" name="pill"/>
          <p:cNvSpPr/>
          <p:nvPr/>
        </p:nvSpPr>
        <p:spPr>
          <a:xfrm>
            <a:off x="457200" y="4105656"/>
            <a:ext cx="4114800" cy="402336"/>
          </a:xfrm>
          <a:prstGeom prst="roundRect">
            <a:avLst>
              <a:gd name="adj" fmla="val 50000"/>
            </a:avLst>
          </a:prstGeom>
          <a:solidFill>
            <a:schemeClr val="accent1"/>
          </a:solidFill>
          <a:ln w="12700">
            <a:solidFill>
              <a:schemeClr val="accent1"/>
            </a:solidFill>
            <a:prstDash val="solid"/>
          </a:ln>
        </p:spPr>
      </p:sp>
      <p:pic>
        <p:nvPicPr>
          <p:cNvPr id="12" name="Image 2" descr="chip">    </p:cNvPr>
          <p:cNvPicPr>
            <a:picLocks noChangeAspect="1"/>
          </p:cNvPicPr>
          <p:nvPr/>
        </p:nvPicPr>
        <p:blipFill>
          <a:blip r:embed="rId3"/>
          <a:stretch>
            <a:fillRect/>
          </a:stretch>
        </p:blipFill>
        <p:spPr>
          <a:xfrm>
            <a:off x="594360" y="4197096"/>
            <a:ext cx="219456" cy="219456"/>
          </a:xfrm>
          <a:prstGeom prst="rect">
            <a:avLst/>
          </a:prstGeom>
        </p:spPr>
      </p:pic>
      <p:sp>
        <p:nvSpPr>
          <p:cNvPr id="13" name="Text 8"/>
          <p:cNvSpPr txBox="1"/>
          <p:nvPr/>
        </p:nvSpPr>
        <p:spPr>
          <a:xfrm>
            <a:off x="914400" y="4105656"/>
            <a:ext cx="3566160" cy="402336"/>
          </a:xfrm>
          <a:prstGeom prst="rect">
            <a:avLst/>
          </a:prstGeom>
          <a:noFill/>
          <a:ln/>
        </p:spPr>
        <p:txBody>
          <a:bodyPr wrap="square" lIns="0" tIns="0" rIns="0" bIns="0" rtlCol="0" anchor="ctr"/>
          <a:lstStyle/>
          <a:p>
            <a:pPr indent="0" marL="0">
              <a:buNone/>
            </a:pPr>
            <a:r>
              <a:rPr lang="en-US" sz="1400" b="1" dirty="0">
                <a:solidFill>
                  <a:schemeClr val="bg1"/>
                </a:solidFill>
              </a:rPr>
              <a:t>Powered by GPUs</a:t>
            </a:r>
            <a:endParaRPr lang="en-US" sz="1400" dirty="0"/>
          </a:p>
        </p:txBody>
      </p:sp>
      <p:sp>
        <p:nvSpPr>
          <p:cNvPr id="14" name="nested AI"/>
          <p:cNvSpPr/>
          <p:nvPr/>
        </p:nvSpPr>
        <p:spPr>
          <a:xfrm>
            <a:off x="5074920" y="1280160"/>
            <a:ext cx="3200400" cy="3200400"/>
          </a:xfrm>
          <a:prstGeom prst="ellipse">
            <a:avLst/>
          </a:prstGeom>
          <a:solidFill>
            <a:schemeClr val="bg2"/>
          </a:solidFill>
          <a:ln w="25400">
            <a:solidFill>
              <a:schemeClr val="bg1"/>
            </a:solidFill>
            <a:prstDash val="solid"/>
          </a:ln>
          <a:effectLst>
            <a:outerShdw sx="100000" sy="100000" kx="0" ky="0" algn="bl" rotWithShape="0" blurRad="101600" dist="25400" dir="5400000">
              <a:srgbClr val="000000">
                <a:alpha val="12000"/>
              </a:srgbClr>
            </a:outerShdw>
          </a:effectLst>
        </p:spPr>
      </p:sp>
      <p:sp>
        <p:nvSpPr>
          <p:cNvPr id="15" name="nested ML"/>
          <p:cNvSpPr/>
          <p:nvPr/>
        </p:nvSpPr>
        <p:spPr>
          <a:xfrm>
            <a:off x="5577840" y="1783080"/>
            <a:ext cx="2194560" cy="2194560"/>
          </a:xfrm>
          <a:prstGeom prst="ellipse">
            <a:avLst/>
          </a:prstGeom>
          <a:solidFill>
            <a:schemeClr val="accent1">
              <a:alpha val="45000"/>
            </a:schemeClr>
          </a:solidFill>
          <a:ln w="25400">
            <a:solidFill>
              <a:schemeClr val="bg1"/>
            </a:solidFill>
            <a:prstDash val="solid"/>
          </a:ln>
          <a:effectLst>
            <a:outerShdw sx="100000" sy="100000" kx="0" ky="0" algn="bl" rotWithShape="0" blurRad="101600" dist="25400" dir="5400000">
              <a:srgbClr val="000000">
                <a:alpha val="12000"/>
              </a:srgbClr>
            </a:outerShdw>
          </a:effectLst>
        </p:spPr>
      </p:sp>
      <p:sp>
        <p:nvSpPr>
          <p:cNvPr id="16" name="nested DL"/>
          <p:cNvSpPr/>
          <p:nvPr/>
        </p:nvSpPr>
        <p:spPr>
          <a:xfrm>
            <a:off x="6080760" y="2286000"/>
            <a:ext cx="1188720" cy="1188720"/>
          </a:xfrm>
          <a:prstGeom prst="ellipse">
            <a:avLst/>
          </a:prstGeom>
          <a:solidFill>
            <a:schemeClr val="accent2"/>
          </a:solidFill>
          <a:ln w="50800">
            <a:solidFill>
              <a:schemeClr val="accent5"/>
            </a:solidFill>
            <a:prstDash val="solid"/>
          </a:ln>
          <a:effectLst>
            <a:outerShdw sx="100000" sy="100000" kx="0" ky="0" algn="bl" rotWithShape="0" blurRad="101600" dist="25400" dir="5400000">
              <a:srgbClr val="000000">
                <a:alpha val="12000"/>
              </a:srgbClr>
            </a:outerShdw>
          </a:effectLst>
        </p:spPr>
      </p:sp>
      <p:sp>
        <p:nvSpPr>
          <p:cNvPr id="17" name="Text 12"/>
          <p:cNvSpPr txBox="1"/>
          <p:nvPr/>
        </p:nvSpPr>
        <p:spPr>
          <a:xfrm>
            <a:off x="5394960" y="1325880"/>
            <a:ext cx="2560320" cy="365760"/>
          </a:xfrm>
          <a:prstGeom prst="rect">
            <a:avLst/>
          </a:prstGeom>
          <a:noFill/>
          <a:ln/>
        </p:spPr>
        <p:txBody>
          <a:bodyPr wrap="square" lIns="0" tIns="0" rIns="0" bIns="0" rtlCol="0" anchor="ctr"/>
          <a:lstStyle/>
          <a:p>
            <a:pPr algn="ctr" indent="0" marL="0">
              <a:buNone/>
            </a:pPr>
            <a:r>
              <a:rPr lang="en-US" sz="1400" b="1" dirty="0">
                <a:solidFill>
                  <a:schemeClr val="tx1"/>
                </a:solidFill>
              </a:rPr>
              <a:t>Artificial Intelligence</a:t>
            </a:r>
            <a:endParaRPr lang="en-US" sz="1400" dirty="0"/>
          </a:p>
        </p:txBody>
      </p:sp>
      <p:sp>
        <p:nvSpPr>
          <p:cNvPr id="18" name="Text 13"/>
          <p:cNvSpPr txBox="1"/>
          <p:nvPr/>
        </p:nvSpPr>
        <p:spPr>
          <a:xfrm>
            <a:off x="5760720" y="192024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Machine Learning</a:t>
            </a:r>
            <a:endParaRPr lang="en-US" sz="1400" dirty="0"/>
          </a:p>
        </p:txBody>
      </p:sp>
      <p:sp>
        <p:nvSpPr>
          <p:cNvPr id="19" name="Text 14"/>
          <p:cNvSpPr txBox="1"/>
          <p:nvPr/>
        </p:nvSpPr>
        <p:spPr>
          <a:xfrm>
            <a:off x="6126480" y="2606040"/>
            <a:ext cx="1097280" cy="548640"/>
          </a:xfrm>
          <a:prstGeom prst="rect">
            <a:avLst/>
          </a:prstGeom>
          <a:noFill/>
          <a:ln/>
        </p:spPr>
        <p:txBody>
          <a:bodyPr wrap="square" lIns="0" tIns="0" rIns="0" bIns="0" rtlCol="0" anchor="ctr"/>
          <a:lstStyle/>
          <a:p>
            <a:pPr algn="ctr" indent="0" marL="0">
              <a:buNone/>
            </a:pPr>
            <a:r>
              <a:rPr lang="en-US" sz="1400" b="1" dirty="0">
                <a:solidFill>
                  <a:schemeClr val="bg1"/>
                </a:solidFill>
              </a:rPr>
              <a:t>Deep</a:t>
            </a:r>
            <a:endParaRPr lang="en-US" sz="1400" dirty="0"/>
          </a:p>
          <a:p>
            <a:pPr algn="ctr" indent="0" marL="0">
              <a:buNone/>
            </a:pPr>
            <a:r>
              <a:rPr lang="en-US" sz="1400" b="1" dirty="0">
                <a:solidFill>
                  <a:schemeClr val="bg1"/>
                </a:solidFill>
              </a:rPr>
              <a:t>Learning</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Neural networks explained</a:t>
            </a:r>
            <a:endParaRPr lang="en-US" sz="3400" dirty="0"/>
          </a:p>
        </p:txBody>
      </p:sp>
      <p:sp>
        <p:nvSpPr>
          <p:cNvPr id="3" name="card"/>
          <p:cNvSpPr/>
          <p:nvPr/>
        </p:nvSpPr>
        <p:spPr>
          <a:xfrm>
            <a:off x="457200" y="1188720"/>
            <a:ext cx="4572000" cy="338328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connection"/>
          <p:cNvSpPr/>
          <p:nvPr/>
        </p:nvSpPr>
        <p:spPr>
          <a:xfrm flipV="1">
            <a:off x="868680" y="1929384"/>
            <a:ext cx="1249680" cy="128016"/>
          </a:xfrm>
          <a:prstGeom prst="line">
            <a:avLst/>
          </a:prstGeom>
          <a:noFill/>
          <a:ln w="9525">
            <a:solidFill>
              <a:srgbClr val="B8C0F0"/>
            </a:solidFill>
            <a:prstDash val="solid"/>
          </a:ln>
        </p:spPr>
      </p:sp>
      <p:sp>
        <p:nvSpPr>
          <p:cNvPr id="5" name="connection"/>
          <p:cNvSpPr/>
          <p:nvPr/>
        </p:nvSpPr>
        <p:spPr>
          <a:xfrm>
            <a:off x="868680" y="2057400"/>
            <a:ext cx="1249680" cy="384048"/>
          </a:xfrm>
          <a:prstGeom prst="line">
            <a:avLst/>
          </a:prstGeom>
          <a:noFill/>
          <a:ln w="9525">
            <a:solidFill>
              <a:srgbClr val="B8C0F0"/>
            </a:solidFill>
            <a:prstDash val="solid"/>
          </a:ln>
        </p:spPr>
      </p:sp>
      <p:sp>
        <p:nvSpPr>
          <p:cNvPr id="6" name="connection"/>
          <p:cNvSpPr/>
          <p:nvPr/>
        </p:nvSpPr>
        <p:spPr>
          <a:xfrm>
            <a:off x="868680" y="2057400"/>
            <a:ext cx="1249680" cy="896112"/>
          </a:xfrm>
          <a:prstGeom prst="line">
            <a:avLst/>
          </a:prstGeom>
          <a:noFill/>
          <a:ln w="9525">
            <a:solidFill>
              <a:srgbClr val="B8C0F0"/>
            </a:solidFill>
            <a:prstDash val="solid"/>
          </a:ln>
        </p:spPr>
      </p:sp>
      <p:sp>
        <p:nvSpPr>
          <p:cNvPr id="7" name="connection"/>
          <p:cNvSpPr/>
          <p:nvPr/>
        </p:nvSpPr>
        <p:spPr>
          <a:xfrm>
            <a:off x="868680" y="2057400"/>
            <a:ext cx="1249680" cy="1408176"/>
          </a:xfrm>
          <a:prstGeom prst="line">
            <a:avLst/>
          </a:prstGeom>
          <a:noFill/>
          <a:ln w="9525">
            <a:solidFill>
              <a:srgbClr val="B8C0F0"/>
            </a:solidFill>
            <a:prstDash val="solid"/>
          </a:ln>
        </p:spPr>
      </p:sp>
      <p:sp>
        <p:nvSpPr>
          <p:cNvPr id="8" name="connection"/>
          <p:cNvSpPr/>
          <p:nvPr/>
        </p:nvSpPr>
        <p:spPr>
          <a:xfrm flipV="1">
            <a:off x="868680" y="1929384"/>
            <a:ext cx="1249680" cy="768096"/>
          </a:xfrm>
          <a:prstGeom prst="line">
            <a:avLst/>
          </a:prstGeom>
          <a:noFill/>
          <a:ln w="9525">
            <a:solidFill>
              <a:srgbClr val="B8C0F0"/>
            </a:solidFill>
            <a:prstDash val="solid"/>
          </a:ln>
        </p:spPr>
      </p:sp>
      <p:sp>
        <p:nvSpPr>
          <p:cNvPr id="9" name="connection"/>
          <p:cNvSpPr/>
          <p:nvPr/>
        </p:nvSpPr>
        <p:spPr>
          <a:xfrm flipV="1">
            <a:off x="868680" y="2441448"/>
            <a:ext cx="1249680" cy="256032"/>
          </a:xfrm>
          <a:prstGeom prst="line">
            <a:avLst/>
          </a:prstGeom>
          <a:noFill/>
          <a:ln w="9525">
            <a:solidFill>
              <a:srgbClr val="B8C0F0"/>
            </a:solidFill>
            <a:prstDash val="solid"/>
          </a:ln>
        </p:spPr>
      </p:sp>
      <p:sp>
        <p:nvSpPr>
          <p:cNvPr id="10" name="connection"/>
          <p:cNvSpPr/>
          <p:nvPr/>
        </p:nvSpPr>
        <p:spPr>
          <a:xfrm>
            <a:off x="868680" y="2697480"/>
            <a:ext cx="1249680" cy="256032"/>
          </a:xfrm>
          <a:prstGeom prst="line">
            <a:avLst/>
          </a:prstGeom>
          <a:noFill/>
          <a:ln w="9525">
            <a:solidFill>
              <a:srgbClr val="B8C0F0"/>
            </a:solidFill>
            <a:prstDash val="solid"/>
          </a:ln>
        </p:spPr>
      </p:sp>
      <p:sp>
        <p:nvSpPr>
          <p:cNvPr id="11" name="connection"/>
          <p:cNvSpPr/>
          <p:nvPr/>
        </p:nvSpPr>
        <p:spPr>
          <a:xfrm>
            <a:off x="868680" y="2697480"/>
            <a:ext cx="1249680" cy="768096"/>
          </a:xfrm>
          <a:prstGeom prst="line">
            <a:avLst/>
          </a:prstGeom>
          <a:noFill/>
          <a:ln w="9525">
            <a:solidFill>
              <a:srgbClr val="B8C0F0"/>
            </a:solidFill>
            <a:prstDash val="solid"/>
          </a:ln>
        </p:spPr>
      </p:sp>
      <p:sp>
        <p:nvSpPr>
          <p:cNvPr id="12" name="connection"/>
          <p:cNvSpPr/>
          <p:nvPr/>
        </p:nvSpPr>
        <p:spPr>
          <a:xfrm flipV="1">
            <a:off x="868680" y="1929384"/>
            <a:ext cx="1249680" cy="1408176"/>
          </a:xfrm>
          <a:prstGeom prst="line">
            <a:avLst/>
          </a:prstGeom>
          <a:noFill/>
          <a:ln w="9525">
            <a:solidFill>
              <a:srgbClr val="B8C0F0"/>
            </a:solidFill>
            <a:prstDash val="solid"/>
          </a:ln>
        </p:spPr>
      </p:sp>
      <p:sp>
        <p:nvSpPr>
          <p:cNvPr id="13" name="connection"/>
          <p:cNvSpPr/>
          <p:nvPr/>
        </p:nvSpPr>
        <p:spPr>
          <a:xfrm flipV="1">
            <a:off x="868680" y="2441448"/>
            <a:ext cx="1249680" cy="896112"/>
          </a:xfrm>
          <a:prstGeom prst="line">
            <a:avLst/>
          </a:prstGeom>
          <a:noFill/>
          <a:ln w="9525">
            <a:solidFill>
              <a:srgbClr val="B8C0F0"/>
            </a:solidFill>
            <a:prstDash val="solid"/>
          </a:ln>
        </p:spPr>
      </p:sp>
      <p:sp>
        <p:nvSpPr>
          <p:cNvPr id="14" name="connection"/>
          <p:cNvSpPr/>
          <p:nvPr/>
        </p:nvSpPr>
        <p:spPr>
          <a:xfrm flipV="1">
            <a:off x="868680" y="2953512"/>
            <a:ext cx="1249680" cy="384048"/>
          </a:xfrm>
          <a:prstGeom prst="line">
            <a:avLst/>
          </a:prstGeom>
          <a:noFill/>
          <a:ln w="9525">
            <a:solidFill>
              <a:srgbClr val="B8C0F0"/>
            </a:solidFill>
            <a:prstDash val="solid"/>
          </a:ln>
        </p:spPr>
      </p:sp>
      <p:sp>
        <p:nvSpPr>
          <p:cNvPr id="15" name="connection"/>
          <p:cNvSpPr/>
          <p:nvPr/>
        </p:nvSpPr>
        <p:spPr>
          <a:xfrm>
            <a:off x="868680" y="3337560"/>
            <a:ext cx="1249680" cy="128016"/>
          </a:xfrm>
          <a:prstGeom prst="line">
            <a:avLst/>
          </a:prstGeom>
          <a:noFill/>
          <a:ln w="9525">
            <a:solidFill>
              <a:srgbClr val="B8C0F0"/>
            </a:solidFill>
            <a:prstDash val="solid"/>
          </a:ln>
        </p:spPr>
      </p:sp>
      <p:sp>
        <p:nvSpPr>
          <p:cNvPr id="16" name="connection"/>
          <p:cNvSpPr/>
          <p:nvPr/>
        </p:nvSpPr>
        <p:spPr>
          <a:xfrm>
            <a:off x="2118360" y="1929384"/>
            <a:ext cx="1249680" cy="0"/>
          </a:xfrm>
          <a:prstGeom prst="line">
            <a:avLst/>
          </a:prstGeom>
          <a:noFill/>
          <a:ln w="9525">
            <a:solidFill>
              <a:srgbClr val="B8C0F0"/>
            </a:solidFill>
            <a:prstDash val="solid"/>
          </a:ln>
        </p:spPr>
      </p:sp>
      <p:sp>
        <p:nvSpPr>
          <p:cNvPr id="17" name="connection"/>
          <p:cNvSpPr/>
          <p:nvPr/>
        </p:nvSpPr>
        <p:spPr>
          <a:xfrm>
            <a:off x="2118360" y="1929384"/>
            <a:ext cx="1249680" cy="512064"/>
          </a:xfrm>
          <a:prstGeom prst="line">
            <a:avLst/>
          </a:prstGeom>
          <a:noFill/>
          <a:ln w="9525">
            <a:solidFill>
              <a:srgbClr val="B8C0F0"/>
            </a:solidFill>
            <a:prstDash val="solid"/>
          </a:ln>
        </p:spPr>
      </p:sp>
      <p:sp>
        <p:nvSpPr>
          <p:cNvPr id="18" name="connection"/>
          <p:cNvSpPr/>
          <p:nvPr/>
        </p:nvSpPr>
        <p:spPr>
          <a:xfrm>
            <a:off x="2118360" y="1929384"/>
            <a:ext cx="1249680" cy="1024128"/>
          </a:xfrm>
          <a:prstGeom prst="line">
            <a:avLst/>
          </a:prstGeom>
          <a:noFill/>
          <a:ln w="9525">
            <a:solidFill>
              <a:srgbClr val="B8C0F0"/>
            </a:solidFill>
            <a:prstDash val="solid"/>
          </a:ln>
        </p:spPr>
      </p:sp>
      <p:sp>
        <p:nvSpPr>
          <p:cNvPr id="19" name="connection"/>
          <p:cNvSpPr/>
          <p:nvPr/>
        </p:nvSpPr>
        <p:spPr>
          <a:xfrm>
            <a:off x="2118360" y="1929384"/>
            <a:ext cx="1249680" cy="1536192"/>
          </a:xfrm>
          <a:prstGeom prst="line">
            <a:avLst/>
          </a:prstGeom>
          <a:noFill/>
          <a:ln w="9525">
            <a:solidFill>
              <a:srgbClr val="B8C0F0"/>
            </a:solidFill>
            <a:prstDash val="solid"/>
          </a:ln>
        </p:spPr>
      </p:sp>
      <p:sp>
        <p:nvSpPr>
          <p:cNvPr id="20" name="connection"/>
          <p:cNvSpPr/>
          <p:nvPr/>
        </p:nvSpPr>
        <p:spPr>
          <a:xfrm flipV="1">
            <a:off x="2118360" y="1929384"/>
            <a:ext cx="1249680" cy="512064"/>
          </a:xfrm>
          <a:prstGeom prst="line">
            <a:avLst/>
          </a:prstGeom>
          <a:noFill/>
          <a:ln w="9525">
            <a:solidFill>
              <a:srgbClr val="B8C0F0"/>
            </a:solidFill>
            <a:prstDash val="solid"/>
          </a:ln>
        </p:spPr>
      </p:sp>
      <p:sp>
        <p:nvSpPr>
          <p:cNvPr id="21" name="connection"/>
          <p:cNvSpPr/>
          <p:nvPr/>
        </p:nvSpPr>
        <p:spPr>
          <a:xfrm>
            <a:off x="2118360" y="2441448"/>
            <a:ext cx="1249680" cy="0"/>
          </a:xfrm>
          <a:prstGeom prst="line">
            <a:avLst/>
          </a:prstGeom>
          <a:noFill/>
          <a:ln w="9525">
            <a:solidFill>
              <a:srgbClr val="B8C0F0"/>
            </a:solidFill>
            <a:prstDash val="solid"/>
          </a:ln>
        </p:spPr>
      </p:sp>
      <p:sp>
        <p:nvSpPr>
          <p:cNvPr id="22" name="connection"/>
          <p:cNvSpPr/>
          <p:nvPr/>
        </p:nvSpPr>
        <p:spPr>
          <a:xfrm>
            <a:off x="2118360" y="2441448"/>
            <a:ext cx="1249680" cy="512064"/>
          </a:xfrm>
          <a:prstGeom prst="line">
            <a:avLst/>
          </a:prstGeom>
          <a:noFill/>
          <a:ln w="9525">
            <a:solidFill>
              <a:srgbClr val="B8C0F0"/>
            </a:solidFill>
            <a:prstDash val="solid"/>
          </a:ln>
        </p:spPr>
      </p:sp>
      <p:sp>
        <p:nvSpPr>
          <p:cNvPr id="23" name="connection"/>
          <p:cNvSpPr/>
          <p:nvPr/>
        </p:nvSpPr>
        <p:spPr>
          <a:xfrm>
            <a:off x="2118360" y="2441448"/>
            <a:ext cx="1249680" cy="1024128"/>
          </a:xfrm>
          <a:prstGeom prst="line">
            <a:avLst/>
          </a:prstGeom>
          <a:noFill/>
          <a:ln w="9525">
            <a:solidFill>
              <a:srgbClr val="B8C0F0"/>
            </a:solidFill>
            <a:prstDash val="solid"/>
          </a:ln>
        </p:spPr>
      </p:sp>
      <p:sp>
        <p:nvSpPr>
          <p:cNvPr id="24" name="connection"/>
          <p:cNvSpPr/>
          <p:nvPr/>
        </p:nvSpPr>
        <p:spPr>
          <a:xfrm flipV="1">
            <a:off x="2118360" y="1929384"/>
            <a:ext cx="1249680" cy="1024128"/>
          </a:xfrm>
          <a:prstGeom prst="line">
            <a:avLst/>
          </a:prstGeom>
          <a:noFill/>
          <a:ln w="9525">
            <a:solidFill>
              <a:srgbClr val="B8C0F0"/>
            </a:solidFill>
            <a:prstDash val="solid"/>
          </a:ln>
        </p:spPr>
      </p:sp>
      <p:sp>
        <p:nvSpPr>
          <p:cNvPr id="25" name="connection"/>
          <p:cNvSpPr/>
          <p:nvPr/>
        </p:nvSpPr>
        <p:spPr>
          <a:xfrm flipV="1">
            <a:off x="2118360" y="2441448"/>
            <a:ext cx="1249680" cy="512064"/>
          </a:xfrm>
          <a:prstGeom prst="line">
            <a:avLst/>
          </a:prstGeom>
          <a:noFill/>
          <a:ln w="9525">
            <a:solidFill>
              <a:srgbClr val="B8C0F0"/>
            </a:solidFill>
            <a:prstDash val="solid"/>
          </a:ln>
        </p:spPr>
      </p:sp>
      <p:sp>
        <p:nvSpPr>
          <p:cNvPr id="26" name="connection"/>
          <p:cNvSpPr/>
          <p:nvPr/>
        </p:nvSpPr>
        <p:spPr>
          <a:xfrm>
            <a:off x="2118360" y="2953512"/>
            <a:ext cx="1249680" cy="0"/>
          </a:xfrm>
          <a:prstGeom prst="line">
            <a:avLst/>
          </a:prstGeom>
          <a:noFill/>
          <a:ln w="9525">
            <a:solidFill>
              <a:srgbClr val="B8C0F0"/>
            </a:solidFill>
            <a:prstDash val="solid"/>
          </a:ln>
        </p:spPr>
      </p:sp>
      <p:sp>
        <p:nvSpPr>
          <p:cNvPr id="27" name="connection"/>
          <p:cNvSpPr/>
          <p:nvPr/>
        </p:nvSpPr>
        <p:spPr>
          <a:xfrm>
            <a:off x="2118360" y="2953512"/>
            <a:ext cx="1249680" cy="512064"/>
          </a:xfrm>
          <a:prstGeom prst="line">
            <a:avLst/>
          </a:prstGeom>
          <a:noFill/>
          <a:ln w="9525">
            <a:solidFill>
              <a:srgbClr val="B8C0F0"/>
            </a:solidFill>
            <a:prstDash val="solid"/>
          </a:ln>
        </p:spPr>
      </p:sp>
      <p:sp>
        <p:nvSpPr>
          <p:cNvPr id="28" name="connection"/>
          <p:cNvSpPr/>
          <p:nvPr/>
        </p:nvSpPr>
        <p:spPr>
          <a:xfrm flipV="1">
            <a:off x="2118360" y="1929384"/>
            <a:ext cx="1249680" cy="1536192"/>
          </a:xfrm>
          <a:prstGeom prst="line">
            <a:avLst/>
          </a:prstGeom>
          <a:noFill/>
          <a:ln w="9525">
            <a:solidFill>
              <a:srgbClr val="B8C0F0"/>
            </a:solidFill>
            <a:prstDash val="solid"/>
          </a:ln>
        </p:spPr>
      </p:sp>
      <p:sp>
        <p:nvSpPr>
          <p:cNvPr id="29" name="connection"/>
          <p:cNvSpPr/>
          <p:nvPr/>
        </p:nvSpPr>
        <p:spPr>
          <a:xfrm flipV="1">
            <a:off x="2118360" y="2441448"/>
            <a:ext cx="1249680" cy="1024128"/>
          </a:xfrm>
          <a:prstGeom prst="line">
            <a:avLst/>
          </a:prstGeom>
          <a:noFill/>
          <a:ln w="9525">
            <a:solidFill>
              <a:srgbClr val="B8C0F0"/>
            </a:solidFill>
            <a:prstDash val="solid"/>
          </a:ln>
        </p:spPr>
      </p:sp>
      <p:sp>
        <p:nvSpPr>
          <p:cNvPr id="30" name="connection"/>
          <p:cNvSpPr/>
          <p:nvPr/>
        </p:nvSpPr>
        <p:spPr>
          <a:xfrm flipV="1">
            <a:off x="2118360" y="2953512"/>
            <a:ext cx="1249680" cy="512064"/>
          </a:xfrm>
          <a:prstGeom prst="line">
            <a:avLst/>
          </a:prstGeom>
          <a:noFill/>
          <a:ln w="9525">
            <a:solidFill>
              <a:srgbClr val="B8C0F0"/>
            </a:solidFill>
            <a:prstDash val="solid"/>
          </a:ln>
        </p:spPr>
      </p:sp>
      <p:sp>
        <p:nvSpPr>
          <p:cNvPr id="31" name="connection"/>
          <p:cNvSpPr/>
          <p:nvPr/>
        </p:nvSpPr>
        <p:spPr>
          <a:xfrm>
            <a:off x="2118360" y="3465576"/>
            <a:ext cx="1249680" cy="0"/>
          </a:xfrm>
          <a:prstGeom prst="line">
            <a:avLst/>
          </a:prstGeom>
          <a:noFill/>
          <a:ln w="9525">
            <a:solidFill>
              <a:srgbClr val="B8C0F0"/>
            </a:solidFill>
            <a:prstDash val="solid"/>
          </a:ln>
        </p:spPr>
      </p:sp>
      <p:sp>
        <p:nvSpPr>
          <p:cNvPr id="32" name="connection"/>
          <p:cNvSpPr/>
          <p:nvPr/>
        </p:nvSpPr>
        <p:spPr>
          <a:xfrm>
            <a:off x="3368040" y="1929384"/>
            <a:ext cx="1249680" cy="341376"/>
          </a:xfrm>
          <a:prstGeom prst="line">
            <a:avLst/>
          </a:prstGeom>
          <a:noFill/>
          <a:ln w="9525">
            <a:solidFill>
              <a:srgbClr val="B8C0F0"/>
            </a:solidFill>
            <a:prstDash val="solid"/>
          </a:ln>
        </p:spPr>
      </p:sp>
      <p:sp>
        <p:nvSpPr>
          <p:cNvPr id="33" name="connection"/>
          <p:cNvSpPr/>
          <p:nvPr/>
        </p:nvSpPr>
        <p:spPr>
          <a:xfrm>
            <a:off x="3368040" y="1929384"/>
            <a:ext cx="1249680" cy="1194816"/>
          </a:xfrm>
          <a:prstGeom prst="line">
            <a:avLst/>
          </a:prstGeom>
          <a:noFill/>
          <a:ln w="9525">
            <a:solidFill>
              <a:srgbClr val="B8C0F0"/>
            </a:solidFill>
            <a:prstDash val="solid"/>
          </a:ln>
        </p:spPr>
      </p:sp>
      <p:sp>
        <p:nvSpPr>
          <p:cNvPr id="34" name="connection"/>
          <p:cNvSpPr/>
          <p:nvPr/>
        </p:nvSpPr>
        <p:spPr>
          <a:xfrm flipV="1">
            <a:off x="3368040" y="2270760"/>
            <a:ext cx="1249680" cy="170688"/>
          </a:xfrm>
          <a:prstGeom prst="line">
            <a:avLst/>
          </a:prstGeom>
          <a:noFill/>
          <a:ln w="9525">
            <a:solidFill>
              <a:srgbClr val="B8C0F0"/>
            </a:solidFill>
            <a:prstDash val="solid"/>
          </a:ln>
        </p:spPr>
      </p:sp>
      <p:sp>
        <p:nvSpPr>
          <p:cNvPr id="35" name="connection"/>
          <p:cNvSpPr/>
          <p:nvPr/>
        </p:nvSpPr>
        <p:spPr>
          <a:xfrm>
            <a:off x="3368040" y="2441448"/>
            <a:ext cx="1249680" cy="682752"/>
          </a:xfrm>
          <a:prstGeom prst="line">
            <a:avLst/>
          </a:prstGeom>
          <a:noFill/>
          <a:ln w="9525">
            <a:solidFill>
              <a:srgbClr val="B8C0F0"/>
            </a:solidFill>
            <a:prstDash val="solid"/>
          </a:ln>
        </p:spPr>
      </p:sp>
      <p:sp>
        <p:nvSpPr>
          <p:cNvPr id="36" name="connection"/>
          <p:cNvSpPr/>
          <p:nvPr/>
        </p:nvSpPr>
        <p:spPr>
          <a:xfrm flipV="1">
            <a:off x="3368040" y="2270760"/>
            <a:ext cx="1249680" cy="682752"/>
          </a:xfrm>
          <a:prstGeom prst="line">
            <a:avLst/>
          </a:prstGeom>
          <a:noFill/>
          <a:ln w="9525">
            <a:solidFill>
              <a:srgbClr val="B8C0F0"/>
            </a:solidFill>
            <a:prstDash val="solid"/>
          </a:ln>
        </p:spPr>
      </p:sp>
      <p:sp>
        <p:nvSpPr>
          <p:cNvPr id="37" name="connection"/>
          <p:cNvSpPr/>
          <p:nvPr/>
        </p:nvSpPr>
        <p:spPr>
          <a:xfrm>
            <a:off x="3368040" y="2953512"/>
            <a:ext cx="1249680" cy="170688"/>
          </a:xfrm>
          <a:prstGeom prst="line">
            <a:avLst/>
          </a:prstGeom>
          <a:noFill/>
          <a:ln w="9525">
            <a:solidFill>
              <a:srgbClr val="B8C0F0"/>
            </a:solidFill>
            <a:prstDash val="solid"/>
          </a:ln>
        </p:spPr>
      </p:sp>
      <p:sp>
        <p:nvSpPr>
          <p:cNvPr id="38" name="connection"/>
          <p:cNvSpPr/>
          <p:nvPr/>
        </p:nvSpPr>
        <p:spPr>
          <a:xfrm flipV="1">
            <a:off x="3368040" y="2270760"/>
            <a:ext cx="1249680" cy="1194816"/>
          </a:xfrm>
          <a:prstGeom prst="line">
            <a:avLst/>
          </a:prstGeom>
          <a:noFill/>
          <a:ln w="9525">
            <a:solidFill>
              <a:srgbClr val="B8C0F0"/>
            </a:solidFill>
            <a:prstDash val="solid"/>
          </a:ln>
        </p:spPr>
      </p:sp>
      <p:sp>
        <p:nvSpPr>
          <p:cNvPr id="39" name="connection"/>
          <p:cNvSpPr/>
          <p:nvPr/>
        </p:nvSpPr>
        <p:spPr>
          <a:xfrm flipV="1">
            <a:off x="3368040" y="3124200"/>
            <a:ext cx="1249680" cy="341376"/>
          </a:xfrm>
          <a:prstGeom prst="line">
            <a:avLst/>
          </a:prstGeom>
          <a:noFill/>
          <a:ln w="9525">
            <a:solidFill>
              <a:srgbClr val="B8C0F0"/>
            </a:solidFill>
            <a:prstDash val="solid"/>
          </a:ln>
        </p:spPr>
      </p:sp>
      <p:sp>
        <p:nvSpPr>
          <p:cNvPr id="40" name="neuron"/>
          <p:cNvSpPr/>
          <p:nvPr/>
        </p:nvSpPr>
        <p:spPr>
          <a:xfrm>
            <a:off x="704088" y="1892808"/>
            <a:ext cx="329184" cy="329184"/>
          </a:xfrm>
          <a:prstGeom prst="ellipse">
            <a:avLst/>
          </a:prstGeom>
          <a:solidFill>
            <a:schemeClr val="accent3"/>
          </a:solidFill>
          <a:ln w="19050">
            <a:solidFill>
              <a:schemeClr val="bg1"/>
            </a:solidFill>
            <a:prstDash val="solid"/>
          </a:ln>
        </p:spPr>
      </p:sp>
      <p:sp>
        <p:nvSpPr>
          <p:cNvPr id="41" name="neuron"/>
          <p:cNvSpPr/>
          <p:nvPr/>
        </p:nvSpPr>
        <p:spPr>
          <a:xfrm>
            <a:off x="704088" y="2532888"/>
            <a:ext cx="329184" cy="329184"/>
          </a:xfrm>
          <a:prstGeom prst="ellipse">
            <a:avLst/>
          </a:prstGeom>
          <a:solidFill>
            <a:schemeClr val="accent3"/>
          </a:solidFill>
          <a:ln w="19050">
            <a:solidFill>
              <a:schemeClr val="bg1"/>
            </a:solidFill>
            <a:prstDash val="solid"/>
          </a:ln>
        </p:spPr>
      </p:sp>
      <p:sp>
        <p:nvSpPr>
          <p:cNvPr id="42" name="neuron"/>
          <p:cNvSpPr/>
          <p:nvPr/>
        </p:nvSpPr>
        <p:spPr>
          <a:xfrm>
            <a:off x="704088" y="3172968"/>
            <a:ext cx="329184" cy="329184"/>
          </a:xfrm>
          <a:prstGeom prst="ellipse">
            <a:avLst/>
          </a:prstGeom>
          <a:solidFill>
            <a:schemeClr val="accent3"/>
          </a:solidFill>
          <a:ln w="19050">
            <a:solidFill>
              <a:schemeClr val="bg1"/>
            </a:solidFill>
            <a:prstDash val="solid"/>
          </a:ln>
        </p:spPr>
      </p:sp>
      <p:sp>
        <p:nvSpPr>
          <p:cNvPr id="43" name="neuron"/>
          <p:cNvSpPr/>
          <p:nvPr/>
        </p:nvSpPr>
        <p:spPr>
          <a:xfrm>
            <a:off x="1953768" y="1764792"/>
            <a:ext cx="329184" cy="329184"/>
          </a:xfrm>
          <a:prstGeom prst="ellipse">
            <a:avLst/>
          </a:prstGeom>
          <a:solidFill>
            <a:schemeClr val="accent2"/>
          </a:solidFill>
          <a:ln w="19050">
            <a:solidFill>
              <a:schemeClr val="bg1"/>
            </a:solidFill>
            <a:prstDash val="solid"/>
          </a:ln>
        </p:spPr>
      </p:sp>
      <p:sp>
        <p:nvSpPr>
          <p:cNvPr id="44" name="neuron"/>
          <p:cNvSpPr/>
          <p:nvPr/>
        </p:nvSpPr>
        <p:spPr>
          <a:xfrm>
            <a:off x="1953768" y="2276856"/>
            <a:ext cx="329184" cy="329184"/>
          </a:xfrm>
          <a:prstGeom prst="ellipse">
            <a:avLst/>
          </a:prstGeom>
          <a:solidFill>
            <a:schemeClr val="accent2"/>
          </a:solidFill>
          <a:ln w="19050">
            <a:solidFill>
              <a:schemeClr val="bg1"/>
            </a:solidFill>
            <a:prstDash val="solid"/>
          </a:ln>
        </p:spPr>
      </p:sp>
      <p:sp>
        <p:nvSpPr>
          <p:cNvPr id="45" name="neuron"/>
          <p:cNvSpPr/>
          <p:nvPr/>
        </p:nvSpPr>
        <p:spPr>
          <a:xfrm>
            <a:off x="1953768" y="2788920"/>
            <a:ext cx="329184" cy="329184"/>
          </a:xfrm>
          <a:prstGeom prst="ellipse">
            <a:avLst/>
          </a:prstGeom>
          <a:solidFill>
            <a:schemeClr val="accent2"/>
          </a:solidFill>
          <a:ln w="19050">
            <a:solidFill>
              <a:schemeClr val="bg1"/>
            </a:solidFill>
            <a:prstDash val="solid"/>
          </a:ln>
        </p:spPr>
      </p:sp>
      <p:sp>
        <p:nvSpPr>
          <p:cNvPr id="46" name="neuron"/>
          <p:cNvSpPr/>
          <p:nvPr/>
        </p:nvSpPr>
        <p:spPr>
          <a:xfrm>
            <a:off x="1953768" y="3300984"/>
            <a:ext cx="329184" cy="329184"/>
          </a:xfrm>
          <a:prstGeom prst="ellipse">
            <a:avLst/>
          </a:prstGeom>
          <a:solidFill>
            <a:schemeClr val="accent2"/>
          </a:solidFill>
          <a:ln w="19050">
            <a:solidFill>
              <a:schemeClr val="bg1"/>
            </a:solidFill>
            <a:prstDash val="solid"/>
          </a:ln>
        </p:spPr>
      </p:sp>
      <p:sp>
        <p:nvSpPr>
          <p:cNvPr id="47" name="neuron"/>
          <p:cNvSpPr/>
          <p:nvPr/>
        </p:nvSpPr>
        <p:spPr>
          <a:xfrm>
            <a:off x="3203448" y="1764792"/>
            <a:ext cx="329184" cy="329184"/>
          </a:xfrm>
          <a:prstGeom prst="ellipse">
            <a:avLst/>
          </a:prstGeom>
          <a:solidFill>
            <a:schemeClr val="accent2"/>
          </a:solidFill>
          <a:ln w="19050">
            <a:solidFill>
              <a:schemeClr val="bg1"/>
            </a:solidFill>
            <a:prstDash val="solid"/>
          </a:ln>
        </p:spPr>
      </p:sp>
      <p:sp>
        <p:nvSpPr>
          <p:cNvPr id="48" name="neuron"/>
          <p:cNvSpPr/>
          <p:nvPr/>
        </p:nvSpPr>
        <p:spPr>
          <a:xfrm>
            <a:off x="3203448" y="2276856"/>
            <a:ext cx="329184" cy="329184"/>
          </a:xfrm>
          <a:prstGeom prst="ellipse">
            <a:avLst/>
          </a:prstGeom>
          <a:solidFill>
            <a:schemeClr val="accent2"/>
          </a:solidFill>
          <a:ln w="19050">
            <a:solidFill>
              <a:schemeClr val="bg1"/>
            </a:solidFill>
            <a:prstDash val="solid"/>
          </a:ln>
        </p:spPr>
      </p:sp>
      <p:sp>
        <p:nvSpPr>
          <p:cNvPr id="49" name="neuron"/>
          <p:cNvSpPr/>
          <p:nvPr/>
        </p:nvSpPr>
        <p:spPr>
          <a:xfrm>
            <a:off x="3203448" y="2788920"/>
            <a:ext cx="329184" cy="329184"/>
          </a:xfrm>
          <a:prstGeom prst="ellipse">
            <a:avLst/>
          </a:prstGeom>
          <a:solidFill>
            <a:schemeClr val="accent2"/>
          </a:solidFill>
          <a:ln w="19050">
            <a:solidFill>
              <a:schemeClr val="bg1"/>
            </a:solidFill>
            <a:prstDash val="solid"/>
          </a:ln>
        </p:spPr>
      </p:sp>
      <p:sp>
        <p:nvSpPr>
          <p:cNvPr id="50" name="neuron"/>
          <p:cNvSpPr/>
          <p:nvPr/>
        </p:nvSpPr>
        <p:spPr>
          <a:xfrm>
            <a:off x="3203448" y="3300984"/>
            <a:ext cx="329184" cy="329184"/>
          </a:xfrm>
          <a:prstGeom prst="ellipse">
            <a:avLst/>
          </a:prstGeom>
          <a:solidFill>
            <a:schemeClr val="accent2"/>
          </a:solidFill>
          <a:ln w="19050">
            <a:solidFill>
              <a:schemeClr val="bg1"/>
            </a:solidFill>
            <a:prstDash val="solid"/>
          </a:ln>
        </p:spPr>
      </p:sp>
      <p:sp>
        <p:nvSpPr>
          <p:cNvPr id="51" name="neuron"/>
          <p:cNvSpPr/>
          <p:nvPr/>
        </p:nvSpPr>
        <p:spPr>
          <a:xfrm>
            <a:off x="4453128" y="2106168"/>
            <a:ext cx="329184" cy="329184"/>
          </a:xfrm>
          <a:prstGeom prst="ellipse">
            <a:avLst/>
          </a:prstGeom>
          <a:solidFill>
            <a:schemeClr val="accent5"/>
          </a:solidFill>
          <a:ln w="19050">
            <a:solidFill>
              <a:schemeClr val="bg1"/>
            </a:solidFill>
            <a:prstDash val="solid"/>
          </a:ln>
        </p:spPr>
      </p:sp>
      <p:sp>
        <p:nvSpPr>
          <p:cNvPr id="52" name="neuron"/>
          <p:cNvSpPr/>
          <p:nvPr/>
        </p:nvSpPr>
        <p:spPr>
          <a:xfrm>
            <a:off x="4453128" y="2959608"/>
            <a:ext cx="329184" cy="329184"/>
          </a:xfrm>
          <a:prstGeom prst="ellipse">
            <a:avLst/>
          </a:prstGeom>
          <a:solidFill>
            <a:schemeClr val="accent5"/>
          </a:solidFill>
          <a:ln w="19050">
            <a:solidFill>
              <a:schemeClr val="bg1"/>
            </a:solidFill>
            <a:prstDash val="solid"/>
          </a:ln>
        </p:spPr>
      </p:sp>
      <p:sp>
        <p:nvSpPr>
          <p:cNvPr id="53" name="Text 51"/>
          <p:cNvSpPr txBox="1"/>
          <p:nvPr/>
        </p:nvSpPr>
        <p:spPr>
          <a:xfrm>
            <a:off x="411480" y="4114800"/>
            <a:ext cx="914400" cy="274320"/>
          </a:xfrm>
          <a:prstGeom prst="rect">
            <a:avLst/>
          </a:prstGeom>
          <a:noFill/>
          <a:ln/>
        </p:spPr>
        <p:txBody>
          <a:bodyPr wrap="square" lIns="0" tIns="0" rIns="0" bIns="0" rtlCol="0" anchor="ctr"/>
          <a:lstStyle/>
          <a:p>
            <a:pPr algn="ctr" indent="0" marL="0">
              <a:buNone/>
            </a:pPr>
            <a:r>
              <a:rPr lang="en-US" sz="1400" b="1" dirty="0">
                <a:solidFill>
                  <a:schemeClr val="accent3"/>
                </a:solidFill>
              </a:rPr>
              <a:t>Input</a:t>
            </a:r>
            <a:endParaRPr lang="en-US" sz="1400" dirty="0"/>
          </a:p>
        </p:txBody>
      </p:sp>
      <p:sp>
        <p:nvSpPr>
          <p:cNvPr id="54" name="Text 52"/>
          <p:cNvSpPr txBox="1"/>
          <p:nvPr/>
        </p:nvSpPr>
        <p:spPr>
          <a:xfrm>
            <a:off x="1737360" y="4114800"/>
            <a:ext cx="2011680" cy="274320"/>
          </a:xfrm>
          <a:prstGeom prst="rect">
            <a:avLst/>
          </a:prstGeom>
          <a:noFill/>
          <a:ln/>
        </p:spPr>
        <p:txBody>
          <a:bodyPr wrap="square" lIns="0" tIns="0" rIns="0" bIns="0" rtlCol="0" anchor="ctr"/>
          <a:lstStyle/>
          <a:p>
            <a:pPr algn="ctr" indent="0" marL="0">
              <a:buNone/>
            </a:pPr>
            <a:r>
              <a:rPr lang="en-US" sz="1400" b="1" dirty="0">
                <a:solidFill>
                  <a:schemeClr val="accent2"/>
                </a:solidFill>
              </a:rPr>
              <a:t>Hidden layers</a:t>
            </a:r>
            <a:endParaRPr lang="en-US" sz="1400" dirty="0"/>
          </a:p>
        </p:txBody>
      </p:sp>
      <p:sp>
        <p:nvSpPr>
          <p:cNvPr id="55" name="Text 53"/>
          <p:cNvSpPr txBox="1"/>
          <p:nvPr/>
        </p:nvSpPr>
        <p:spPr>
          <a:xfrm>
            <a:off x="4160520" y="4114800"/>
            <a:ext cx="914400" cy="274320"/>
          </a:xfrm>
          <a:prstGeom prst="rect">
            <a:avLst/>
          </a:prstGeom>
          <a:noFill/>
          <a:ln/>
        </p:spPr>
        <p:txBody>
          <a:bodyPr wrap="square" lIns="0" tIns="0" rIns="0" bIns="0" rtlCol="0" anchor="ctr"/>
          <a:lstStyle/>
          <a:p>
            <a:pPr algn="ctr" indent="0" marL="0">
              <a:buNone/>
            </a:pPr>
            <a:r>
              <a:rPr lang="en-US" sz="1400" b="1" dirty="0">
                <a:solidFill>
                  <a:schemeClr val="accent5"/>
                </a:solidFill>
              </a:rPr>
              <a:t>Output</a:t>
            </a:r>
            <a:endParaRPr lang="en-US" sz="1400" dirty="0"/>
          </a:p>
        </p:txBody>
      </p:sp>
      <p:sp>
        <p:nvSpPr>
          <p:cNvPr id="56" name="card"/>
          <p:cNvSpPr/>
          <p:nvPr/>
        </p:nvSpPr>
        <p:spPr>
          <a:xfrm>
            <a:off x="5257800" y="1188720"/>
            <a:ext cx="3429000" cy="804672"/>
          </a:xfrm>
          <a:prstGeom prst="roundRect">
            <a:avLst>
              <a:gd name="adj" fmla="val 1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7" name="icon badge"/>
          <p:cNvSpPr/>
          <p:nvPr/>
        </p:nvSpPr>
        <p:spPr>
          <a:xfrm>
            <a:off x="5394960" y="1344168"/>
            <a:ext cx="493776" cy="493776"/>
          </a:xfrm>
          <a:prstGeom prst="ellipse">
            <a:avLst/>
          </a:prstGeom>
          <a:solidFill>
            <a:schemeClr val="accent3"/>
          </a:solidFill>
          <a:ln w="12700">
            <a:solidFill>
              <a:schemeClr val="accent3"/>
            </a:solidFill>
            <a:prstDash val="solid"/>
          </a:ln>
        </p:spPr>
      </p:sp>
      <p:pic>
        <p:nvPicPr>
          <p:cNvPr id="58" name="Image 0" descr="eye icon">    </p:cNvPr>
          <p:cNvPicPr>
            <a:picLocks noChangeAspect="1"/>
          </p:cNvPicPr>
          <p:nvPr/>
        </p:nvPicPr>
        <p:blipFill>
          <a:blip r:embed="rId1"/>
          <a:stretch>
            <a:fillRect/>
          </a:stretch>
        </p:blipFill>
        <p:spPr>
          <a:xfrm>
            <a:off x="5518404" y="1467612"/>
            <a:ext cx="246888" cy="246888"/>
          </a:xfrm>
          <a:prstGeom prst="rect">
            <a:avLst/>
          </a:prstGeom>
        </p:spPr>
      </p:pic>
      <p:sp>
        <p:nvSpPr>
          <p:cNvPr id="59" name="Text 56"/>
          <p:cNvSpPr txBox="1"/>
          <p:nvPr/>
        </p:nvSpPr>
        <p:spPr>
          <a:xfrm>
            <a:off x="6035040" y="1261872"/>
            <a:ext cx="2560320" cy="274320"/>
          </a:xfrm>
          <a:prstGeom prst="rect">
            <a:avLst/>
          </a:prstGeom>
          <a:noFill/>
          <a:ln/>
        </p:spPr>
        <p:txBody>
          <a:bodyPr wrap="square" lIns="0" tIns="0" rIns="0" bIns="0" rtlCol="0" anchor="ctr"/>
          <a:lstStyle/>
          <a:p>
            <a:pPr indent="0" marL="0">
              <a:buNone/>
            </a:pPr>
            <a:r>
              <a:rPr lang="en-US" sz="1400" b="1" dirty="0">
                <a:solidFill>
                  <a:schemeClr val="tx1"/>
                </a:solidFill>
              </a:rPr>
              <a:t>Input layer</a:t>
            </a:r>
            <a:endParaRPr lang="en-US" sz="1400" dirty="0"/>
          </a:p>
        </p:txBody>
      </p:sp>
      <p:sp>
        <p:nvSpPr>
          <p:cNvPr id="60" name="Text 57"/>
          <p:cNvSpPr txBox="1"/>
          <p:nvPr/>
        </p:nvSpPr>
        <p:spPr>
          <a:xfrm>
            <a:off x="6035040" y="1554480"/>
            <a:ext cx="2560320" cy="411480"/>
          </a:xfrm>
          <a:prstGeom prst="rect">
            <a:avLst/>
          </a:prstGeom>
          <a:noFill/>
          <a:ln/>
        </p:spPr>
        <p:txBody>
          <a:bodyPr wrap="square" lIns="0" tIns="0" rIns="0" bIns="0" rtlCol="0" anchor="t"/>
          <a:lstStyle/>
          <a:p>
            <a:pPr indent="0" marL="0">
              <a:buNone/>
            </a:pPr>
            <a:r>
              <a:rPr lang="en-US" sz="1200" dirty="0">
                <a:solidFill>
                  <a:schemeClr val="tx2"/>
                </a:solidFill>
              </a:rPr>
              <a:t>Receives raw data: pixels, words, numbers</a:t>
            </a:r>
            <a:endParaRPr lang="en-US" sz="1200" dirty="0"/>
          </a:p>
        </p:txBody>
      </p:sp>
      <p:sp>
        <p:nvSpPr>
          <p:cNvPr id="61" name="card"/>
          <p:cNvSpPr/>
          <p:nvPr/>
        </p:nvSpPr>
        <p:spPr>
          <a:xfrm>
            <a:off x="5257800" y="2103120"/>
            <a:ext cx="3429000" cy="804672"/>
          </a:xfrm>
          <a:prstGeom prst="roundRect">
            <a:avLst>
              <a:gd name="adj" fmla="val 1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2" name="icon badge"/>
          <p:cNvSpPr/>
          <p:nvPr/>
        </p:nvSpPr>
        <p:spPr>
          <a:xfrm>
            <a:off x="5394960" y="2258568"/>
            <a:ext cx="493776" cy="493776"/>
          </a:xfrm>
          <a:prstGeom prst="ellipse">
            <a:avLst/>
          </a:prstGeom>
          <a:solidFill>
            <a:schemeClr val="accent2"/>
          </a:solidFill>
          <a:ln w="12700">
            <a:solidFill>
              <a:schemeClr val="accent2"/>
            </a:solidFill>
            <a:prstDash val="solid"/>
          </a:ln>
        </p:spPr>
      </p:sp>
      <p:pic>
        <p:nvPicPr>
          <p:cNvPr id="63" name="Image 1" descr="layers icon">    </p:cNvPr>
          <p:cNvPicPr>
            <a:picLocks noChangeAspect="1"/>
          </p:cNvPicPr>
          <p:nvPr/>
        </p:nvPicPr>
        <p:blipFill>
          <a:blip r:embed="rId2"/>
          <a:stretch>
            <a:fillRect/>
          </a:stretch>
        </p:blipFill>
        <p:spPr>
          <a:xfrm>
            <a:off x="5518404" y="2382012"/>
            <a:ext cx="246888" cy="246888"/>
          </a:xfrm>
          <a:prstGeom prst="rect">
            <a:avLst/>
          </a:prstGeom>
        </p:spPr>
      </p:pic>
      <p:sp>
        <p:nvSpPr>
          <p:cNvPr id="64" name="Text 60"/>
          <p:cNvSpPr txBox="1"/>
          <p:nvPr/>
        </p:nvSpPr>
        <p:spPr>
          <a:xfrm>
            <a:off x="6035040" y="2176272"/>
            <a:ext cx="2560320" cy="274320"/>
          </a:xfrm>
          <a:prstGeom prst="rect">
            <a:avLst/>
          </a:prstGeom>
          <a:noFill/>
          <a:ln/>
        </p:spPr>
        <p:txBody>
          <a:bodyPr wrap="square" lIns="0" tIns="0" rIns="0" bIns="0" rtlCol="0" anchor="ctr"/>
          <a:lstStyle/>
          <a:p>
            <a:pPr indent="0" marL="0">
              <a:buNone/>
            </a:pPr>
            <a:r>
              <a:rPr lang="en-US" sz="1400" b="1" dirty="0">
                <a:solidFill>
                  <a:schemeClr val="tx1"/>
                </a:solidFill>
              </a:rPr>
              <a:t>Hidden layers</a:t>
            </a:r>
            <a:endParaRPr lang="en-US" sz="1400" dirty="0"/>
          </a:p>
        </p:txBody>
      </p:sp>
      <p:sp>
        <p:nvSpPr>
          <p:cNvPr id="65" name="Text 61"/>
          <p:cNvSpPr txBox="1"/>
          <p:nvPr/>
        </p:nvSpPr>
        <p:spPr>
          <a:xfrm>
            <a:off x="6035040" y="2468880"/>
            <a:ext cx="2560320" cy="411480"/>
          </a:xfrm>
          <a:prstGeom prst="rect">
            <a:avLst/>
          </a:prstGeom>
          <a:noFill/>
          <a:ln/>
        </p:spPr>
        <p:txBody>
          <a:bodyPr wrap="square" lIns="0" tIns="0" rIns="0" bIns="0" rtlCol="0" anchor="t"/>
          <a:lstStyle/>
          <a:p>
            <a:pPr indent="0" marL="0">
              <a:buNone/>
            </a:pPr>
            <a:r>
              <a:rPr lang="en-US" sz="1200" dirty="0">
                <a:solidFill>
                  <a:schemeClr val="tx2"/>
                </a:solidFill>
              </a:rPr>
              <a:t>Find patterns, layer by layer</a:t>
            </a:r>
            <a:endParaRPr lang="en-US" sz="1200" dirty="0"/>
          </a:p>
        </p:txBody>
      </p:sp>
      <p:sp>
        <p:nvSpPr>
          <p:cNvPr id="66" name="card"/>
          <p:cNvSpPr/>
          <p:nvPr/>
        </p:nvSpPr>
        <p:spPr>
          <a:xfrm>
            <a:off x="5257800" y="3017520"/>
            <a:ext cx="3429000" cy="804672"/>
          </a:xfrm>
          <a:prstGeom prst="roundRect">
            <a:avLst>
              <a:gd name="adj" fmla="val 1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7" name="icon badge"/>
          <p:cNvSpPr/>
          <p:nvPr/>
        </p:nvSpPr>
        <p:spPr>
          <a:xfrm>
            <a:off x="5394960" y="3172968"/>
            <a:ext cx="493776" cy="493776"/>
          </a:xfrm>
          <a:prstGeom prst="ellipse">
            <a:avLst/>
          </a:prstGeom>
          <a:solidFill>
            <a:schemeClr val="accent5"/>
          </a:solidFill>
          <a:ln w="12700">
            <a:solidFill>
              <a:schemeClr val="accent5"/>
            </a:solidFill>
            <a:prstDash val="solid"/>
          </a:ln>
        </p:spPr>
      </p:sp>
      <p:pic>
        <p:nvPicPr>
          <p:cNvPr id="68" name="Image 2" descr="bullseye icon">    </p:cNvPr>
          <p:cNvPicPr>
            <a:picLocks noChangeAspect="1"/>
          </p:cNvPicPr>
          <p:nvPr/>
        </p:nvPicPr>
        <p:blipFill>
          <a:blip r:embed="rId3"/>
          <a:stretch>
            <a:fillRect/>
          </a:stretch>
        </p:blipFill>
        <p:spPr>
          <a:xfrm>
            <a:off x="5518404" y="3296412"/>
            <a:ext cx="246888" cy="246888"/>
          </a:xfrm>
          <a:prstGeom prst="rect">
            <a:avLst/>
          </a:prstGeom>
        </p:spPr>
      </p:pic>
      <p:sp>
        <p:nvSpPr>
          <p:cNvPr id="69" name="Text 64"/>
          <p:cNvSpPr txBox="1"/>
          <p:nvPr/>
        </p:nvSpPr>
        <p:spPr>
          <a:xfrm>
            <a:off x="6035040" y="3090672"/>
            <a:ext cx="2560320" cy="274320"/>
          </a:xfrm>
          <a:prstGeom prst="rect">
            <a:avLst/>
          </a:prstGeom>
          <a:noFill/>
          <a:ln/>
        </p:spPr>
        <p:txBody>
          <a:bodyPr wrap="square" lIns="0" tIns="0" rIns="0" bIns="0" rtlCol="0" anchor="ctr"/>
          <a:lstStyle/>
          <a:p>
            <a:pPr indent="0" marL="0">
              <a:buNone/>
            </a:pPr>
            <a:r>
              <a:rPr lang="en-US" sz="1400" b="1" dirty="0">
                <a:solidFill>
                  <a:schemeClr val="tx1"/>
                </a:solidFill>
              </a:rPr>
              <a:t>Output layer</a:t>
            </a:r>
            <a:endParaRPr lang="en-US" sz="1400" dirty="0"/>
          </a:p>
        </p:txBody>
      </p:sp>
      <p:sp>
        <p:nvSpPr>
          <p:cNvPr id="70" name="Text 65"/>
          <p:cNvSpPr txBox="1"/>
          <p:nvPr/>
        </p:nvSpPr>
        <p:spPr>
          <a:xfrm>
            <a:off x="6035040" y="3383280"/>
            <a:ext cx="2560320" cy="411480"/>
          </a:xfrm>
          <a:prstGeom prst="rect">
            <a:avLst/>
          </a:prstGeom>
          <a:noFill/>
          <a:ln/>
        </p:spPr>
        <p:txBody>
          <a:bodyPr wrap="square" lIns="0" tIns="0" rIns="0" bIns="0" rtlCol="0" anchor="t"/>
          <a:lstStyle/>
          <a:p>
            <a:pPr indent="0" marL="0">
              <a:buNone/>
            </a:pPr>
            <a:r>
              <a:rPr lang="en-US" sz="1200" dirty="0">
                <a:solidFill>
                  <a:schemeClr val="tx2"/>
                </a:solidFill>
              </a:rPr>
              <a:t>Gives the answer or prediction</a:t>
            </a:r>
            <a:endParaRPr lang="en-US" sz="1200" dirty="0"/>
          </a:p>
        </p:txBody>
      </p:sp>
      <p:sp>
        <p:nvSpPr>
          <p:cNvPr id="71" name="brain note"/>
          <p:cNvSpPr/>
          <p:nvPr/>
        </p:nvSpPr>
        <p:spPr>
          <a:xfrm>
            <a:off x="5257800" y="3931920"/>
            <a:ext cx="3429000" cy="640080"/>
          </a:xfrm>
          <a:prstGeom prst="roundRect">
            <a:avLst>
              <a:gd name="adj" fmla="val 17143"/>
            </a:avLst>
          </a:prstGeom>
          <a:solidFill>
            <a:schemeClr val="tx1"/>
          </a:solidFill>
          <a:ln w="12700">
            <a:solidFill>
              <a:schemeClr val="tx1"/>
            </a:solidFill>
            <a:prstDash val="solid"/>
          </a:ln>
        </p:spPr>
      </p:sp>
      <p:pic>
        <p:nvPicPr>
          <p:cNvPr id="72" name="Image 3" descr="brain">    </p:cNvPr>
          <p:cNvPicPr>
            <a:picLocks noChangeAspect="1"/>
          </p:cNvPicPr>
          <p:nvPr/>
        </p:nvPicPr>
        <p:blipFill>
          <a:blip r:embed="rId4"/>
          <a:stretch>
            <a:fillRect/>
          </a:stretch>
        </p:blipFill>
        <p:spPr>
          <a:xfrm>
            <a:off x="5440680" y="4087368"/>
            <a:ext cx="329184" cy="329184"/>
          </a:xfrm>
          <a:prstGeom prst="rect">
            <a:avLst/>
          </a:prstGeom>
        </p:spPr>
      </p:pic>
      <p:sp>
        <p:nvSpPr>
          <p:cNvPr id="73" name="Text 67"/>
          <p:cNvSpPr txBox="1"/>
          <p:nvPr/>
        </p:nvSpPr>
        <p:spPr>
          <a:xfrm>
            <a:off x="5897880" y="3931920"/>
            <a:ext cx="2697480" cy="640080"/>
          </a:xfrm>
          <a:prstGeom prst="rect">
            <a:avLst/>
          </a:prstGeom>
          <a:noFill/>
          <a:ln/>
        </p:spPr>
        <p:txBody>
          <a:bodyPr wrap="square" lIns="0" tIns="0" rIns="0" bIns="0" rtlCol="0" anchor="ctr"/>
          <a:lstStyle/>
          <a:p>
            <a:pPr indent="0" marL="0">
              <a:buNone/>
            </a:pPr>
            <a:r>
              <a:rPr lang="en-US" sz="1400" b="1" dirty="0">
                <a:solidFill>
                  <a:schemeClr val="bg1"/>
                </a:solidFill>
              </a:rPr>
              <a:t>Inspired by brain neurons passing signals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Deep learning algorithms</a:t>
            </a:r>
            <a:endParaRPr lang="en-US" sz="3400" dirty="0"/>
          </a:p>
        </p:txBody>
      </p:sp>
      <p:sp>
        <p:nvSpPr>
          <p:cNvPr id="3" name="card"/>
          <p:cNvSpPr/>
          <p:nvPr/>
        </p:nvSpPr>
        <p:spPr>
          <a:xfrm>
            <a:off x="457200" y="1188720"/>
            <a:ext cx="1874520" cy="320040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1115568" y="1325880"/>
            <a:ext cx="548640" cy="548640"/>
          </a:xfrm>
          <a:prstGeom prst="ellipse">
            <a:avLst/>
          </a:prstGeom>
          <a:solidFill>
            <a:schemeClr val="accent1"/>
          </a:solidFill>
          <a:ln w="12700">
            <a:solidFill>
              <a:schemeClr val="accent1"/>
            </a:solidFill>
            <a:prstDash val="solid"/>
          </a:ln>
        </p:spPr>
      </p:sp>
      <p:pic>
        <p:nvPicPr>
          <p:cNvPr id="5" name="Image 0" descr="eye icon">    </p:cNvPr>
          <p:cNvPicPr>
            <a:picLocks noChangeAspect="1"/>
          </p:cNvPicPr>
          <p:nvPr/>
        </p:nvPicPr>
        <p:blipFill>
          <a:blip r:embed="rId1"/>
          <a:stretch>
            <a:fillRect/>
          </a:stretch>
        </p:blipFill>
        <p:spPr>
          <a:xfrm>
            <a:off x="1252728" y="1463040"/>
            <a:ext cx="274320" cy="274320"/>
          </a:xfrm>
          <a:prstGeom prst="rect">
            <a:avLst/>
          </a:prstGeom>
        </p:spPr>
      </p:pic>
      <p:sp>
        <p:nvSpPr>
          <p:cNvPr id="6" name="Text 3"/>
          <p:cNvSpPr txBox="1"/>
          <p:nvPr/>
        </p:nvSpPr>
        <p:spPr>
          <a:xfrm>
            <a:off x="457200" y="1965960"/>
            <a:ext cx="1874520" cy="365760"/>
          </a:xfrm>
          <a:prstGeom prst="rect">
            <a:avLst/>
          </a:prstGeom>
          <a:noFill/>
          <a:ln/>
        </p:spPr>
        <p:txBody>
          <a:bodyPr wrap="square" lIns="0" tIns="0" rIns="0" bIns="0" rtlCol="0" anchor="ctr"/>
          <a:lstStyle/>
          <a:p>
            <a:pPr algn="ctr" indent="0" marL="0">
              <a:buNone/>
            </a:pPr>
            <a:r>
              <a:rPr lang="en-US" sz="1800" b="1" dirty="0">
                <a:solidFill>
                  <a:schemeClr val="tx1"/>
                </a:solidFill>
              </a:rPr>
              <a:t>CNN</a:t>
            </a:r>
            <a:endParaRPr lang="en-US" sz="1800" dirty="0"/>
          </a:p>
        </p:txBody>
      </p:sp>
      <p:sp>
        <p:nvSpPr>
          <p:cNvPr id="7" name="Text 4"/>
          <p:cNvSpPr txBox="1"/>
          <p:nvPr/>
        </p:nvSpPr>
        <p:spPr>
          <a:xfrm>
            <a:off x="548640" y="2331720"/>
            <a:ext cx="1691640" cy="457200"/>
          </a:xfrm>
          <a:prstGeom prst="rect">
            <a:avLst/>
          </a:prstGeom>
          <a:noFill/>
          <a:ln/>
        </p:spPr>
        <p:txBody>
          <a:bodyPr wrap="square" lIns="0" tIns="0" rIns="0" bIns="0" rtlCol="0" anchor="t"/>
          <a:lstStyle/>
          <a:p>
            <a:pPr algn="ctr" indent="0" marL="0">
              <a:buNone/>
            </a:pPr>
            <a:r>
              <a:rPr lang="en-US" sz="1200" dirty="0">
                <a:solidFill>
                  <a:schemeClr val="tx2"/>
                </a:solidFill>
              </a:rPr>
              <a:t>Convolutional Neural Network</a:t>
            </a:r>
            <a:endParaRPr lang="en-US" sz="1200" dirty="0"/>
          </a:p>
        </p:txBody>
      </p:sp>
      <p:sp>
        <p:nvSpPr>
          <p:cNvPr id="8" name="Text 5"/>
          <p:cNvSpPr txBox="1"/>
          <p:nvPr/>
        </p:nvSpPr>
        <p:spPr>
          <a:xfrm>
            <a:off x="640080" y="288036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USED FOR</a:t>
            </a:r>
            <a:endParaRPr lang="en-US" sz="1100" dirty="0"/>
          </a:p>
        </p:txBody>
      </p:sp>
      <p:sp>
        <p:nvSpPr>
          <p:cNvPr id="9" name="Text 6"/>
          <p:cNvSpPr txBox="1"/>
          <p:nvPr/>
        </p:nvSpPr>
        <p:spPr>
          <a:xfrm>
            <a:off x="640080" y="3108960"/>
            <a:ext cx="160020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Object detection</a:t>
            </a:r>
            <a:endParaRPr lang="en-US" sz="1400" dirty="0"/>
          </a:p>
          <a:p>
            <a:pPr marL="342900" indent="-342900">
              <a:spcAft>
                <a:spcPts val="400"/>
              </a:spcAft>
              <a:buSzPct val="100000"/>
              <a:buChar char="•"/>
            </a:pPr>
            <a:r>
              <a:rPr lang="en-US" sz="1400" dirty="0">
                <a:solidFill>
                  <a:schemeClr val="tx1"/>
                </a:solidFill>
              </a:rPr>
              <a:t>Face recognition</a:t>
            </a:r>
            <a:endParaRPr lang="en-US" sz="1400" dirty="0"/>
          </a:p>
          <a:p>
            <a:pPr marL="342900" indent="-342900">
              <a:spcAft>
                <a:spcPts val="400"/>
              </a:spcAft>
              <a:buSzPct val="100000"/>
              <a:buChar char="•"/>
            </a:pPr>
            <a:r>
              <a:rPr lang="en-US" sz="1400" dirty="0">
                <a:solidFill>
                  <a:schemeClr val="tx1"/>
                </a:solidFill>
              </a:rPr>
              <a:t>Medical imaging</a:t>
            </a:r>
            <a:endParaRPr lang="en-US" sz="1400" dirty="0"/>
          </a:p>
        </p:txBody>
      </p:sp>
      <p:sp>
        <p:nvSpPr>
          <p:cNvPr id="10" name="card"/>
          <p:cNvSpPr/>
          <p:nvPr/>
        </p:nvSpPr>
        <p:spPr>
          <a:xfrm>
            <a:off x="2587752" y="1188720"/>
            <a:ext cx="1874520" cy="320040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icon badge"/>
          <p:cNvSpPr/>
          <p:nvPr/>
        </p:nvSpPr>
        <p:spPr>
          <a:xfrm>
            <a:off x="3246120" y="1325880"/>
            <a:ext cx="548640" cy="548640"/>
          </a:xfrm>
          <a:prstGeom prst="ellipse">
            <a:avLst/>
          </a:prstGeom>
          <a:solidFill>
            <a:schemeClr val="accent2"/>
          </a:solidFill>
          <a:ln w="12700">
            <a:solidFill>
              <a:schemeClr val="accent2"/>
            </a:solidFill>
            <a:prstDash val="solid"/>
          </a:ln>
        </p:spPr>
      </p:sp>
      <p:pic>
        <p:nvPicPr>
          <p:cNvPr id="12" name="Image 1" descr="sync icon">    </p:cNvPr>
          <p:cNvPicPr>
            <a:picLocks noChangeAspect="1"/>
          </p:cNvPicPr>
          <p:nvPr/>
        </p:nvPicPr>
        <p:blipFill>
          <a:blip r:embed="rId2"/>
          <a:stretch>
            <a:fillRect/>
          </a:stretch>
        </p:blipFill>
        <p:spPr>
          <a:xfrm>
            <a:off x="3383280" y="1463040"/>
            <a:ext cx="274320" cy="274320"/>
          </a:xfrm>
          <a:prstGeom prst="rect">
            <a:avLst/>
          </a:prstGeom>
        </p:spPr>
      </p:pic>
      <p:sp>
        <p:nvSpPr>
          <p:cNvPr id="13" name="Text 9"/>
          <p:cNvSpPr txBox="1"/>
          <p:nvPr/>
        </p:nvSpPr>
        <p:spPr>
          <a:xfrm>
            <a:off x="2587752" y="1965960"/>
            <a:ext cx="1874520" cy="365760"/>
          </a:xfrm>
          <a:prstGeom prst="rect">
            <a:avLst/>
          </a:prstGeom>
          <a:noFill/>
          <a:ln/>
        </p:spPr>
        <p:txBody>
          <a:bodyPr wrap="square" lIns="0" tIns="0" rIns="0" bIns="0" rtlCol="0" anchor="ctr"/>
          <a:lstStyle/>
          <a:p>
            <a:pPr algn="ctr" indent="0" marL="0">
              <a:buNone/>
            </a:pPr>
            <a:r>
              <a:rPr lang="en-US" sz="1800" b="1" dirty="0">
                <a:solidFill>
                  <a:schemeClr val="tx1"/>
                </a:solidFill>
              </a:rPr>
              <a:t>RNN</a:t>
            </a:r>
            <a:endParaRPr lang="en-US" sz="1800" dirty="0"/>
          </a:p>
        </p:txBody>
      </p:sp>
      <p:sp>
        <p:nvSpPr>
          <p:cNvPr id="14" name="Text 10"/>
          <p:cNvSpPr txBox="1"/>
          <p:nvPr/>
        </p:nvSpPr>
        <p:spPr>
          <a:xfrm>
            <a:off x="2679192" y="2331720"/>
            <a:ext cx="1691640" cy="457200"/>
          </a:xfrm>
          <a:prstGeom prst="rect">
            <a:avLst/>
          </a:prstGeom>
          <a:noFill/>
          <a:ln/>
        </p:spPr>
        <p:txBody>
          <a:bodyPr wrap="square" lIns="0" tIns="0" rIns="0" bIns="0" rtlCol="0" anchor="t"/>
          <a:lstStyle/>
          <a:p>
            <a:pPr algn="ctr" indent="0" marL="0">
              <a:buNone/>
            </a:pPr>
            <a:r>
              <a:rPr lang="en-US" sz="1200" dirty="0">
                <a:solidFill>
                  <a:schemeClr val="tx2"/>
                </a:solidFill>
              </a:rPr>
              <a:t>Recurrent Neural Network</a:t>
            </a:r>
            <a:endParaRPr lang="en-US" sz="1200" dirty="0"/>
          </a:p>
        </p:txBody>
      </p:sp>
      <p:sp>
        <p:nvSpPr>
          <p:cNvPr id="15" name="Text 11"/>
          <p:cNvSpPr txBox="1"/>
          <p:nvPr/>
        </p:nvSpPr>
        <p:spPr>
          <a:xfrm>
            <a:off x="2770632" y="2880360"/>
            <a:ext cx="1554480" cy="228600"/>
          </a:xfrm>
          <a:prstGeom prst="rect">
            <a:avLst/>
          </a:prstGeom>
          <a:noFill/>
          <a:ln/>
        </p:spPr>
        <p:txBody>
          <a:bodyPr wrap="square" lIns="0" tIns="0" rIns="0" bIns="0" rtlCol="0" anchor="ctr"/>
          <a:lstStyle/>
          <a:p>
            <a:pPr indent="0" marL="0">
              <a:buNone/>
            </a:pPr>
            <a:r>
              <a:rPr lang="en-US" sz="1100" b="1" dirty="0">
                <a:solidFill>
                  <a:schemeClr val="accent2"/>
                </a:solidFill>
              </a:rPr>
              <a:t>USED FOR</a:t>
            </a:r>
            <a:endParaRPr lang="en-US" sz="1100" dirty="0"/>
          </a:p>
        </p:txBody>
      </p:sp>
      <p:sp>
        <p:nvSpPr>
          <p:cNvPr id="16" name="Text 12"/>
          <p:cNvSpPr txBox="1"/>
          <p:nvPr/>
        </p:nvSpPr>
        <p:spPr>
          <a:xfrm>
            <a:off x="2770632" y="3108960"/>
            <a:ext cx="160020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Speech recognition</a:t>
            </a:r>
            <a:endParaRPr lang="en-US" sz="1400" dirty="0"/>
          </a:p>
          <a:p>
            <a:pPr marL="342900" indent="-342900">
              <a:spcAft>
                <a:spcPts val="400"/>
              </a:spcAft>
              <a:buSzPct val="100000"/>
              <a:buChar char="•"/>
            </a:pPr>
            <a:r>
              <a:rPr lang="en-US" sz="1400" dirty="0">
                <a:solidFill>
                  <a:schemeClr val="tx1"/>
                </a:solidFill>
              </a:rPr>
              <a:t>Language translation</a:t>
            </a:r>
            <a:endParaRPr lang="en-US" sz="1400" dirty="0"/>
          </a:p>
        </p:txBody>
      </p:sp>
      <p:sp>
        <p:nvSpPr>
          <p:cNvPr id="17" name="card"/>
          <p:cNvSpPr/>
          <p:nvPr/>
        </p:nvSpPr>
        <p:spPr>
          <a:xfrm>
            <a:off x="4718304" y="1188720"/>
            <a:ext cx="1874520" cy="320040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8" name="icon badge"/>
          <p:cNvSpPr/>
          <p:nvPr/>
        </p:nvSpPr>
        <p:spPr>
          <a:xfrm>
            <a:off x="5376672" y="1325880"/>
            <a:ext cx="548640" cy="548640"/>
          </a:xfrm>
          <a:prstGeom prst="ellipse">
            <a:avLst/>
          </a:prstGeom>
          <a:solidFill>
            <a:schemeClr val="accent3"/>
          </a:solidFill>
          <a:ln w="12700">
            <a:solidFill>
              <a:schemeClr val="accent3"/>
            </a:solidFill>
            <a:prstDash val="solid"/>
          </a:ln>
        </p:spPr>
      </p:sp>
      <p:pic>
        <p:nvPicPr>
          <p:cNvPr id="19" name="Image 2" descr="clock icon">    </p:cNvPr>
          <p:cNvPicPr>
            <a:picLocks noChangeAspect="1"/>
          </p:cNvPicPr>
          <p:nvPr/>
        </p:nvPicPr>
        <p:blipFill>
          <a:blip r:embed="rId3"/>
          <a:stretch>
            <a:fillRect/>
          </a:stretch>
        </p:blipFill>
        <p:spPr>
          <a:xfrm>
            <a:off x="5513832" y="1463040"/>
            <a:ext cx="274320" cy="274320"/>
          </a:xfrm>
          <a:prstGeom prst="rect">
            <a:avLst/>
          </a:prstGeom>
        </p:spPr>
      </p:pic>
      <p:sp>
        <p:nvSpPr>
          <p:cNvPr id="20" name="Text 15"/>
          <p:cNvSpPr txBox="1"/>
          <p:nvPr/>
        </p:nvSpPr>
        <p:spPr>
          <a:xfrm>
            <a:off x="4718304" y="1965960"/>
            <a:ext cx="1874520" cy="365760"/>
          </a:xfrm>
          <a:prstGeom prst="rect">
            <a:avLst/>
          </a:prstGeom>
          <a:noFill/>
          <a:ln/>
        </p:spPr>
        <p:txBody>
          <a:bodyPr wrap="square" lIns="0" tIns="0" rIns="0" bIns="0" rtlCol="0" anchor="ctr"/>
          <a:lstStyle/>
          <a:p>
            <a:pPr algn="ctr" indent="0" marL="0">
              <a:buNone/>
            </a:pPr>
            <a:r>
              <a:rPr lang="en-US" sz="1800" b="1" dirty="0">
                <a:solidFill>
                  <a:schemeClr val="tx1"/>
                </a:solidFill>
              </a:rPr>
              <a:t>LSTM</a:t>
            </a:r>
            <a:endParaRPr lang="en-US" sz="1800" dirty="0"/>
          </a:p>
        </p:txBody>
      </p:sp>
      <p:sp>
        <p:nvSpPr>
          <p:cNvPr id="21" name="Text 16"/>
          <p:cNvSpPr txBox="1"/>
          <p:nvPr/>
        </p:nvSpPr>
        <p:spPr>
          <a:xfrm>
            <a:off x="4809744" y="2331720"/>
            <a:ext cx="1691640" cy="457200"/>
          </a:xfrm>
          <a:prstGeom prst="rect">
            <a:avLst/>
          </a:prstGeom>
          <a:noFill/>
          <a:ln/>
        </p:spPr>
        <p:txBody>
          <a:bodyPr wrap="square" lIns="0" tIns="0" rIns="0" bIns="0" rtlCol="0" anchor="t"/>
          <a:lstStyle/>
          <a:p>
            <a:pPr algn="ctr" indent="0" marL="0">
              <a:buNone/>
            </a:pPr>
            <a:r>
              <a:rPr lang="en-US" sz="1200" dirty="0">
                <a:solidFill>
                  <a:schemeClr val="tx2"/>
                </a:solidFill>
              </a:rPr>
              <a:t>Long Short-Term Memory</a:t>
            </a:r>
            <a:endParaRPr lang="en-US" sz="1200" dirty="0"/>
          </a:p>
        </p:txBody>
      </p:sp>
      <p:sp>
        <p:nvSpPr>
          <p:cNvPr id="22" name="Text 17"/>
          <p:cNvSpPr txBox="1"/>
          <p:nvPr/>
        </p:nvSpPr>
        <p:spPr>
          <a:xfrm>
            <a:off x="4901184" y="2880360"/>
            <a:ext cx="1554480" cy="228600"/>
          </a:xfrm>
          <a:prstGeom prst="rect">
            <a:avLst/>
          </a:prstGeom>
          <a:noFill/>
          <a:ln/>
        </p:spPr>
        <p:txBody>
          <a:bodyPr wrap="square" lIns="0" tIns="0" rIns="0" bIns="0" rtlCol="0" anchor="ctr"/>
          <a:lstStyle/>
          <a:p>
            <a:pPr indent="0" marL="0">
              <a:buNone/>
            </a:pPr>
            <a:r>
              <a:rPr lang="en-US" sz="1100" b="1" dirty="0">
                <a:solidFill>
                  <a:schemeClr val="accent3"/>
                </a:solidFill>
              </a:rPr>
              <a:t>USED FOR</a:t>
            </a:r>
            <a:endParaRPr lang="en-US" sz="1100" dirty="0"/>
          </a:p>
        </p:txBody>
      </p:sp>
      <p:sp>
        <p:nvSpPr>
          <p:cNvPr id="23" name="Text 18"/>
          <p:cNvSpPr txBox="1"/>
          <p:nvPr/>
        </p:nvSpPr>
        <p:spPr>
          <a:xfrm>
            <a:off x="4901184" y="3108960"/>
            <a:ext cx="160020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Time-series forecasting</a:t>
            </a:r>
            <a:endParaRPr lang="en-US" sz="1400" dirty="0"/>
          </a:p>
          <a:p>
            <a:pPr marL="342900" indent="-342900">
              <a:spcAft>
                <a:spcPts val="400"/>
              </a:spcAft>
              <a:buSzPct val="100000"/>
              <a:buChar char="•"/>
            </a:pPr>
            <a:r>
              <a:rPr lang="en-US" sz="1400" dirty="0">
                <a:solidFill>
                  <a:schemeClr val="tx1"/>
                </a:solidFill>
              </a:rPr>
              <a:t>Stock prediction</a:t>
            </a:r>
            <a:endParaRPr lang="en-US" sz="1400" dirty="0"/>
          </a:p>
        </p:txBody>
      </p:sp>
      <p:sp>
        <p:nvSpPr>
          <p:cNvPr id="24" name="card"/>
          <p:cNvSpPr/>
          <p:nvPr/>
        </p:nvSpPr>
        <p:spPr>
          <a:xfrm>
            <a:off x="6848856" y="1188720"/>
            <a:ext cx="1874520" cy="320040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icon badge"/>
          <p:cNvSpPr/>
          <p:nvPr/>
        </p:nvSpPr>
        <p:spPr>
          <a:xfrm>
            <a:off x="7507224" y="1325880"/>
            <a:ext cx="548640" cy="548640"/>
          </a:xfrm>
          <a:prstGeom prst="ellipse">
            <a:avLst/>
          </a:prstGeom>
          <a:solidFill>
            <a:schemeClr val="accent4"/>
          </a:solidFill>
          <a:ln w="12700">
            <a:solidFill>
              <a:schemeClr val="accent4"/>
            </a:solidFill>
            <a:prstDash val="solid"/>
          </a:ln>
        </p:spPr>
      </p:sp>
      <p:pic>
        <p:nvPicPr>
          <p:cNvPr id="26" name="Image 3" descr="bolt icon">    </p:cNvPr>
          <p:cNvPicPr>
            <a:picLocks noChangeAspect="1"/>
          </p:cNvPicPr>
          <p:nvPr/>
        </p:nvPicPr>
        <p:blipFill>
          <a:blip r:embed="rId4"/>
          <a:stretch>
            <a:fillRect/>
          </a:stretch>
        </p:blipFill>
        <p:spPr>
          <a:xfrm>
            <a:off x="7644384" y="1463040"/>
            <a:ext cx="274320" cy="274320"/>
          </a:xfrm>
          <a:prstGeom prst="rect">
            <a:avLst/>
          </a:prstGeom>
        </p:spPr>
      </p:pic>
      <p:sp>
        <p:nvSpPr>
          <p:cNvPr id="27" name="Text 21"/>
          <p:cNvSpPr txBox="1"/>
          <p:nvPr/>
        </p:nvSpPr>
        <p:spPr>
          <a:xfrm>
            <a:off x="6848856" y="1965960"/>
            <a:ext cx="1874520" cy="365760"/>
          </a:xfrm>
          <a:prstGeom prst="rect">
            <a:avLst/>
          </a:prstGeom>
          <a:noFill/>
          <a:ln/>
        </p:spPr>
        <p:txBody>
          <a:bodyPr wrap="square" lIns="0" tIns="0" rIns="0" bIns="0" rtlCol="0" anchor="ctr"/>
          <a:lstStyle/>
          <a:p>
            <a:pPr algn="ctr" indent="0" marL="0">
              <a:buNone/>
            </a:pPr>
            <a:r>
              <a:rPr lang="en-US" sz="1800" b="1" dirty="0">
                <a:solidFill>
                  <a:schemeClr val="tx1"/>
                </a:solidFill>
              </a:rPr>
              <a:t>Transformer</a:t>
            </a:r>
            <a:endParaRPr lang="en-US" sz="1800" dirty="0"/>
          </a:p>
        </p:txBody>
      </p:sp>
      <p:sp>
        <p:nvSpPr>
          <p:cNvPr id="28" name="Text 22"/>
          <p:cNvSpPr txBox="1"/>
          <p:nvPr/>
        </p:nvSpPr>
        <p:spPr>
          <a:xfrm>
            <a:off x="6940296" y="2331720"/>
            <a:ext cx="1691640" cy="457200"/>
          </a:xfrm>
          <a:prstGeom prst="rect">
            <a:avLst/>
          </a:prstGeom>
          <a:noFill/>
          <a:ln/>
        </p:spPr>
        <p:txBody>
          <a:bodyPr wrap="square" lIns="0" tIns="0" rIns="0" bIns="0" rtlCol="0" anchor="t"/>
          <a:lstStyle/>
          <a:p>
            <a:pPr algn="ctr" indent="0" marL="0">
              <a:buNone/>
            </a:pPr>
            <a:r>
              <a:rPr lang="en-US" sz="1200" dirty="0">
                <a:solidFill>
                  <a:schemeClr val="tx2"/>
                </a:solidFill>
              </a:rPr>
              <a:t>Attention-based models</a:t>
            </a:r>
            <a:endParaRPr lang="en-US" sz="1200" dirty="0"/>
          </a:p>
        </p:txBody>
      </p:sp>
      <p:sp>
        <p:nvSpPr>
          <p:cNvPr id="29" name="Text 23"/>
          <p:cNvSpPr txBox="1"/>
          <p:nvPr/>
        </p:nvSpPr>
        <p:spPr>
          <a:xfrm>
            <a:off x="7031736" y="2880360"/>
            <a:ext cx="1554480" cy="228600"/>
          </a:xfrm>
          <a:prstGeom prst="rect">
            <a:avLst/>
          </a:prstGeom>
          <a:noFill/>
          <a:ln/>
        </p:spPr>
        <p:txBody>
          <a:bodyPr wrap="square" lIns="0" tIns="0" rIns="0" bIns="0" rtlCol="0" anchor="ctr"/>
          <a:lstStyle/>
          <a:p>
            <a:pPr indent="0" marL="0">
              <a:buNone/>
            </a:pPr>
            <a:r>
              <a:rPr lang="en-US" sz="1100" b="1" dirty="0">
                <a:solidFill>
                  <a:schemeClr val="accent4"/>
                </a:solidFill>
              </a:rPr>
              <a:t>USED FOR</a:t>
            </a:r>
            <a:endParaRPr lang="en-US" sz="1100" dirty="0"/>
          </a:p>
        </p:txBody>
      </p:sp>
      <p:sp>
        <p:nvSpPr>
          <p:cNvPr id="30" name="Text 24"/>
          <p:cNvSpPr txBox="1"/>
          <p:nvPr/>
        </p:nvSpPr>
        <p:spPr>
          <a:xfrm>
            <a:off x="7031736" y="3108960"/>
            <a:ext cx="160020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ChatGPT</a:t>
            </a:r>
            <a:endParaRPr lang="en-US" sz="1400" dirty="0"/>
          </a:p>
          <a:p>
            <a:pPr marL="342900" indent="-342900">
              <a:spcAft>
                <a:spcPts val="400"/>
              </a:spcAft>
              <a:buSzPct val="100000"/>
              <a:buChar char="•"/>
            </a:pPr>
            <a:r>
              <a:rPr lang="en-US" sz="1400" dirty="0">
                <a:solidFill>
                  <a:schemeClr val="tx1"/>
                </a:solidFill>
              </a:rPr>
              <a:t>Copilot</a:t>
            </a:r>
            <a:endParaRPr lang="en-US" sz="1400" dirty="0"/>
          </a:p>
          <a:p>
            <a:pPr marL="342900" indent="-342900">
              <a:spcAft>
                <a:spcPts val="400"/>
              </a:spcAft>
              <a:buSzPct val="100000"/>
              <a:buChar char="•"/>
            </a:pPr>
            <a:r>
              <a:rPr lang="en-US" sz="1400" dirty="0">
                <a:solidFill>
                  <a:schemeClr val="tx1"/>
                </a:solidFill>
              </a:rPr>
              <a:t>Gemini</a:t>
            </a:r>
            <a:endParaRPr lang="en-US" sz="1400" dirty="0"/>
          </a:p>
          <a:p>
            <a:pPr marL="342900" indent="-342900">
              <a:spcAft>
                <a:spcPts val="400"/>
              </a:spcAft>
              <a:buSzPct val="100000"/>
              <a:buChar char="•"/>
            </a:pPr>
            <a:r>
              <a:rPr lang="en-US" sz="1400" dirty="0">
                <a:solidFill>
                  <a:schemeClr val="tx1"/>
                </a:solidFill>
              </a:rPr>
              <a:t>Claude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AI vs ML vs DL</a:t>
            </a:r>
            <a:endParaRPr lang="en-US" sz="3400" dirty="0"/>
          </a:p>
        </p:txBody>
      </p:sp>
      <p:sp>
        <p:nvSpPr>
          <p:cNvPr id="3" name="pill"/>
          <p:cNvSpPr/>
          <p:nvPr/>
        </p:nvSpPr>
        <p:spPr>
          <a:xfrm>
            <a:off x="5852160" y="411480"/>
            <a:ext cx="2834640" cy="45720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6016752" y="411480"/>
            <a:ext cx="2578608" cy="457200"/>
          </a:xfrm>
          <a:prstGeom prst="rect">
            <a:avLst/>
          </a:prstGeom>
          <a:noFill/>
          <a:ln/>
        </p:spPr>
        <p:txBody>
          <a:bodyPr wrap="square" lIns="0" tIns="0" rIns="0" bIns="0" rtlCol="0" anchor="ctr"/>
          <a:lstStyle/>
          <a:p>
            <a:pPr indent="0" marL="0">
              <a:buNone/>
            </a:pPr>
            <a:r>
              <a:rPr lang="en-US" sz="1800" b="1" dirty="0">
                <a:solidFill>
                  <a:schemeClr val="bg1"/>
                </a:solidFill>
              </a:rPr>
              <a:t>AI  ⊃  ML  ⊃  DL</a:t>
            </a:r>
            <a:endParaRPr lang="en-US" sz="1800" dirty="0"/>
          </a:p>
        </p:txBody>
      </p:sp>
      <p:graphicFrame>
        <p:nvGraphicFramePr>
          <p:cNvPr id="21" name="comparis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371600"/>
                <a:gridCol w="2286000"/>
                <a:gridCol w="2286000"/>
                <a:gridCol w="2286000"/>
              </a:tblGrid>
              <a:tr h="438912">
                <a:tc>
                  <a:txBody>
                    <a:bodyPr/>
                    <a:lstStyle/>
                    <a:p>
                      <a:pPr algn="ctr" indent="0" marL="0">
                        <a:buNone/>
                      </a:pPr>
                      <a:r>
                        <a:rPr lang="en-US" sz="1400" b="1" dirty="0">
                          <a:solidFill>
                            <a:srgbClr val="FFFFFF"/>
                          </a:solidFill>
                        </a:rPr>
                        <a:t>Parameter</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141B4D"/>
                    </a:solidFill>
                  </a:tcPr>
                </a:tc>
                <a:tc>
                  <a:txBody>
                    <a:bodyPr/>
                    <a:lstStyle/>
                    <a:p>
                      <a:pPr algn="ctr" indent="0" marL="0">
                        <a:buNone/>
                      </a:pPr>
                      <a:r>
                        <a:rPr lang="en-US" sz="1400" b="1" dirty="0">
                          <a:solidFill>
                            <a:srgbClr val="FFFFFF"/>
                          </a:solidFill>
                        </a:rPr>
                        <a:t>AI</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3B5BDB"/>
                    </a:solidFill>
                  </a:tcPr>
                </a:tc>
                <a:tc>
                  <a:txBody>
                    <a:bodyPr/>
                    <a:lstStyle/>
                    <a:p>
                      <a:pPr algn="ctr" indent="0" marL="0">
                        <a:buNone/>
                      </a:pPr>
                      <a:r>
                        <a:rPr lang="en-US" sz="1400" b="1" dirty="0">
                          <a:solidFill>
                            <a:srgbClr val="FFFFFF"/>
                          </a:solidFill>
                        </a:rPr>
                        <a:t>ML</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DL</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DB2777"/>
                    </a:solidFill>
                  </a:tcPr>
                </a:tc>
              </a:tr>
              <a:tr h="438912">
                <a:tc>
                  <a:txBody>
                    <a:bodyPr/>
                    <a:lstStyle/>
                    <a:p>
                      <a:pPr indent="0" marL="0">
                        <a:buNone/>
                      </a:pPr>
                      <a:r>
                        <a:rPr lang="en-US" sz="1400" b="1" dirty="0">
                          <a:solidFill>
                            <a:srgbClr val="141B4D"/>
                          </a:solidFill>
                        </a:rPr>
                        <a:t>Definition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Mimics human thinking</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Learns from data</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Multi-layer neural nets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38912">
                <a:tc>
                  <a:txBody>
                    <a:bodyPr/>
                    <a:lstStyle/>
                    <a:p>
                      <a:pPr indent="0" marL="0">
                        <a:buNone/>
                      </a:pPr>
                      <a:r>
                        <a:rPr lang="en-US" sz="1400" b="1" dirty="0">
                          <a:solidFill>
                            <a:srgbClr val="141B4D"/>
                          </a:solidFill>
                        </a:rPr>
                        <a:t>Scope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Broadest</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Subset of AI</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Subset of ML</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41B4D"/>
                          </a:solidFill>
                        </a:rPr>
                        <a:t>Data need</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Varies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Moderate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Very large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38912">
                <a:tc>
                  <a:txBody>
                    <a:bodyPr/>
                    <a:lstStyle/>
                    <a:p>
                      <a:pPr indent="0" marL="0">
                        <a:buNone/>
                      </a:pPr>
                      <a:r>
                        <a:rPr lang="en-US" sz="1400" b="1" dirty="0">
                          <a:solidFill>
                            <a:srgbClr val="141B4D"/>
                          </a:solidFill>
                        </a:rPr>
                        <a:t>Complexity</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Low to high</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Medium</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High</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41B4D"/>
                          </a:solidFill>
                        </a:rPr>
                        <a:t>Hardware</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Standard</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CPU is enough</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GPU or TPU</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r h="438912">
                <a:tc>
                  <a:txBody>
                    <a:bodyPr/>
                    <a:lstStyle/>
                    <a:p>
                      <a:pPr indent="0" marL="0">
                        <a:buNone/>
                      </a:pPr>
                      <a:r>
                        <a:rPr lang="en-US" sz="1400" b="1" dirty="0">
                          <a:solidFill>
                            <a:srgbClr val="141B4D"/>
                          </a:solidFill>
                        </a:rPr>
                        <a:t>Examples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Siri, chess engines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Spam filters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c>
                  <a:txBody>
                    <a:bodyPr/>
                    <a:lstStyle/>
                    <a:p>
                      <a:pPr indent="0" marL="0">
                        <a:buNone/>
                      </a:pPr>
                      <a:r>
                        <a:rPr lang="en-US" sz="1400" dirty="0">
                          <a:solidFill>
                            <a:srgbClr val="141B4D"/>
                          </a:solidFill>
                        </a:rPr>
                        <a:t>ChatGPT, Gemini</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41B4D"/>
                          </a:solidFill>
                        </a:rPr>
                        <a:t>Applications</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Assistants, automation</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Forecasting, scoring</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c>
                  <a:txBody>
                    <a:bodyPr/>
                    <a:lstStyle/>
                    <a:p>
                      <a:pPr indent="0" marL="0">
                        <a:buNone/>
                      </a:pPr>
                      <a:r>
                        <a:rPr lang="en-US" sz="1400" dirty="0">
                          <a:solidFill>
                            <a:srgbClr val="141B4D"/>
                          </a:solidFill>
                        </a:rPr>
                        <a:t>Vision, speech, GenAI</a:t>
                      </a:r>
                      <a:endParaRPr lang="en-US" sz="1400" dirty="0"/>
                    </a:p>
                  </a:txBody>
                  <a:tcPr marL="91440" marR="91440" marT="0" marB="0" anchor="ctr">
                    <a:lnL w="6350" cap="flat" cmpd="sng" algn="ctr">
                      <a:solidFill>
                        <a:srgbClr val="D5D9F5"/>
                      </a:solidFill>
                      <a:prstDash val="solid"/>
                      <a:round/>
                      <a:headEnd type="none" w="med" len="med"/>
                      <a:tailEnd type="none" w="med" len="med"/>
                    </a:lnL>
                    <a:lnR w="6350" cap="flat" cmpd="sng" algn="ctr">
                      <a:solidFill>
                        <a:srgbClr val="D5D9F5"/>
                      </a:solidFill>
                      <a:prstDash val="solid"/>
                      <a:round/>
                      <a:headEnd type="none" w="med" len="med"/>
                      <a:tailEnd type="none" w="med" len="med"/>
                    </a:lnR>
                    <a:lnT w="6350" cap="flat" cmpd="sng" algn="ctr">
                      <a:solidFill>
                        <a:srgbClr val="D5D9F5"/>
                      </a:solidFill>
                      <a:prstDash val="solid"/>
                      <a:round/>
                      <a:headEnd type="none" w="med" len="med"/>
                      <a:tailEnd type="none" w="med" len="med"/>
                    </a:lnT>
                    <a:lnB w="6350" cap="flat" cmpd="sng" algn="ctr">
                      <a:solidFill>
                        <a:srgbClr val="D5D9F5"/>
                      </a:solidFill>
                      <a:prstDash val="solid"/>
                      <a:round/>
                      <a:headEnd type="none" w="med" len="med"/>
                      <a:tailEnd type="none" w="med" len="med"/>
                    </a:lnB>
                    <a:solidFill>
                      <a:srgbClr val="EEF0FC"/>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Real-world AI projects</a:t>
            </a:r>
            <a:endParaRPr lang="en-US" sz="3400" dirty="0"/>
          </a:p>
        </p:txBody>
      </p:sp>
      <p:sp>
        <p:nvSpPr>
          <p:cNvPr id="3" name="card"/>
          <p:cNvSpPr/>
          <p:nvPr/>
        </p:nvSpPr>
        <p:spPr>
          <a:xfrm>
            <a:off x="457200" y="1188720"/>
            <a:ext cx="40233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badge"/>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Image 0" descr="eye icon">    </p:cNvPr>
          <p:cNvPicPr>
            <a:picLocks noChangeAspect="1"/>
          </p:cNvPicPr>
          <p:nvPr/>
        </p:nvPicPr>
        <p:blipFill>
          <a:blip r:embed="rId1"/>
          <a:stretch>
            <a:fillRect/>
          </a:stretch>
        </p:blipFill>
        <p:spPr>
          <a:xfrm>
            <a:off x="777240" y="1508760"/>
            <a:ext cx="274320" cy="274320"/>
          </a:xfrm>
          <a:prstGeom prst="rect">
            <a:avLst/>
          </a:prstGeom>
        </p:spPr>
      </p:pic>
      <p:sp>
        <p:nvSpPr>
          <p:cNvPr id="6" name="Text 3"/>
          <p:cNvSpPr txBox="1"/>
          <p:nvPr/>
        </p:nvSpPr>
        <p:spPr>
          <a:xfrm>
            <a:off x="1371600" y="1371600"/>
            <a:ext cx="2926080" cy="548640"/>
          </a:xfrm>
          <a:prstGeom prst="rect">
            <a:avLst/>
          </a:prstGeom>
          <a:noFill/>
          <a:ln/>
        </p:spPr>
        <p:txBody>
          <a:bodyPr wrap="square" lIns="0" tIns="0" rIns="0" bIns="0" rtlCol="0" anchor="ctr"/>
          <a:lstStyle/>
          <a:p>
            <a:pPr indent="0" marL="0">
              <a:buNone/>
            </a:pPr>
            <a:r>
              <a:rPr lang="en-US" sz="1800" b="1" dirty="0">
                <a:solidFill>
                  <a:schemeClr val="tx1"/>
                </a:solidFill>
              </a:rPr>
              <a:t>Computer vision</a:t>
            </a:r>
            <a:endParaRPr lang="en-US" sz="1800" dirty="0"/>
          </a:p>
        </p:txBody>
      </p:sp>
      <p:sp>
        <p:nvSpPr>
          <p:cNvPr id="7" name="pill"/>
          <p:cNvSpPr/>
          <p:nvPr/>
        </p:nvSpPr>
        <p:spPr>
          <a:xfrm>
            <a:off x="640080" y="2103120"/>
            <a:ext cx="1280160" cy="411480"/>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804672" y="2103120"/>
            <a:ext cx="1024128" cy="411480"/>
          </a:xfrm>
          <a:prstGeom prst="rect">
            <a:avLst/>
          </a:prstGeom>
          <a:noFill/>
          <a:ln/>
        </p:spPr>
        <p:txBody>
          <a:bodyPr wrap="square" lIns="0" tIns="0" rIns="0" bIns="0" rtlCol="0" anchor="ctr"/>
          <a:lstStyle/>
          <a:p>
            <a:pPr indent="0" marL="0">
              <a:buNone/>
            </a:pPr>
            <a:r>
              <a:rPr lang="en-US" sz="1200" b="1" dirty="0">
                <a:solidFill>
                  <a:schemeClr val="bg1"/>
                </a:solidFill>
              </a:rPr>
              <a:t>Pole detection</a:t>
            </a:r>
            <a:endParaRPr lang="en-US" sz="1200" dirty="0"/>
          </a:p>
        </p:txBody>
      </p:sp>
      <p:sp>
        <p:nvSpPr>
          <p:cNvPr id="9" name="pill"/>
          <p:cNvSpPr/>
          <p:nvPr/>
        </p:nvSpPr>
        <p:spPr>
          <a:xfrm>
            <a:off x="1993392" y="2103120"/>
            <a:ext cx="1348740" cy="411480"/>
          </a:xfrm>
          <a:prstGeom prst="roundRect">
            <a:avLst>
              <a:gd name="adj" fmla="val 50000"/>
            </a:avLst>
          </a:prstGeom>
          <a:solidFill>
            <a:schemeClr val="accent1"/>
          </a:solidFill>
          <a:ln w="12700">
            <a:solidFill>
              <a:schemeClr val="accent1"/>
            </a:solidFill>
            <a:prstDash val="solid"/>
          </a:ln>
        </p:spPr>
      </p:sp>
      <p:sp>
        <p:nvSpPr>
          <p:cNvPr id="10" name="Text 7"/>
          <p:cNvSpPr txBox="1"/>
          <p:nvPr/>
        </p:nvSpPr>
        <p:spPr>
          <a:xfrm>
            <a:off x="2157984" y="2103120"/>
            <a:ext cx="1092708" cy="411480"/>
          </a:xfrm>
          <a:prstGeom prst="rect">
            <a:avLst/>
          </a:prstGeom>
          <a:noFill/>
          <a:ln/>
        </p:spPr>
        <p:txBody>
          <a:bodyPr wrap="square" lIns="0" tIns="0" rIns="0" bIns="0" rtlCol="0" anchor="ctr"/>
          <a:lstStyle/>
          <a:p>
            <a:pPr indent="0" marL="0">
              <a:buNone/>
            </a:pPr>
            <a:r>
              <a:rPr lang="en-US" sz="1200" b="1" dirty="0">
                <a:solidFill>
                  <a:schemeClr val="bg1"/>
                </a:solidFill>
              </a:rPr>
              <a:t>Surface defects</a:t>
            </a:r>
            <a:endParaRPr lang="en-US" sz="1200" dirty="0"/>
          </a:p>
        </p:txBody>
      </p:sp>
      <p:sp>
        <p:nvSpPr>
          <p:cNvPr id="11" name="pill"/>
          <p:cNvSpPr/>
          <p:nvPr/>
        </p:nvSpPr>
        <p:spPr>
          <a:xfrm>
            <a:off x="3415284" y="2103120"/>
            <a:ext cx="822960" cy="411480"/>
          </a:xfrm>
          <a:prstGeom prst="roundRect">
            <a:avLst>
              <a:gd name="adj" fmla="val 50000"/>
            </a:avLst>
          </a:prstGeom>
          <a:solidFill>
            <a:schemeClr val="accent1"/>
          </a:solidFill>
          <a:ln w="12700">
            <a:solidFill>
              <a:schemeClr val="accent1"/>
            </a:solidFill>
            <a:prstDash val="solid"/>
          </a:ln>
        </p:spPr>
      </p:sp>
      <p:sp>
        <p:nvSpPr>
          <p:cNvPr id="12" name="Text 9"/>
          <p:cNvSpPr txBox="1"/>
          <p:nvPr/>
        </p:nvSpPr>
        <p:spPr>
          <a:xfrm>
            <a:off x="3579876" y="2103120"/>
            <a:ext cx="566928" cy="411480"/>
          </a:xfrm>
          <a:prstGeom prst="rect">
            <a:avLst/>
          </a:prstGeom>
          <a:noFill/>
          <a:ln/>
        </p:spPr>
        <p:txBody>
          <a:bodyPr wrap="square" lIns="0" tIns="0" rIns="0" bIns="0" rtlCol="0" anchor="ctr"/>
          <a:lstStyle/>
          <a:p>
            <a:pPr indent="0" marL="0">
              <a:buNone/>
            </a:pPr>
            <a:r>
              <a:rPr lang="en-US" sz="1200" b="1" dirty="0">
                <a:solidFill>
                  <a:schemeClr val="bg1"/>
                </a:solidFill>
              </a:rPr>
              <a:t>OCR</a:t>
            </a:r>
            <a:endParaRPr lang="en-US" sz="1200" dirty="0"/>
          </a:p>
        </p:txBody>
      </p:sp>
      <p:sp>
        <p:nvSpPr>
          <p:cNvPr id="13" name="card"/>
          <p:cNvSpPr/>
          <p:nvPr/>
        </p:nvSpPr>
        <p:spPr>
          <a:xfrm>
            <a:off x="4663440" y="1188720"/>
            <a:ext cx="40233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badge"/>
          <p:cNvSpPr/>
          <p:nvPr/>
        </p:nvSpPr>
        <p:spPr>
          <a:xfrm>
            <a:off x="4846320" y="1371600"/>
            <a:ext cx="548640" cy="548640"/>
          </a:xfrm>
          <a:prstGeom prst="ellipse">
            <a:avLst/>
          </a:prstGeom>
          <a:solidFill>
            <a:schemeClr val="accent2"/>
          </a:solidFill>
          <a:ln w="12700">
            <a:solidFill>
              <a:schemeClr val="accent2"/>
            </a:solidFill>
            <a:prstDash val="solid"/>
          </a:ln>
        </p:spPr>
      </p:sp>
      <p:pic>
        <p:nvPicPr>
          <p:cNvPr id="15" name="Image 1" descr="comments icon">    </p:cNvPr>
          <p:cNvPicPr>
            <a:picLocks noChangeAspect="1"/>
          </p:cNvPicPr>
          <p:nvPr/>
        </p:nvPicPr>
        <p:blipFill>
          <a:blip r:embed="rId2"/>
          <a:stretch>
            <a:fillRect/>
          </a:stretch>
        </p:blipFill>
        <p:spPr>
          <a:xfrm>
            <a:off x="4983480" y="1508760"/>
            <a:ext cx="274320" cy="274320"/>
          </a:xfrm>
          <a:prstGeom prst="rect">
            <a:avLst/>
          </a:prstGeom>
        </p:spPr>
      </p:pic>
      <p:sp>
        <p:nvSpPr>
          <p:cNvPr id="16" name="Text 12"/>
          <p:cNvSpPr txBox="1"/>
          <p:nvPr/>
        </p:nvSpPr>
        <p:spPr>
          <a:xfrm>
            <a:off x="5577840" y="1371600"/>
            <a:ext cx="2926080" cy="548640"/>
          </a:xfrm>
          <a:prstGeom prst="rect">
            <a:avLst/>
          </a:prstGeom>
          <a:noFill/>
          <a:ln/>
        </p:spPr>
        <p:txBody>
          <a:bodyPr wrap="square" lIns="0" tIns="0" rIns="0" bIns="0" rtlCol="0" anchor="ctr"/>
          <a:lstStyle/>
          <a:p>
            <a:pPr indent="0" marL="0">
              <a:buNone/>
            </a:pPr>
            <a:r>
              <a:rPr lang="en-US" sz="1800" b="1" dirty="0">
                <a:solidFill>
                  <a:schemeClr val="tx1"/>
                </a:solidFill>
              </a:rPr>
              <a:t>NLP</a:t>
            </a:r>
            <a:endParaRPr lang="en-US" sz="1800" dirty="0"/>
          </a:p>
        </p:txBody>
      </p:sp>
      <p:sp>
        <p:nvSpPr>
          <p:cNvPr id="17" name="pill"/>
          <p:cNvSpPr/>
          <p:nvPr/>
        </p:nvSpPr>
        <p:spPr>
          <a:xfrm>
            <a:off x="4846320" y="2103120"/>
            <a:ext cx="868680" cy="411480"/>
          </a:xfrm>
          <a:prstGeom prst="roundRect">
            <a:avLst>
              <a:gd name="adj" fmla="val 50000"/>
            </a:avLst>
          </a:prstGeom>
          <a:solidFill>
            <a:schemeClr val="accent2"/>
          </a:solidFill>
          <a:ln w="12700">
            <a:solidFill>
              <a:schemeClr val="accent2"/>
            </a:solidFill>
            <a:prstDash val="solid"/>
          </a:ln>
        </p:spPr>
      </p:sp>
      <p:sp>
        <p:nvSpPr>
          <p:cNvPr id="18" name="Text 14"/>
          <p:cNvSpPr txBox="1"/>
          <p:nvPr/>
        </p:nvSpPr>
        <p:spPr>
          <a:xfrm>
            <a:off x="5010912" y="2103120"/>
            <a:ext cx="612648" cy="411480"/>
          </a:xfrm>
          <a:prstGeom prst="rect">
            <a:avLst/>
          </a:prstGeom>
          <a:noFill/>
          <a:ln/>
        </p:spPr>
        <p:txBody>
          <a:bodyPr wrap="square" lIns="0" tIns="0" rIns="0" bIns="0" rtlCol="0" anchor="ctr"/>
          <a:lstStyle/>
          <a:p>
            <a:pPr indent="0" marL="0">
              <a:buNone/>
            </a:pPr>
            <a:r>
              <a:rPr lang="en-US" sz="1200" b="1" dirty="0">
                <a:solidFill>
                  <a:schemeClr val="bg1"/>
                </a:solidFill>
              </a:rPr>
              <a:t>Chatbots</a:t>
            </a:r>
            <a:endParaRPr lang="en-US" sz="1200" dirty="0"/>
          </a:p>
        </p:txBody>
      </p:sp>
      <p:sp>
        <p:nvSpPr>
          <p:cNvPr id="19" name="pill"/>
          <p:cNvSpPr/>
          <p:nvPr/>
        </p:nvSpPr>
        <p:spPr>
          <a:xfrm>
            <a:off x="5788152" y="2103120"/>
            <a:ext cx="1485900" cy="411480"/>
          </a:xfrm>
          <a:prstGeom prst="roundRect">
            <a:avLst>
              <a:gd name="adj" fmla="val 50000"/>
            </a:avLst>
          </a:prstGeom>
          <a:solidFill>
            <a:schemeClr val="accent2"/>
          </a:solidFill>
          <a:ln w="12700">
            <a:solidFill>
              <a:schemeClr val="accent2"/>
            </a:solidFill>
            <a:prstDash val="solid"/>
          </a:ln>
        </p:spPr>
      </p:sp>
      <p:sp>
        <p:nvSpPr>
          <p:cNvPr id="20" name="Text 16"/>
          <p:cNvSpPr txBox="1"/>
          <p:nvPr/>
        </p:nvSpPr>
        <p:spPr>
          <a:xfrm>
            <a:off x="5952744" y="2103120"/>
            <a:ext cx="1229868" cy="411480"/>
          </a:xfrm>
          <a:prstGeom prst="rect">
            <a:avLst/>
          </a:prstGeom>
          <a:noFill/>
          <a:ln/>
        </p:spPr>
        <p:txBody>
          <a:bodyPr wrap="square" lIns="0" tIns="0" rIns="0" bIns="0" rtlCol="0" anchor="ctr"/>
          <a:lstStyle/>
          <a:p>
            <a:pPr indent="0" marL="0">
              <a:buNone/>
            </a:pPr>
            <a:r>
              <a:rPr lang="en-US" sz="1200" b="1" dirty="0">
                <a:solidFill>
                  <a:schemeClr val="bg1"/>
                </a:solidFill>
              </a:rPr>
              <a:t>Document analysis</a:t>
            </a:r>
            <a:endParaRPr lang="en-US" sz="1200" dirty="0"/>
          </a:p>
        </p:txBody>
      </p:sp>
      <p:sp>
        <p:nvSpPr>
          <p:cNvPr id="21" name="card"/>
          <p:cNvSpPr/>
          <p:nvPr/>
        </p:nvSpPr>
        <p:spPr>
          <a:xfrm>
            <a:off x="457200" y="2926080"/>
            <a:ext cx="40233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icon badge"/>
          <p:cNvSpPr/>
          <p:nvPr/>
        </p:nvSpPr>
        <p:spPr>
          <a:xfrm>
            <a:off x="640080" y="3108960"/>
            <a:ext cx="548640" cy="548640"/>
          </a:xfrm>
          <a:prstGeom prst="ellipse">
            <a:avLst/>
          </a:prstGeom>
          <a:solidFill>
            <a:schemeClr val="accent3"/>
          </a:solidFill>
          <a:ln w="12700">
            <a:solidFill>
              <a:schemeClr val="accent3"/>
            </a:solidFill>
            <a:prstDash val="solid"/>
          </a:ln>
        </p:spPr>
      </p:sp>
      <p:pic>
        <p:nvPicPr>
          <p:cNvPr id="23" name="Image 2" descr="chart icon">    </p:cNvPr>
          <p:cNvPicPr>
            <a:picLocks noChangeAspect="1"/>
          </p:cNvPicPr>
          <p:nvPr/>
        </p:nvPicPr>
        <p:blipFill>
          <a:blip r:embed="rId3"/>
          <a:stretch>
            <a:fillRect/>
          </a:stretch>
        </p:blipFill>
        <p:spPr>
          <a:xfrm>
            <a:off x="777240" y="3246120"/>
            <a:ext cx="274320" cy="274320"/>
          </a:xfrm>
          <a:prstGeom prst="rect">
            <a:avLst/>
          </a:prstGeom>
        </p:spPr>
      </p:pic>
      <p:sp>
        <p:nvSpPr>
          <p:cNvPr id="24" name="Text 19"/>
          <p:cNvSpPr txBox="1"/>
          <p:nvPr/>
        </p:nvSpPr>
        <p:spPr>
          <a:xfrm>
            <a:off x="1371600" y="3108960"/>
            <a:ext cx="2926080" cy="548640"/>
          </a:xfrm>
          <a:prstGeom prst="rect">
            <a:avLst/>
          </a:prstGeom>
          <a:noFill/>
          <a:ln/>
        </p:spPr>
        <p:txBody>
          <a:bodyPr wrap="square" lIns="0" tIns="0" rIns="0" bIns="0" rtlCol="0" anchor="ctr"/>
          <a:lstStyle/>
          <a:p>
            <a:pPr indent="0" marL="0">
              <a:buNone/>
            </a:pPr>
            <a:r>
              <a:rPr lang="en-US" sz="1800" b="1" dirty="0">
                <a:solidFill>
                  <a:schemeClr val="tx1"/>
                </a:solidFill>
              </a:rPr>
              <a:t>Predictive analytics</a:t>
            </a:r>
            <a:endParaRPr lang="en-US" sz="1800" dirty="0"/>
          </a:p>
        </p:txBody>
      </p:sp>
      <p:sp>
        <p:nvSpPr>
          <p:cNvPr id="25" name="pill"/>
          <p:cNvSpPr/>
          <p:nvPr/>
        </p:nvSpPr>
        <p:spPr>
          <a:xfrm>
            <a:off x="640080" y="3840480"/>
            <a:ext cx="1554480" cy="411480"/>
          </a:xfrm>
          <a:prstGeom prst="roundRect">
            <a:avLst>
              <a:gd name="adj" fmla="val 50000"/>
            </a:avLst>
          </a:prstGeom>
          <a:solidFill>
            <a:schemeClr val="accent3"/>
          </a:solidFill>
          <a:ln w="12700">
            <a:solidFill>
              <a:schemeClr val="accent3"/>
            </a:solidFill>
            <a:prstDash val="solid"/>
          </a:ln>
        </p:spPr>
      </p:sp>
      <p:sp>
        <p:nvSpPr>
          <p:cNvPr id="26" name="Text 21"/>
          <p:cNvSpPr txBox="1"/>
          <p:nvPr/>
        </p:nvSpPr>
        <p:spPr>
          <a:xfrm>
            <a:off x="804672" y="3840480"/>
            <a:ext cx="1298448" cy="411480"/>
          </a:xfrm>
          <a:prstGeom prst="rect">
            <a:avLst/>
          </a:prstGeom>
          <a:noFill/>
          <a:ln/>
        </p:spPr>
        <p:txBody>
          <a:bodyPr wrap="square" lIns="0" tIns="0" rIns="0" bIns="0" rtlCol="0" anchor="ctr"/>
          <a:lstStyle/>
          <a:p>
            <a:pPr indent="0" marL="0">
              <a:buNone/>
            </a:pPr>
            <a:r>
              <a:rPr lang="en-US" sz="1200" b="1" dirty="0">
                <a:solidFill>
                  <a:schemeClr val="bg1"/>
                </a:solidFill>
              </a:rPr>
              <a:t>Demand forecasting</a:t>
            </a:r>
            <a:endParaRPr lang="en-US" sz="1200" dirty="0"/>
          </a:p>
        </p:txBody>
      </p:sp>
      <p:sp>
        <p:nvSpPr>
          <p:cNvPr id="27" name="pill"/>
          <p:cNvSpPr/>
          <p:nvPr/>
        </p:nvSpPr>
        <p:spPr>
          <a:xfrm>
            <a:off x="2267712" y="3840480"/>
            <a:ext cx="1280160" cy="411480"/>
          </a:xfrm>
          <a:prstGeom prst="roundRect">
            <a:avLst>
              <a:gd name="adj" fmla="val 50000"/>
            </a:avLst>
          </a:prstGeom>
          <a:solidFill>
            <a:schemeClr val="accent3"/>
          </a:solidFill>
          <a:ln w="12700">
            <a:solidFill>
              <a:schemeClr val="accent3"/>
            </a:solidFill>
            <a:prstDash val="solid"/>
          </a:ln>
        </p:spPr>
      </p:sp>
      <p:sp>
        <p:nvSpPr>
          <p:cNvPr id="28" name="Text 23"/>
          <p:cNvSpPr txBox="1"/>
          <p:nvPr/>
        </p:nvSpPr>
        <p:spPr>
          <a:xfrm>
            <a:off x="2432304" y="3840480"/>
            <a:ext cx="1024128" cy="411480"/>
          </a:xfrm>
          <a:prstGeom prst="rect">
            <a:avLst/>
          </a:prstGeom>
          <a:noFill/>
          <a:ln/>
        </p:spPr>
        <p:txBody>
          <a:bodyPr wrap="square" lIns="0" tIns="0" rIns="0" bIns="0" rtlCol="0" anchor="ctr"/>
          <a:lstStyle/>
          <a:p>
            <a:pPr indent="0" marL="0">
              <a:buNone/>
            </a:pPr>
            <a:r>
              <a:rPr lang="en-US" sz="1200" b="1" dirty="0">
                <a:solidFill>
                  <a:schemeClr val="bg1"/>
                </a:solidFill>
              </a:rPr>
              <a:t>Customer churn</a:t>
            </a:r>
            <a:endParaRPr lang="en-US" sz="1200" dirty="0"/>
          </a:p>
        </p:txBody>
      </p:sp>
      <p:sp>
        <p:nvSpPr>
          <p:cNvPr id="29" name="card"/>
          <p:cNvSpPr/>
          <p:nvPr/>
        </p:nvSpPr>
        <p:spPr>
          <a:xfrm>
            <a:off x="4663440" y="2926080"/>
            <a:ext cx="40233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icon badge"/>
          <p:cNvSpPr/>
          <p:nvPr/>
        </p:nvSpPr>
        <p:spPr>
          <a:xfrm>
            <a:off x="4846320" y="3108960"/>
            <a:ext cx="548640" cy="548640"/>
          </a:xfrm>
          <a:prstGeom prst="ellipse">
            <a:avLst/>
          </a:prstGeom>
          <a:solidFill>
            <a:schemeClr val="accent4"/>
          </a:solidFill>
          <a:ln w="12700">
            <a:solidFill>
              <a:schemeClr val="accent4"/>
            </a:solidFill>
            <a:prstDash val="solid"/>
          </a:ln>
        </p:spPr>
      </p:sp>
      <p:pic>
        <p:nvPicPr>
          <p:cNvPr id="31" name="Image 3" descr="bulb icon">    </p:cNvPr>
          <p:cNvPicPr>
            <a:picLocks noChangeAspect="1"/>
          </p:cNvPicPr>
          <p:nvPr/>
        </p:nvPicPr>
        <p:blipFill>
          <a:blip r:embed="rId4"/>
          <a:stretch>
            <a:fillRect/>
          </a:stretch>
        </p:blipFill>
        <p:spPr>
          <a:xfrm>
            <a:off x="4983480" y="3246120"/>
            <a:ext cx="274320" cy="274320"/>
          </a:xfrm>
          <a:prstGeom prst="rect">
            <a:avLst/>
          </a:prstGeom>
        </p:spPr>
      </p:pic>
      <p:sp>
        <p:nvSpPr>
          <p:cNvPr id="32" name="Text 26"/>
          <p:cNvSpPr txBox="1"/>
          <p:nvPr/>
        </p:nvSpPr>
        <p:spPr>
          <a:xfrm>
            <a:off x="5577840" y="3108960"/>
            <a:ext cx="2926080" cy="548640"/>
          </a:xfrm>
          <a:prstGeom prst="rect">
            <a:avLst/>
          </a:prstGeom>
          <a:noFill/>
          <a:ln/>
        </p:spPr>
        <p:txBody>
          <a:bodyPr wrap="square" lIns="0" tIns="0" rIns="0" bIns="0" rtlCol="0" anchor="ctr"/>
          <a:lstStyle/>
          <a:p>
            <a:pPr indent="0" marL="0">
              <a:buNone/>
            </a:pPr>
            <a:r>
              <a:rPr lang="en-US" sz="1800" b="1" dirty="0">
                <a:solidFill>
                  <a:schemeClr val="tx1"/>
                </a:solidFill>
              </a:rPr>
              <a:t>Generative AI</a:t>
            </a:r>
            <a:endParaRPr lang="en-US" sz="1800" dirty="0"/>
          </a:p>
        </p:txBody>
      </p:sp>
      <p:sp>
        <p:nvSpPr>
          <p:cNvPr id="33" name="pill"/>
          <p:cNvSpPr/>
          <p:nvPr/>
        </p:nvSpPr>
        <p:spPr>
          <a:xfrm>
            <a:off x="4846320" y="3840480"/>
            <a:ext cx="822960" cy="411480"/>
          </a:xfrm>
          <a:prstGeom prst="roundRect">
            <a:avLst>
              <a:gd name="adj" fmla="val 50000"/>
            </a:avLst>
          </a:prstGeom>
          <a:solidFill>
            <a:schemeClr val="accent4"/>
          </a:solidFill>
          <a:ln w="12700">
            <a:solidFill>
              <a:schemeClr val="accent4"/>
            </a:solidFill>
            <a:prstDash val="solid"/>
          </a:ln>
        </p:spPr>
      </p:sp>
      <p:sp>
        <p:nvSpPr>
          <p:cNvPr id="34" name="Text 28"/>
          <p:cNvSpPr txBox="1"/>
          <p:nvPr/>
        </p:nvSpPr>
        <p:spPr>
          <a:xfrm>
            <a:off x="5010912" y="3840480"/>
            <a:ext cx="566928" cy="411480"/>
          </a:xfrm>
          <a:prstGeom prst="rect">
            <a:avLst/>
          </a:prstGeom>
          <a:noFill/>
          <a:ln/>
        </p:spPr>
        <p:txBody>
          <a:bodyPr wrap="square" lIns="0" tIns="0" rIns="0" bIns="0" rtlCol="0" anchor="ctr"/>
          <a:lstStyle/>
          <a:p>
            <a:pPr indent="0" marL="0">
              <a:buNone/>
            </a:pPr>
            <a:r>
              <a:rPr lang="en-US" sz="1200" b="1" dirty="0">
                <a:solidFill>
                  <a:schemeClr val="bg1"/>
                </a:solidFill>
              </a:rPr>
              <a:t>Copilot</a:t>
            </a:r>
            <a:endParaRPr lang="en-US" sz="1200" dirty="0"/>
          </a:p>
        </p:txBody>
      </p:sp>
      <p:sp>
        <p:nvSpPr>
          <p:cNvPr id="35" name="pill"/>
          <p:cNvSpPr/>
          <p:nvPr/>
        </p:nvSpPr>
        <p:spPr>
          <a:xfrm>
            <a:off x="5742432" y="3840480"/>
            <a:ext cx="822960" cy="411480"/>
          </a:xfrm>
          <a:prstGeom prst="roundRect">
            <a:avLst>
              <a:gd name="adj" fmla="val 50000"/>
            </a:avLst>
          </a:prstGeom>
          <a:solidFill>
            <a:schemeClr val="accent4"/>
          </a:solidFill>
          <a:ln w="12700">
            <a:solidFill>
              <a:schemeClr val="accent4"/>
            </a:solidFill>
            <a:prstDash val="solid"/>
          </a:ln>
        </p:spPr>
      </p:sp>
      <p:sp>
        <p:nvSpPr>
          <p:cNvPr id="36" name="Text 30"/>
          <p:cNvSpPr txBox="1"/>
          <p:nvPr/>
        </p:nvSpPr>
        <p:spPr>
          <a:xfrm>
            <a:off x="5907024" y="3840480"/>
            <a:ext cx="566928" cy="411480"/>
          </a:xfrm>
          <a:prstGeom prst="rect">
            <a:avLst/>
          </a:prstGeom>
          <a:noFill/>
          <a:ln/>
        </p:spPr>
        <p:txBody>
          <a:bodyPr wrap="square" lIns="0" tIns="0" rIns="0" bIns="0" rtlCol="0" anchor="ctr"/>
          <a:lstStyle/>
          <a:p>
            <a:pPr indent="0" marL="0">
              <a:buNone/>
            </a:pPr>
            <a:r>
              <a:rPr lang="en-US" sz="1200" b="1" dirty="0">
                <a:solidFill>
                  <a:schemeClr val="bg1"/>
                </a:solidFill>
              </a:rPr>
              <a:t>ChatGPT</a:t>
            </a:r>
            <a:endParaRPr lang="en-US" sz="1200" dirty="0"/>
          </a:p>
        </p:txBody>
      </p:sp>
      <p:sp>
        <p:nvSpPr>
          <p:cNvPr id="37" name="pill"/>
          <p:cNvSpPr/>
          <p:nvPr/>
        </p:nvSpPr>
        <p:spPr>
          <a:xfrm>
            <a:off x="6638544" y="3840480"/>
            <a:ext cx="1417320" cy="411480"/>
          </a:xfrm>
          <a:prstGeom prst="roundRect">
            <a:avLst>
              <a:gd name="adj" fmla="val 50000"/>
            </a:avLst>
          </a:prstGeom>
          <a:solidFill>
            <a:schemeClr val="accent4"/>
          </a:solidFill>
          <a:ln w="12700">
            <a:solidFill>
              <a:schemeClr val="accent4"/>
            </a:solidFill>
            <a:prstDash val="solid"/>
          </a:ln>
        </p:spPr>
      </p:sp>
      <p:sp>
        <p:nvSpPr>
          <p:cNvPr id="38" name="Text 32"/>
          <p:cNvSpPr txBox="1"/>
          <p:nvPr/>
        </p:nvSpPr>
        <p:spPr>
          <a:xfrm>
            <a:off x="6803136" y="3840480"/>
            <a:ext cx="1161288" cy="411480"/>
          </a:xfrm>
          <a:prstGeom prst="rect">
            <a:avLst/>
          </a:prstGeom>
          <a:noFill/>
          <a:ln/>
        </p:spPr>
        <p:txBody>
          <a:bodyPr wrap="square" lIns="0" tIns="0" rIns="0" bIns="0" rtlCol="0" anchor="ctr"/>
          <a:lstStyle/>
          <a:p>
            <a:pPr indent="0" marL="0">
              <a:buNone/>
            </a:pPr>
            <a:r>
              <a:rPr lang="en-US" sz="1200" b="1" dirty="0">
                <a:solidFill>
                  <a:schemeClr val="bg1"/>
                </a:solidFill>
              </a:rPr>
              <a:t>Content creation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Career roles in AI</a:t>
            </a:r>
            <a:endParaRPr lang="en-US" sz="3400" dirty="0"/>
          </a:p>
        </p:txBody>
      </p:sp>
      <p:sp>
        <p:nvSpPr>
          <p:cNvPr id="3" name="card"/>
          <p:cNvSpPr/>
          <p:nvPr/>
        </p:nvSpPr>
        <p:spPr>
          <a:xfrm>
            <a:off x="457200" y="1188720"/>
            <a:ext cx="2606040" cy="338328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ier header"/>
          <p:cNvSpPr/>
          <p:nvPr/>
        </p:nvSpPr>
        <p:spPr>
          <a:xfrm>
            <a:off x="457200" y="1188720"/>
            <a:ext cx="2606040" cy="457200"/>
          </a:xfrm>
          <a:prstGeom prst="roundRect">
            <a:avLst>
              <a:gd name="adj" fmla="val 24000"/>
            </a:avLst>
          </a:prstGeom>
          <a:solidFill>
            <a:schemeClr val="accent3"/>
          </a:solidFill>
          <a:ln w="12700">
            <a:solidFill>
              <a:schemeClr val="accent3"/>
            </a:solidFill>
            <a:prstDash val="solid"/>
          </a:ln>
        </p:spPr>
      </p:sp>
      <p:sp>
        <p:nvSpPr>
          <p:cNvPr id="5" name="Text 3"/>
          <p:cNvSpPr txBox="1"/>
          <p:nvPr/>
        </p:nvSpPr>
        <p:spPr>
          <a:xfrm>
            <a:off x="457200" y="1188720"/>
            <a:ext cx="2606040" cy="457200"/>
          </a:xfrm>
          <a:prstGeom prst="rect">
            <a:avLst/>
          </a:prstGeom>
          <a:noFill/>
          <a:ln/>
        </p:spPr>
        <p:txBody>
          <a:bodyPr wrap="square" lIns="0" tIns="0" rIns="0" bIns="0" rtlCol="0" anchor="ctr"/>
          <a:lstStyle/>
          <a:p>
            <a:pPr algn="ctr" indent="0" marL="0">
              <a:buNone/>
            </a:pPr>
            <a:r>
              <a:rPr lang="en-US" sz="1600" b="1" dirty="0">
                <a:solidFill>
                  <a:schemeClr val="bg1"/>
                </a:solidFill>
              </a:rPr>
              <a:t>Entry level</a:t>
            </a:r>
            <a:endParaRPr lang="en-US" sz="1600" dirty="0"/>
          </a:p>
        </p:txBody>
      </p:sp>
      <p:sp>
        <p:nvSpPr>
          <p:cNvPr id="6" name="Text 4"/>
          <p:cNvSpPr txBox="1"/>
          <p:nvPr/>
        </p:nvSpPr>
        <p:spPr>
          <a:xfrm>
            <a:off x="640080" y="1783080"/>
            <a:ext cx="2286000" cy="1188720"/>
          </a:xfrm>
          <a:prstGeom prst="rect">
            <a:avLst/>
          </a:prstGeom>
          <a:noFill/>
          <a:ln/>
        </p:spPr>
        <p:txBody>
          <a:bodyPr wrap="square" lIns="0" tIns="0" rIns="0" bIns="0" rtlCol="0" anchor="t"/>
          <a:lstStyle/>
          <a:p>
            <a:pPr marL="342900" indent="-342900">
              <a:spcAft>
                <a:spcPts val="200"/>
              </a:spcAft>
              <a:buSzPct val="100000"/>
              <a:buChar char="•"/>
            </a:pPr>
            <a:r>
              <a:rPr lang="en-US" sz="1400" b="1" dirty="0">
                <a:solidFill>
                  <a:schemeClr val="tx1"/>
                </a:solidFill>
              </a:rPr>
              <a:t>Data Analyst</a:t>
            </a:r>
            <a:endParaRPr lang="en-US" sz="1400" dirty="0"/>
          </a:p>
          <a:p>
            <a:pPr marL="342900" indent="-342900">
              <a:spcAft>
                <a:spcPts val="200"/>
              </a:spcAft>
              <a:buSzPct val="100000"/>
              <a:buChar char="•"/>
            </a:pPr>
            <a:r>
              <a:rPr lang="en-US" sz="1400" b="1" dirty="0">
                <a:solidFill>
                  <a:schemeClr val="tx1"/>
                </a:solidFill>
              </a:rPr>
              <a:t>BI Analyst</a:t>
            </a:r>
            <a:endParaRPr lang="en-US" sz="1400" dirty="0"/>
          </a:p>
          <a:p>
            <a:pPr marL="342900" indent="-342900">
              <a:spcAft>
                <a:spcPts val="200"/>
              </a:spcAft>
              <a:buSzPct val="100000"/>
              <a:buChar char="•"/>
            </a:pPr>
            <a:r>
              <a:rPr lang="en-US" sz="1400" b="1" dirty="0">
                <a:solidFill>
                  <a:schemeClr val="tx1"/>
                </a:solidFill>
              </a:rPr>
              <a:t>SQL Developer</a:t>
            </a:r>
            <a:endParaRPr lang="en-US" sz="1400" dirty="0"/>
          </a:p>
        </p:txBody>
      </p:sp>
      <p:sp>
        <p:nvSpPr>
          <p:cNvPr id="7" name="Text 5"/>
          <p:cNvSpPr txBox="1"/>
          <p:nvPr/>
        </p:nvSpPr>
        <p:spPr>
          <a:xfrm>
            <a:off x="640080" y="3063240"/>
            <a:ext cx="2194560" cy="201168"/>
          </a:xfrm>
          <a:prstGeom prst="rect">
            <a:avLst/>
          </a:prstGeom>
          <a:noFill/>
          <a:ln/>
        </p:spPr>
        <p:txBody>
          <a:bodyPr wrap="square" lIns="0" tIns="0" rIns="0" bIns="0" rtlCol="0" anchor="ctr"/>
          <a:lstStyle/>
          <a:p>
            <a:pPr indent="0" marL="0">
              <a:buNone/>
            </a:pPr>
            <a:r>
              <a:rPr lang="en-US" sz="1100" b="1" dirty="0">
                <a:solidFill>
                  <a:schemeClr val="accent3"/>
                </a:solidFill>
              </a:rPr>
              <a:t>SKILLS</a:t>
            </a:r>
            <a:endParaRPr lang="en-US" sz="1100" dirty="0"/>
          </a:p>
        </p:txBody>
      </p:sp>
      <p:sp>
        <p:nvSpPr>
          <p:cNvPr id="8" name="Text 6"/>
          <p:cNvSpPr txBox="1"/>
          <p:nvPr/>
        </p:nvSpPr>
        <p:spPr>
          <a:xfrm>
            <a:off x="640080" y="3273552"/>
            <a:ext cx="2286000" cy="457200"/>
          </a:xfrm>
          <a:prstGeom prst="rect">
            <a:avLst/>
          </a:prstGeom>
          <a:noFill/>
          <a:ln/>
        </p:spPr>
        <p:txBody>
          <a:bodyPr wrap="square" lIns="0" tIns="0" rIns="0" bIns="0" rtlCol="0" anchor="t"/>
          <a:lstStyle/>
          <a:p>
            <a:pPr indent="0" marL="0">
              <a:buNone/>
            </a:pPr>
            <a:r>
              <a:rPr lang="en-US" sz="1400" dirty="0">
                <a:solidFill>
                  <a:schemeClr val="tx1"/>
                </a:solidFill>
              </a:rPr>
              <a:t>SQL, Excel, Power BI</a:t>
            </a:r>
            <a:endParaRPr lang="en-US" sz="1400" dirty="0"/>
          </a:p>
        </p:txBody>
      </p:sp>
      <p:sp>
        <p:nvSpPr>
          <p:cNvPr id="9" name="Text 7"/>
          <p:cNvSpPr txBox="1"/>
          <p:nvPr/>
        </p:nvSpPr>
        <p:spPr>
          <a:xfrm>
            <a:off x="640080" y="3794760"/>
            <a:ext cx="2194560" cy="201168"/>
          </a:xfrm>
          <a:prstGeom prst="rect">
            <a:avLst/>
          </a:prstGeom>
          <a:noFill/>
          <a:ln/>
        </p:spPr>
        <p:txBody>
          <a:bodyPr wrap="square" lIns="0" tIns="0" rIns="0" bIns="0" rtlCol="0" anchor="ctr"/>
          <a:lstStyle/>
          <a:p>
            <a:pPr indent="0" marL="0">
              <a:buNone/>
            </a:pPr>
            <a:r>
              <a:rPr lang="en-US" sz="1100" b="1" dirty="0">
                <a:solidFill>
                  <a:schemeClr val="accent3"/>
                </a:solidFill>
              </a:rPr>
              <a:t>DEMAND AND GROWTH</a:t>
            </a:r>
            <a:endParaRPr lang="en-US" sz="1100" dirty="0"/>
          </a:p>
        </p:txBody>
      </p:sp>
      <p:sp>
        <p:nvSpPr>
          <p:cNvPr id="10" name="Text 8"/>
          <p:cNvSpPr txBox="1"/>
          <p:nvPr/>
        </p:nvSpPr>
        <p:spPr>
          <a:xfrm>
            <a:off x="640080" y="4005072"/>
            <a:ext cx="2286000" cy="457200"/>
          </a:xfrm>
          <a:prstGeom prst="rect">
            <a:avLst/>
          </a:prstGeom>
          <a:noFill/>
          <a:ln/>
        </p:spPr>
        <p:txBody>
          <a:bodyPr wrap="square" lIns="0" tIns="0" rIns="0" bIns="0" rtlCol="0" anchor="t"/>
          <a:lstStyle/>
          <a:p>
            <a:pPr indent="0" marL="0">
              <a:buNone/>
            </a:pPr>
            <a:r>
              <a:rPr lang="en-US" sz="1400" dirty="0">
                <a:solidFill>
                  <a:schemeClr val="tx1"/>
                </a:solidFill>
              </a:rPr>
              <a:t>High demand, easy to start</a:t>
            </a:r>
            <a:endParaRPr lang="en-US" sz="1400" dirty="0"/>
          </a:p>
        </p:txBody>
      </p:sp>
      <p:sp>
        <p:nvSpPr>
          <p:cNvPr id="11" name="arrow"/>
          <p:cNvSpPr/>
          <p:nvPr/>
        </p:nvSpPr>
        <p:spPr>
          <a:xfrm>
            <a:off x="3081528" y="2834640"/>
            <a:ext cx="256032" cy="0"/>
          </a:xfrm>
          <a:prstGeom prst="line">
            <a:avLst/>
          </a:prstGeom>
          <a:noFill/>
          <a:ln w="25400">
            <a:solidFill>
              <a:schemeClr val="accent2"/>
            </a:solidFill>
            <a:prstDash val="solid"/>
            <a:tailEnd type="triangle"/>
          </a:ln>
        </p:spPr>
      </p:sp>
      <p:sp>
        <p:nvSpPr>
          <p:cNvPr id="12" name="card"/>
          <p:cNvSpPr/>
          <p:nvPr/>
        </p:nvSpPr>
        <p:spPr>
          <a:xfrm>
            <a:off x="3383280" y="1188720"/>
            <a:ext cx="2606040" cy="338328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tier header"/>
          <p:cNvSpPr/>
          <p:nvPr/>
        </p:nvSpPr>
        <p:spPr>
          <a:xfrm>
            <a:off x="3383280" y="1188720"/>
            <a:ext cx="2606040" cy="457200"/>
          </a:xfrm>
          <a:prstGeom prst="roundRect">
            <a:avLst>
              <a:gd name="adj" fmla="val 24000"/>
            </a:avLst>
          </a:prstGeom>
          <a:solidFill>
            <a:schemeClr val="accent1"/>
          </a:solidFill>
          <a:ln w="12700">
            <a:solidFill>
              <a:schemeClr val="accent1"/>
            </a:solidFill>
            <a:prstDash val="solid"/>
          </a:ln>
        </p:spPr>
      </p:sp>
      <p:sp>
        <p:nvSpPr>
          <p:cNvPr id="14" name="Text 12"/>
          <p:cNvSpPr txBox="1"/>
          <p:nvPr/>
        </p:nvSpPr>
        <p:spPr>
          <a:xfrm>
            <a:off x="3383280" y="1188720"/>
            <a:ext cx="2606040" cy="457200"/>
          </a:xfrm>
          <a:prstGeom prst="rect">
            <a:avLst/>
          </a:prstGeom>
          <a:noFill/>
          <a:ln/>
        </p:spPr>
        <p:txBody>
          <a:bodyPr wrap="square" lIns="0" tIns="0" rIns="0" bIns="0" rtlCol="0" anchor="ctr"/>
          <a:lstStyle/>
          <a:p>
            <a:pPr algn="ctr" indent="0" marL="0">
              <a:buNone/>
            </a:pPr>
            <a:r>
              <a:rPr lang="en-US" sz="1600" b="1" dirty="0">
                <a:solidFill>
                  <a:schemeClr val="bg1"/>
                </a:solidFill>
              </a:rPr>
              <a:t>Intermediate</a:t>
            </a:r>
            <a:endParaRPr lang="en-US" sz="1600" dirty="0"/>
          </a:p>
        </p:txBody>
      </p:sp>
      <p:sp>
        <p:nvSpPr>
          <p:cNvPr id="15" name="Text 13"/>
          <p:cNvSpPr txBox="1"/>
          <p:nvPr/>
        </p:nvSpPr>
        <p:spPr>
          <a:xfrm>
            <a:off x="3566160" y="1783080"/>
            <a:ext cx="2286000" cy="1188720"/>
          </a:xfrm>
          <a:prstGeom prst="rect">
            <a:avLst/>
          </a:prstGeom>
          <a:noFill/>
          <a:ln/>
        </p:spPr>
        <p:txBody>
          <a:bodyPr wrap="square" lIns="0" tIns="0" rIns="0" bIns="0" rtlCol="0" anchor="t"/>
          <a:lstStyle/>
          <a:p>
            <a:pPr marL="342900" indent="-342900">
              <a:spcAft>
                <a:spcPts val="200"/>
              </a:spcAft>
              <a:buSzPct val="100000"/>
              <a:buChar char="•"/>
            </a:pPr>
            <a:r>
              <a:rPr lang="en-US" sz="1400" b="1" dirty="0">
                <a:solidFill>
                  <a:schemeClr val="tx1"/>
                </a:solidFill>
              </a:rPr>
              <a:t>Data Scientist</a:t>
            </a:r>
            <a:endParaRPr lang="en-US" sz="1400" dirty="0"/>
          </a:p>
          <a:p>
            <a:pPr marL="342900" indent="-342900">
              <a:spcAft>
                <a:spcPts val="200"/>
              </a:spcAft>
              <a:buSzPct val="100000"/>
              <a:buChar char="•"/>
            </a:pPr>
            <a:r>
              <a:rPr lang="en-US" sz="1400" b="1" dirty="0">
                <a:solidFill>
                  <a:schemeClr val="tx1"/>
                </a:solidFill>
              </a:rPr>
              <a:t>ML Engineer</a:t>
            </a:r>
            <a:endParaRPr lang="en-US" sz="1400" dirty="0"/>
          </a:p>
          <a:p>
            <a:pPr marL="342900" indent="-342900">
              <a:spcAft>
                <a:spcPts val="200"/>
              </a:spcAft>
              <a:buSzPct val="100000"/>
              <a:buChar char="•"/>
            </a:pPr>
            <a:r>
              <a:rPr lang="en-US" sz="1400" b="1" dirty="0">
                <a:solidFill>
                  <a:schemeClr val="tx1"/>
                </a:solidFill>
              </a:rPr>
              <a:t>AI Engineer</a:t>
            </a:r>
            <a:endParaRPr lang="en-US" sz="1400" dirty="0"/>
          </a:p>
          <a:p>
            <a:pPr marL="342900" indent="-342900">
              <a:spcAft>
                <a:spcPts val="200"/>
              </a:spcAft>
              <a:buSzPct val="100000"/>
              <a:buChar char="•"/>
            </a:pPr>
            <a:r>
              <a:rPr lang="en-US" sz="1400" b="1" dirty="0">
                <a:solidFill>
                  <a:schemeClr val="tx1"/>
                </a:solidFill>
              </a:rPr>
              <a:t>Computer Vision Engineer</a:t>
            </a:r>
            <a:endParaRPr lang="en-US" sz="1400" dirty="0"/>
          </a:p>
        </p:txBody>
      </p:sp>
      <p:sp>
        <p:nvSpPr>
          <p:cNvPr id="16" name="Text 14"/>
          <p:cNvSpPr txBox="1"/>
          <p:nvPr/>
        </p:nvSpPr>
        <p:spPr>
          <a:xfrm>
            <a:off x="3566160" y="3063240"/>
            <a:ext cx="2194560" cy="201168"/>
          </a:xfrm>
          <a:prstGeom prst="rect">
            <a:avLst/>
          </a:prstGeom>
          <a:noFill/>
          <a:ln/>
        </p:spPr>
        <p:txBody>
          <a:bodyPr wrap="square" lIns="0" tIns="0" rIns="0" bIns="0" rtlCol="0" anchor="ctr"/>
          <a:lstStyle/>
          <a:p>
            <a:pPr indent="0" marL="0">
              <a:buNone/>
            </a:pPr>
            <a:r>
              <a:rPr lang="en-US" sz="1100" b="1" dirty="0">
                <a:solidFill>
                  <a:schemeClr val="accent1"/>
                </a:solidFill>
              </a:rPr>
              <a:t>SKILLS</a:t>
            </a:r>
            <a:endParaRPr lang="en-US" sz="1100" dirty="0"/>
          </a:p>
        </p:txBody>
      </p:sp>
      <p:sp>
        <p:nvSpPr>
          <p:cNvPr id="17" name="Text 15"/>
          <p:cNvSpPr txBox="1"/>
          <p:nvPr/>
        </p:nvSpPr>
        <p:spPr>
          <a:xfrm>
            <a:off x="3566160" y="3273552"/>
            <a:ext cx="2286000" cy="457200"/>
          </a:xfrm>
          <a:prstGeom prst="rect">
            <a:avLst/>
          </a:prstGeom>
          <a:noFill/>
          <a:ln/>
        </p:spPr>
        <p:txBody>
          <a:bodyPr wrap="square" lIns="0" tIns="0" rIns="0" bIns="0" rtlCol="0" anchor="t"/>
          <a:lstStyle/>
          <a:p>
            <a:pPr indent="0" marL="0">
              <a:buNone/>
            </a:pPr>
            <a:r>
              <a:rPr lang="en-US" sz="1400" dirty="0">
                <a:solidFill>
                  <a:schemeClr val="tx1"/>
                </a:solidFill>
              </a:rPr>
              <a:t>Python, ML, statistics</a:t>
            </a:r>
            <a:endParaRPr lang="en-US" sz="1400" dirty="0"/>
          </a:p>
        </p:txBody>
      </p:sp>
      <p:sp>
        <p:nvSpPr>
          <p:cNvPr id="18" name="Text 16"/>
          <p:cNvSpPr txBox="1"/>
          <p:nvPr/>
        </p:nvSpPr>
        <p:spPr>
          <a:xfrm>
            <a:off x="3566160" y="3794760"/>
            <a:ext cx="2194560" cy="201168"/>
          </a:xfrm>
          <a:prstGeom prst="rect">
            <a:avLst/>
          </a:prstGeom>
          <a:noFill/>
          <a:ln/>
        </p:spPr>
        <p:txBody>
          <a:bodyPr wrap="square" lIns="0" tIns="0" rIns="0" bIns="0" rtlCol="0" anchor="ctr"/>
          <a:lstStyle/>
          <a:p>
            <a:pPr indent="0" marL="0">
              <a:buNone/>
            </a:pPr>
            <a:r>
              <a:rPr lang="en-US" sz="1100" b="1" dirty="0">
                <a:solidFill>
                  <a:schemeClr val="accent1"/>
                </a:solidFill>
              </a:rPr>
              <a:t>DEMAND AND GROWTH</a:t>
            </a:r>
            <a:endParaRPr lang="en-US" sz="1100" dirty="0"/>
          </a:p>
        </p:txBody>
      </p:sp>
      <p:sp>
        <p:nvSpPr>
          <p:cNvPr id="19" name="Text 17"/>
          <p:cNvSpPr txBox="1"/>
          <p:nvPr/>
        </p:nvSpPr>
        <p:spPr>
          <a:xfrm>
            <a:off x="3566160" y="4005072"/>
            <a:ext cx="2286000" cy="457200"/>
          </a:xfrm>
          <a:prstGeom prst="rect">
            <a:avLst/>
          </a:prstGeom>
          <a:noFill/>
          <a:ln/>
        </p:spPr>
        <p:txBody>
          <a:bodyPr wrap="square" lIns="0" tIns="0" rIns="0" bIns="0" rtlCol="0" anchor="t"/>
          <a:lstStyle/>
          <a:p>
            <a:pPr indent="0" marL="0">
              <a:buNone/>
            </a:pPr>
            <a:r>
              <a:rPr lang="en-US" sz="1400" dirty="0">
                <a:solidFill>
                  <a:schemeClr val="tx1"/>
                </a:solidFill>
              </a:rPr>
              <a:t>Very high demand</a:t>
            </a:r>
            <a:endParaRPr lang="en-US" sz="1400" dirty="0"/>
          </a:p>
        </p:txBody>
      </p:sp>
      <p:sp>
        <p:nvSpPr>
          <p:cNvPr id="20" name="arrow"/>
          <p:cNvSpPr/>
          <p:nvPr/>
        </p:nvSpPr>
        <p:spPr>
          <a:xfrm>
            <a:off x="6007608" y="2834640"/>
            <a:ext cx="256032" cy="0"/>
          </a:xfrm>
          <a:prstGeom prst="line">
            <a:avLst/>
          </a:prstGeom>
          <a:noFill/>
          <a:ln w="25400">
            <a:solidFill>
              <a:schemeClr val="accent2"/>
            </a:solidFill>
            <a:prstDash val="solid"/>
            <a:tailEnd type="triangle"/>
          </a:ln>
        </p:spPr>
      </p:sp>
      <p:sp>
        <p:nvSpPr>
          <p:cNvPr id="21" name="card"/>
          <p:cNvSpPr/>
          <p:nvPr/>
        </p:nvSpPr>
        <p:spPr>
          <a:xfrm>
            <a:off x="6309360" y="1188720"/>
            <a:ext cx="2606040" cy="338328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tier header"/>
          <p:cNvSpPr/>
          <p:nvPr/>
        </p:nvSpPr>
        <p:spPr>
          <a:xfrm>
            <a:off x="6309360" y="1188720"/>
            <a:ext cx="2606040" cy="457200"/>
          </a:xfrm>
          <a:prstGeom prst="roundRect">
            <a:avLst>
              <a:gd name="adj" fmla="val 24000"/>
            </a:avLst>
          </a:prstGeom>
          <a:solidFill>
            <a:schemeClr val="accent2"/>
          </a:solidFill>
          <a:ln w="12700">
            <a:solidFill>
              <a:schemeClr val="accent2"/>
            </a:solidFill>
            <a:prstDash val="solid"/>
          </a:ln>
        </p:spPr>
      </p:sp>
      <p:sp>
        <p:nvSpPr>
          <p:cNvPr id="23" name="Text 21"/>
          <p:cNvSpPr txBox="1"/>
          <p:nvPr/>
        </p:nvSpPr>
        <p:spPr>
          <a:xfrm>
            <a:off x="6309360" y="1188720"/>
            <a:ext cx="2606040" cy="457200"/>
          </a:xfrm>
          <a:prstGeom prst="rect">
            <a:avLst/>
          </a:prstGeom>
          <a:noFill/>
          <a:ln/>
        </p:spPr>
        <p:txBody>
          <a:bodyPr wrap="square" lIns="0" tIns="0" rIns="0" bIns="0" rtlCol="0" anchor="ctr"/>
          <a:lstStyle/>
          <a:p>
            <a:pPr algn="ctr" indent="0" marL="0">
              <a:buNone/>
            </a:pPr>
            <a:r>
              <a:rPr lang="en-US" sz="1600" b="1" dirty="0">
                <a:solidFill>
                  <a:schemeClr val="bg1"/>
                </a:solidFill>
              </a:rPr>
              <a:t>Advanced</a:t>
            </a:r>
            <a:endParaRPr lang="en-US" sz="1600" dirty="0"/>
          </a:p>
        </p:txBody>
      </p:sp>
      <p:sp>
        <p:nvSpPr>
          <p:cNvPr id="24" name="Text 22"/>
          <p:cNvSpPr txBox="1"/>
          <p:nvPr/>
        </p:nvSpPr>
        <p:spPr>
          <a:xfrm>
            <a:off x="6492240" y="1783080"/>
            <a:ext cx="2286000" cy="1188720"/>
          </a:xfrm>
          <a:prstGeom prst="rect">
            <a:avLst/>
          </a:prstGeom>
          <a:noFill/>
          <a:ln/>
        </p:spPr>
        <p:txBody>
          <a:bodyPr wrap="square" lIns="0" tIns="0" rIns="0" bIns="0" rtlCol="0" anchor="t"/>
          <a:lstStyle/>
          <a:p>
            <a:pPr marL="342900" indent="-342900">
              <a:spcAft>
                <a:spcPts val="200"/>
              </a:spcAft>
              <a:buSzPct val="100000"/>
              <a:buChar char="•"/>
            </a:pPr>
            <a:r>
              <a:rPr lang="en-US" sz="1400" b="1" dirty="0">
                <a:solidFill>
                  <a:schemeClr val="tx1"/>
                </a:solidFill>
              </a:rPr>
              <a:t>MLOps Engineer</a:t>
            </a:r>
            <a:endParaRPr lang="en-US" sz="1400" dirty="0"/>
          </a:p>
          <a:p>
            <a:pPr marL="342900" indent="-342900">
              <a:spcAft>
                <a:spcPts val="200"/>
              </a:spcAft>
              <a:buSzPct val="100000"/>
              <a:buChar char="•"/>
            </a:pPr>
            <a:r>
              <a:rPr lang="en-US" sz="1400" b="1" dirty="0">
                <a:solidFill>
                  <a:schemeClr val="tx1"/>
                </a:solidFill>
              </a:rPr>
              <a:t>AI Architect</a:t>
            </a:r>
            <a:endParaRPr lang="en-US" sz="1400" dirty="0"/>
          </a:p>
          <a:p>
            <a:pPr marL="342900" indent="-342900">
              <a:spcAft>
                <a:spcPts val="200"/>
              </a:spcAft>
              <a:buSzPct val="100000"/>
              <a:buChar char="•"/>
            </a:pPr>
            <a:r>
              <a:rPr lang="en-US" sz="1400" b="1" dirty="0">
                <a:solidFill>
                  <a:schemeClr val="tx1"/>
                </a:solidFill>
              </a:rPr>
              <a:t>GenAI Engineer</a:t>
            </a:r>
            <a:endParaRPr lang="en-US" sz="1400" dirty="0"/>
          </a:p>
          <a:p>
            <a:pPr marL="342900" indent="-342900">
              <a:spcAft>
                <a:spcPts val="200"/>
              </a:spcAft>
              <a:buSzPct val="100000"/>
              <a:buChar char="•"/>
            </a:pPr>
            <a:r>
              <a:rPr lang="en-US" sz="1400" b="1" dirty="0">
                <a:solidFill>
                  <a:schemeClr val="tx1"/>
                </a:solidFill>
              </a:rPr>
              <a:t>AI Research Scientist</a:t>
            </a:r>
            <a:endParaRPr lang="en-US" sz="1400" dirty="0"/>
          </a:p>
        </p:txBody>
      </p:sp>
      <p:sp>
        <p:nvSpPr>
          <p:cNvPr id="25" name="Text 23"/>
          <p:cNvSpPr txBox="1"/>
          <p:nvPr/>
        </p:nvSpPr>
        <p:spPr>
          <a:xfrm>
            <a:off x="6492240" y="3063240"/>
            <a:ext cx="2194560" cy="201168"/>
          </a:xfrm>
          <a:prstGeom prst="rect">
            <a:avLst/>
          </a:prstGeom>
          <a:noFill/>
          <a:ln/>
        </p:spPr>
        <p:txBody>
          <a:bodyPr wrap="square" lIns="0" tIns="0" rIns="0" bIns="0" rtlCol="0" anchor="ctr"/>
          <a:lstStyle/>
          <a:p>
            <a:pPr indent="0" marL="0">
              <a:buNone/>
            </a:pPr>
            <a:r>
              <a:rPr lang="en-US" sz="1100" b="1" dirty="0">
                <a:solidFill>
                  <a:schemeClr val="accent2"/>
                </a:solidFill>
              </a:rPr>
              <a:t>SKILLS</a:t>
            </a:r>
            <a:endParaRPr lang="en-US" sz="1100" dirty="0"/>
          </a:p>
        </p:txBody>
      </p:sp>
      <p:sp>
        <p:nvSpPr>
          <p:cNvPr id="26" name="Text 24"/>
          <p:cNvSpPr txBox="1"/>
          <p:nvPr/>
        </p:nvSpPr>
        <p:spPr>
          <a:xfrm>
            <a:off x="6492240" y="3273552"/>
            <a:ext cx="2286000" cy="457200"/>
          </a:xfrm>
          <a:prstGeom prst="rect">
            <a:avLst/>
          </a:prstGeom>
          <a:noFill/>
          <a:ln/>
        </p:spPr>
        <p:txBody>
          <a:bodyPr wrap="square" lIns="0" tIns="0" rIns="0" bIns="0" rtlCol="0" anchor="t"/>
          <a:lstStyle/>
          <a:p>
            <a:pPr indent="0" marL="0">
              <a:buNone/>
            </a:pPr>
            <a:r>
              <a:rPr lang="en-US" sz="1400" dirty="0">
                <a:solidFill>
                  <a:schemeClr val="tx1"/>
                </a:solidFill>
              </a:rPr>
              <a:t>Deployment, system design, LLMs</a:t>
            </a:r>
            <a:endParaRPr lang="en-US" sz="1400" dirty="0"/>
          </a:p>
        </p:txBody>
      </p:sp>
      <p:sp>
        <p:nvSpPr>
          <p:cNvPr id="27" name="Text 25"/>
          <p:cNvSpPr txBox="1"/>
          <p:nvPr/>
        </p:nvSpPr>
        <p:spPr>
          <a:xfrm>
            <a:off x="6492240" y="3794760"/>
            <a:ext cx="2194560" cy="201168"/>
          </a:xfrm>
          <a:prstGeom prst="rect">
            <a:avLst/>
          </a:prstGeom>
          <a:noFill/>
          <a:ln/>
        </p:spPr>
        <p:txBody>
          <a:bodyPr wrap="square" lIns="0" tIns="0" rIns="0" bIns="0" rtlCol="0" anchor="ctr"/>
          <a:lstStyle/>
          <a:p>
            <a:pPr indent="0" marL="0">
              <a:buNone/>
            </a:pPr>
            <a:r>
              <a:rPr lang="en-US" sz="1100" b="1" dirty="0">
                <a:solidFill>
                  <a:schemeClr val="accent2"/>
                </a:solidFill>
              </a:rPr>
              <a:t>DEMAND AND GROWTH</a:t>
            </a:r>
            <a:endParaRPr lang="en-US" sz="1100" dirty="0"/>
          </a:p>
        </p:txBody>
      </p:sp>
      <p:sp>
        <p:nvSpPr>
          <p:cNvPr id="28" name="Text 26"/>
          <p:cNvSpPr txBox="1"/>
          <p:nvPr/>
        </p:nvSpPr>
        <p:spPr>
          <a:xfrm>
            <a:off x="6492240" y="4005072"/>
            <a:ext cx="2286000" cy="457200"/>
          </a:xfrm>
          <a:prstGeom prst="rect">
            <a:avLst/>
          </a:prstGeom>
          <a:noFill/>
          <a:ln/>
        </p:spPr>
        <p:txBody>
          <a:bodyPr wrap="square" lIns="0" tIns="0" rIns="0" bIns="0" rtlCol="0" anchor="t"/>
          <a:lstStyle/>
          <a:p>
            <a:pPr indent="0" marL="0">
              <a:buNone/>
            </a:pPr>
            <a:r>
              <a:rPr lang="en-US" sz="1400" dirty="0">
                <a:solidFill>
                  <a:schemeClr val="tx1"/>
                </a:solidFill>
              </a:rPr>
              <a:t>Fast-growing, premium roles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Learning roadmap 2026</a:t>
            </a:r>
            <a:endParaRPr lang="en-US" sz="3400" dirty="0"/>
          </a:p>
        </p:txBody>
      </p:sp>
      <p:sp>
        <p:nvSpPr>
          <p:cNvPr id="3" name="card"/>
          <p:cNvSpPr/>
          <p:nvPr/>
        </p:nvSpPr>
        <p:spPr>
          <a:xfrm>
            <a:off x="457200" y="1188720"/>
            <a:ext cx="18745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number"/>
          <p:cNvSpPr/>
          <p:nvPr/>
        </p:nvSpPr>
        <p:spPr>
          <a:xfrm>
            <a:off x="594360" y="132588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9436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icon badge"/>
          <p:cNvSpPr/>
          <p:nvPr/>
        </p:nvSpPr>
        <p:spPr>
          <a:xfrm>
            <a:off x="1691640" y="1298448"/>
            <a:ext cx="457200" cy="457200"/>
          </a:xfrm>
          <a:prstGeom prst="ellipse">
            <a:avLst/>
          </a:prstGeom>
          <a:solidFill>
            <a:schemeClr val="accent1"/>
          </a:solidFill>
          <a:ln w="12700">
            <a:solidFill>
              <a:schemeClr val="accent1"/>
            </a:solidFill>
            <a:prstDash val="solid"/>
          </a:ln>
        </p:spPr>
      </p:sp>
      <p:pic>
        <p:nvPicPr>
          <p:cNvPr id="7" name="Image 0" descr="python icon">    </p:cNvPr>
          <p:cNvPicPr>
            <a:picLocks noChangeAspect="1"/>
          </p:cNvPicPr>
          <p:nvPr/>
        </p:nvPicPr>
        <p:blipFill>
          <a:blip r:embed="rId1"/>
          <a:stretch>
            <a:fillRect/>
          </a:stretch>
        </p:blipFill>
        <p:spPr>
          <a:xfrm>
            <a:off x="1805940" y="1412748"/>
            <a:ext cx="228600" cy="228600"/>
          </a:xfrm>
          <a:prstGeom prst="rect">
            <a:avLst/>
          </a:prstGeom>
        </p:spPr>
      </p:pic>
      <p:sp>
        <p:nvSpPr>
          <p:cNvPr id="8" name="Text 5"/>
          <p:cNvSpPr txBox="1"/>
          <p:nvPr/>
        </p:nvSpPr>
        <p:spPr>
          <a:xfrm>
            <a:off x="594360" y="182880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Programming</a:t>
            </a:r>
            <a:endParaRPr lang="en-US" sz="1600" dirty="0"/>
          </a:p>
        </p:txBody>
      </p:sp>
      <p:sp>
        <p:nvSpPr>
          <p:cNvPr id="9" name="Text 6"/>
          <p:cNvSpPr txBox="1"/>
          <p:nvPr/>
        </p:nvSpPr>
        <p:spPr>
          <a:xfrm>
            <a:off x="594360" y="2148840"/>
            <a:ext cx="1600200" cy="502920"/>
          </a:xfrm>
          <a:prstGeom prst="rect">
            <a:avLst/>
          </a:prstGeom>
          <a:noFill/>
          <a:ln/>
        </p:spPr>
        <p:txBody>
          <a:bodyPr wrap="square" lIns="0" tIns="0" rIns="0" bIns="0" rtlCol="0" anchor="t"/>
          <a:lstStyle/>
          <a:p>
            <a:pPr indent="0" marL="0">
              <a:buNone/>
            </a:pPr>
            <a:r>
              <a:rPr lang="en-US" sz="1400" dirty="0">
                <a:solidFill>
                  <a:schemeClr val="tx2"/>
                </a:solidFill>
              </a:rPr>
              <a:t>Python, SQL</a:t>
            </a:r>
            <a:endParaRPr lang="en-US" sz="1400" dirty="0"/>
          </a:p>
        </p:txBody>
      </p:sp>
      <p:sp>
        <p:nvSpPr>
          <p:cNvPr id="10" name="arrow"/>
          <p:cNvSpPr/>
          <p:nvPr/>
        </p:nvSpPr>
        <p:spPr>
          <a:xfrm>
            <a:off x="2359152" y="2011680"/>
            <a:ext cx="228600" cy="0"/>
          </a:xfrm>
          <a:prstGeom prst="line">
            <a:avLst/>
          </a:prstGeom>
          <a:noFill/>
          <a:ln w="25400">
            <a:solidFill>
              <a:schemeClr val="accent2"/>
            </a:solidFill>
            <a:prstDash val="solid"/>
            <a:tailEnd type="triangle"/>
          </a:ln>
        </p:spPr>
      </p:sp>
      <p:sp>
        <p:nvSpPr>
          <p:cNvPr id="11" name="card"/>
          <p:cNvSpPr/>
          <p:nvPr/>
        </p:nvSpPr>
        <p:spPr>
          <a:xfrm>
            <a:off x="2587752" y="1188720"/>
            <a:ext cx="18745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number"/>
          <p:cNvSpPr/>
          <p:nvPr/>
        </p:nvSpPr>
        <p:spPr>
          <a:xfrm>
            <a:off x="2724912" y="1325880"/>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2724912"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icon badge"/>
          <p:cNvSpPr/>
          <p:nvPr/>
        </p:nvSpPr>
        <p:spPr>
          <a:xfrm>
            <a:off x="3822192" y="1298448"/>
            <a:ext cx="457200" cy="457200"/>
          </a:xfrm>
          <a:prstGeom prst="ellipse">
            <a:avLst/>
          </a:prstGeom>
          <a:solidFill>
            <a:schemeClr val="accent1"/>
          </a:solidFill>
          <a:ln w="12700">
            <a:solidFill>
              <a:schemeClr val="accent1"/>
            </a:solidFill>
            <a:prstDash val="solid"/>
          </a:ln>
        </p:spPr>
      </p:sp>
      <p:pic>
        <p:nvPicPr>
          <p:cNvPr id="15" name="Image 1" descr="sigma icon">    </p:cNvPr>
          <p:cNvPicPr>
            <a:picLocks noChangeAspect="1"/>
          </p:cNvPicPr>
          <p:nvPr/>
        </p:nvPicPr>
        <p:blipFill>
          <a:blip r:embed="rId2"/>
          <a:stretch>
            <a:fillRect/>
          </a:stretch>
        </p:blipFill>
        <p:spPr>
          <a:xfrm>
            <a:off x="3936492" y="1412748"/>
            <a:ext cx="228600" cy="228600"/>
          </a:xfrm>
          <a:prstGeom prst="rect">
            <a:avLst/>
          </a:prstGeom>
        </p:spPr>
      </p:pic>
      <p:sp>
        <p:nvSpPr>
          <p:cNvPr id="16" name="Text 12"/>
          <p:cNvSpPr txBox="1"/>
          <p:nvPr/>
        </p:nvSpPr>
        <p:spPr>
          <a:xfrm>
            <a:off x="2724912" y="182880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Mathematics</a:t>
            </a:r>
            <a:endParaRPr lang="en-US" sz="1600" dirty="0"/>
          </a:p>
        </p:txBody>
      </p:sp>
      <p:sp>
        <p:nvSpPr>
          <p:cNvPr id="17" name="Text 13"/>
          <p:cNvSpPr txBox="1"/>
          <p:nvPr/>
        </p:nvSpPr>
        <p:spPr>
          <a:xfrm>
            <a:off x="2724912" y="2148840"/>
            <a:ext cx="1600200" cy="502920"/>
          </a:xfrm>
          <a:prstGeom prst="rect">
            <a:avLst/>
          </a:prstGeom>
          <a:noFill/>
          <a:ln/>
        </p:spPr>
        <p:txBody>
          <a:bodyPr wrap="square" lIns="0" tIns="0" rIns="0" bIns="0" rtlCol="0" anchor="t"/>
          <a:lstStyle/>
          <a:p>
            <a:pPr indent="0" marL="0">
              <a:buNone/>
            </a:pPr>
            <a:r>
              <a:rPr lang="en-US" sz="1400" dirty="0">
                <a:solidFill>
                  <a:schemeClr val="tx2"/>
                </a:solidFill>
              </a:rPr>
              <a:t>Statistics, probability, linear algebra</a:t>
            </a:r>
            <a:endParaRPr lang="en-US" sz="1400" dirty="0"/>
          </a:p>
        </p:txBody>
      </p:sp>
      <p:sp>
        <p:nvSpPr>
          <p:cNvPr id="18" name="arrow"/>
          <p:cNvSpPr/>
          <p:nvPr/>
        </p:nvSpPr>
        <p:spPr>
          <a:xfrm>
            <a:off x="4489704" y="2011680"/>
            <a:ext cx="228600" cy="0"/>
          </a:xfrm>
          <a:prstGeom prst="line">
            <a:avLst/>
          </a:prstGeom>
          <a:noFill/>
          <a:ln w="25400">
            <a:solidFill>
              <a:schemeClr val="accent2"/>
            </a:solidFill>
            <a:prstDash val="solid"/>
            <a:tailEnd type="triangle"/>
          </a:ln>
        </p:spPr>
      </p:sp>
      <p:sp>
        <p:nvSpPr>
          <p:cNvPr id="19" name="card"/>
          <p:cNvSpPr/>
          <p:nvPr/>
        </p:nvSpPr>
        <p:spPr>
          <a:xfrm>
            <a:off x="4718304" y="1188720"/>
            <a:ext cx="18745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number"/>
          <p:cNvSpPr/>
          <p:nvPr/>
        </p:nvSpPr>
        <p:spPr>
          <a:xfrm>
            <a:off x="4855464" y="1325880"/>
            <a:ext cx="384048" cy="384048"/>
          </a:xfrm>
          <a:prstGeom prst="ellipse">
            <a:avLst/>
          </a:prstGeom>
          <a:solidFill>
            <a:schemeClr val="accent3"/>
          </a:solidFill>
          <a:ln w="12700">
            <a:solidFill>
              <a:schemeClr val="accent3"/>
            </a:solidFill>
            <a:prstDash val="solid"/>
          </a:ln>
        </p:spPr>
      </p:sp>
      <p:sp>
        <p:nvSpPr>
          <p:cNvPr id="21" name="Text 17"/>
          <p:cNvSpPr txBox="1"/>
          <p:nvPr/>
        </p:nvSpPr>
        <p:spPr>
          <a:xfrm>
            <a:off x="4855464"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icon badge"/>
          <p:cNvSpPr/>
          <p:nvPr/>
        </p:nvSpPr>
        <p:spPr>
          <a:xfrm>
            <a:off x="5952744" y="1298448"/>
            <a:ext cx="457200" cy="457200"/>
          </a:xfrm>
          <a:prstGeom prst="ellipse">
            <a:avLst/>
          </a:prstGeom>
          <a:solidFill>
            <a:schemeClr val="accent3"/>
          </a:solidFill>
          <a:ln w="12700">
            <a:solidFill>
              <a:schemeClr val="accent3"/>
            </a:solidFill>
            <a:prstDash val="solid"/>
          </a:ln>
        </p:spPr>
      </p:sp>
      <p:pic>
        <p:nvPicPr>
          <p:cNvPr id="23" name="Image 2" descr="excel icon">    </p:cNvPr>
          <p:cNvPicPr>
            <a:picLocks noChangeAspect="1"/>
          </p:cNvPicPr>
          <p:nvPr/>
        </p:nvPicPr>
        <p:blipFill>
          <a:blip r:embed="rId3"/>
          <a:stretch>
            <a:fillRect/>
          </a:stretch>
        </p:blipFill>
        <p:spPr>
          <a:xfrm>
            <a:off x="6067044" y="1412748"/>
            <a:ext cx="228600" cy="228600"/>
          </a:xfrm>
          <a:prstGeom prst="rect">
            <a:avLst/>
          </a:prstGeom>
        </p:spPr>
      </p:pic>
      <p:sp>
        <p:nvSpPr>
          <p:cNvPr id="24" name="Text 19"/>
          <p:cNvSpPr txBox="1"/>
          <p:nvPr/>
        </p:nvSpPr>
        <p:spPr>
          <a:xfrm>
            <a:off x="4855464" y="182880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Data analysis</a:t>
            </a:r>
            <a:endParaRPr lang="en-US" sz="1600" dirty="0"/>
          </a:p>
        </p:txBody>
      </p:sp>
      <p:sp>
        <p:nvSpPr>
          <p:cNvPr id="25" name="Text 20"/>
          <p:cNvSpPr txBox="1"/>
          <p:nvPr/>
        </p:nvSpPr>
        <p:spPr>
          <a:xfrm>
            <a:off x="4855464" y="2148840"/>
            <a:ext cx="1600200" cy="502920"/>
          </a:xfrm>
          <a:prstGeom prst="rect">
            <a:avLst/>
          </a:prstGeom>
          <a:noFill/>
          <a:ln/>
        </p:spPr>
        <p:txBody>
          <a:bodyPr wrap="square" lIns="0" tIns="0" rIns="0" bIns="0" rtlCol="0" anchor="t"/>
          <a:lstStyle/>
          <a:p>
            <a:pPr indent="0" marL="0">
              <a:buNone/>
            </a:pPr>
            <a:r>
              <a:rPr lang="en-US" sz="1400" dirty="0">
                <a:solidFill>
                  <a:schemeClr val="tx2"/>
                </a:solidFill>
              </a:rPr>
              <a:t>Excel, Power BI, Pandas</a:t>
            </a:r>
            <a:endParaRPr lang="en-US" sz="1400" dirty="0"/>
          </a:p>
        </p:txBody>
      </p:sp>
      <p:sp>
        <p:nvSpPr>
          <p:cNvPr id="26" name="arrow"/>
          <p:cNvSpPr/>
          <p:nvPr/>
        </p:nvSpPr>
        <p:spPr>
          <a:xfrm>
            <a:off x="6620256" y="2011680"/>
            <a:ext cx="228600" cy="0"/>
          </a:xfrm>
          <a:prstGeom prst="line">
            <a:avLst/>
          </a:prstGeom>
          <a:noFill/>
          <a:ln w="25400">
            <a:solidFill>
              <a:schemeClr val="accent2"/>
            </a:solidFill>
            <a:prstDash val="solid"/>
            <a:tailEnd type="triangle"/>
          </a:ln>
        </p:spPr>
      </p:sp>
      <p:sp>
        <p:nvSpPr>
          <p:cNvPr id="27" name="card"/>
          <p:cNvSpPr/>
          <p:nvPr/>
        </p:nvSpPr>
        <p:spPr>
          <a:xfrm>
            <a:off x="6848856" y="1188720"/>
            <a:ext cx="18745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8" name="number"/>
          <p:cNvSpPr/>
          <p:nvPr/>
        </p:nvSpPr>
        <p:spPr>
          <a:xfrm>
            <a:off x="6986016" y="1325880"/>
            <a:ext cx="384048" cy="384048"/>
          </a:xfrm>
          <a:prstGeom prst="ellipse">
            <a:avLst/>
          </a:prstGeom>
          <a:solidFill>
            <a:schemeClr val="accent3"/>
          </a:solidFill>
          <a:ln w="12700">
            <a:solidFill>
              <a:schemeClr val="accent3"/>
            </a:solidFill>
            <a:prstDash val="solid"/>
          </a:ln>
        </p:spPr>
      </p:sp>
      <p:sp>
        <p:nvSpPr>
          <p:cNvPr id="29" name="Text 24"/>
          <p:cNvSpPr txBox="1"/>
          <p:nvPr/>
        </p:nvSpPr>
        <p:spPr>
          <a:xfrm>
            <a:off x="6986016"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icon badge"/>
          <p:cNvSpPr/>
          <p:nvPr/>
        </p:nvSpPr>
        <p:spPr>
          <a:xfrm>
            <a:off x="8083296" y="1298448"/>
            <a:ext cx="457200" cy="457200"/>
          </a:xfrm>
          <a:prstGeom prst="ellipse">
            <a:avLst/>
          </a:prstGeom>
          <a:solidFill>
            <a:schemeClr val="accent3"/>
          </a:solidFill>
          <a:ln w="12700">
            <a:solidFill>
              <a:schemeClr val="accent3"/>
            </a:solidFill>
            <a:prstDash val="solid"/>
          </a:ln>
        </p:spPr>
      </p:sp>
      <p:pic>
        <p:nvPicPr>
          <p:cNvPr id="31" name="Image 3" descr="cogs icon">    </p:cNvPr>
          <p:cNvPicPr>
            <a:picLocks noChangeAspect="1"/>
          </p:cNvPicPr>
          <p:nvPr/>
        </p:nvPicPr>
        <p:blipFill>
          <a:blip r:embed="rId4"/>
          <a:stretch>
            <a:fillRect/>
          </a:stretch>
        </p:blipFill>
        <p:spPr>
          <a:xfrm>
            <a:off x="8197596" y="1412748"/>
            <a:ext cx="228600" cy="228600"/>
          </a:xfrm>
          <a:prstGeom prst="rect">
            <a:avLst/>
          </a:prstGeom>
        </p:spPr>
      </p:pic>
      <p:sp>
        <p:nvSpPr>
          <p:cNvPr id="32" name="Text 26"/>
          <p:cNvSpPr txBox="1"/>
          <p:nvPr/>
        </p:nvSpPr>
        <p:spPr>
          <a:xfrm>
            <a:off x="6986016" y="1828800"/>
            <a:ext cx="1600200" cy="320040"/>
          </a:xfrm>
          <a:prstGeom prst="rect">
            <a:avLst/>
          </a:prstGeom>
          <a:noFill/>
          <a:ln/>
        </p:spPr>
        <p:txBody>
          <a:bodyPr wrap="square" lIns="0" tIns="0" rIns="0" bIns="0" rtlCol="0" anchor="ctr"/>
          <a:lstStyle/>
          <a:p>
            <a:pPr indent="0" marL="0">
              <a:buNone/>
            </a:pPr>
            <a:r>
              <a:rPr lang="en-US" sz="1600" b="1" dirty="0">
                <a:solidFill>
                  <a:schemeClr val="tx1"/>
                </a:solidFill>
              </a:rPr>
              <a:t>Machine learning</a:t>
            </a:r>
            <a:endParaRPr lang="en-US" sz="1600" dirty="0"/>
          </a:p>
        </p:txBody>
      </p:sp>
      <p:sp>
        <p:nvSpPr>
          <p:cNvPr id="33" name="Text 27"/>
          <p:cNvSpPr txBox="1"/>
          <p:nvPr/>
        </p:nvSpPr>
        <p:spPr>
          <a:xfrm>
            <a:off x="6986016" y="2148840"/>
            <a:ext cx="1600200" cy="502920"/>
          </a:xfrm>
          <a:prstGeom prst="rect">
            <a:avLst/>
          </a:prstGeom>
          <a:noFill/>
          <a:ln/>
        </p:spPr>
        <p:txBody>
          <a:bodyPr wrap="square" lIns="0" tIns="0" rIns="0" bIns="0" rtlCol="0" anchor="t"/>
          <a:lstStyle/>
          <a:p>
            <a:pPr indent="0" marL="0">
              <a:buNone/>
            </a:pPr>
            <a:r>
              <a:rPr lang="en-US" sz="1400" dirty="0">
                <a:solidFill>
                  <a:schemeClr val="tx2"/>
                </a:solidFill>
              </a:rPr>
              <a:t>Scikit-learn, XGBoost</a:t>
            </a:r>
            <a:endParaRPr lang="en-US" sz="1400" dirty="0"/>
          </a:p>
        </p:txBody>
      </p:sp>
      <p:sp>
        <p:nvSpPr>
          <p:cNvPr id="34" name="card"/>
          <p:cNvSpPr/>
          <p:nvPr/>
        </p:nvSpPr>
        <p:spPr>
          <a:xfrm>
            <a:off x="457200" y="2834640"/>
            <a:ext cx="25603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5" name="number"/>
          <p:cNvSpPr/>
          <p:nvPr/>
        </p:nvSpPr>
        <p:spPr>
          <a:xfrm>
            <a:off x="594360" y="2971800"/>
            <a:ext cx="384048" cy="384048"/>
          </a:xfrm>
          <a:prstGeom prst="ellipse">
            <a:avLst/>
          </a:prstGeom>
          <a:solidFill>
            <a:schemeClr val="accent2"/>
          </a:solidFill>
          <a:ln w="12700">
            <a:solidFill>
              <a:schemeClr val="accent2"/>
            </a:solidFill>
            <a:prstDash val="solid"/>
          </a:ln>
        </p:spPr>
      </p:sp>
      <p:sp>
        <p:nvSpPr>
          <p:cNvPr id="36" name="Text 30"/>
          <p:cNvSpPr txBox="1"/>
          <p:nvPr/>
        </p:nvSpPr>
        <p:spPr>
          <a:xfrm>
            <a:off x="59436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icon badge"/>
          <p:cNvSpPr/>
          <p:nvPr/>
        </p:nvSpPr>
        <p:spPr>
          <a:xfrm>
            <a:off x="2377440" y="2944368"/>
            <a:ext cx="457200" cy="457200"/>
          </a:xfrm>
          <a:prstGeom prst="ellipse">
            <a:avLst/>
          </a:prstGeom>
          <a:solidFill>
            <a:schemeClr val="accent2"/>
          </a:solidFill>
          <a:ln w="12700">
            <a:solidFill>
              <a:schemeClr val="accent2"/>
            </a:solidFill>
            <a:prstDash val="solid"/>
          </a:ln>
        </p:spPr>
      </p:sp>
      <p:pic>
        <p:nvPicPr>
          <p:cNvPr id="38" name="Image 4" descr="brain icon">    </p:cNvPr>
          <p:cNvPicPr>
            <a:picLocks noChangeAspect="1"/>
          </p:cNvPicPr>
          <p:nvPr/>
        </p:nvPicPr>
        <p:blipFill>
          <a:blip r:embed="rId5"/>
          <a:stretch>
            <a:fillRect/>
          </a:stretch>
        </p:blipFill>
        <p:spPr>
          <a:xfrm>
            <a:off x="2491740" y="3058668"/>
            <a:ext cx="228600" cy="228600"/>
          </a:xfrm>
          <a:prstGeom prst="rect">
            <a:avLst/>
          </a:prstGeom>
        </p:spPr>
      </p:pic>
      <p:sp>
        <p:nvSpPr>
          <p:cNvPr id="39" name="Text 32"/>
          <p:cNvSpPr txBox="1"/>
          <p:nvPr/>
        </p:nvSpPr>
        <p:spPr>
          <a:xfrm>
            <a:off x="594360" y="3474720"/>
            <a:ext cx="2286000" cy="320040"/>
          </a:xfrm>
          <a:prstGeom prst="rect">
            <a:avLst/>
          </a:prstGeom>
          <a:noFill/>
          <a:ln/>
        </p:spPr>
        <p:txBody>
          <a:bodyPr wrap="square" lIns="0" tIns="0" rIns="0" bIns="0" rtlCol="0" anchor="ctr"/>
          <a:lstStyle/>
          <a:p>
            <a:pPr indent="0" marL="0">
              <a:buNone/>
            </a:pPr>
            <a:r>
              <a:rPr lang="en-US" sz="1600" b="1" dirty="0">
                <a:solidFill>
                  <a:schemeClr val="tx1"/>
                </a:solidFill>
              </a:rPr>
              <a:t>Deep learning</a:t>
            </a:r>
            <a:endParaRPr lang="en-US" sz="1600" dirty="0"/>
          </a:p>
        </p:txBody>
      </p:sp>
      <p:sp>
        <p:nvSpPr>
          <p:cNvPr id="40" name="Text 33"/>
          <p:cNvSpPr txBox="1"/>
          <p:nvPr/>
        </p:nvSpPr>
        <p:spPr>
          <a:xfrm>
            <a:off x="594360" y="3794760"/>
            <a:ext cx="2286000" cy="502920"/>
          </a:xfrm>
          <a:prstGeom prst="rect">
            <a:avLst/>
          </a:prstGeom>
          <a:noFill/>
          <a:ln/>
        </p:spPr>
        <p:txBody>
          <a:bodyPr wrap="square" lIns="0" tIns="0" rIns="0" bIns="0" rtlCol="0" anchor="t"/>
          <a:lstStyle/>
          <a:p>
            <a:pPr indent="0" marL="0">
              <a:buNone/>
            </a:pPr>
            <a:r>
              <a:rPr lang="en-US" sz="1400" dirty="0">
                <a:solidFill>
                  <a:schemeClr val="tx2"/>
                </a:solidFill>
              </a:rPr>
              <a:t>TensorFlow, PyTorch</a:t>
            </a:r>
            <a:endParaRPr lang="en-US" sz="1400" dirty="0"/>
          </a:p>
        </p:txBody>
      </p:sp>
      <p:sp>
        <p:nvSpPr>
          <p:cNvPr id="41" name="arrow"/>
          <p:cNvSpPr/>
          <p:nvPr/>
        </p:nvSpPr>
        <p:spPr>
          <a:xfrm>
            <a:off x="3044952" y="3657600"/>
            <a:ext cx="246888" cy="0"/>
          </a:xfrm>
          <a:prstGeom prst="line">
            <a:avLst/>
          </a:prstGeom>
          <a:noFill/>
          <a:ln w="25400">
            <a:solidFill>
              <a:schemeClr val="accent2"/>
            </a:solidFill>
            <a:prstDash val="solid"/>
            <a:tailEnd type="triangle"/>
          </a:ln>
        </p:spPr>
      </p:sp>
      <p:sp>
        <p:nvSpPr>
          <p:cNvPr id="42" name="card"/>
          <p:cNvSpPr/>
          <p:nvPr/>
        </p:nvSpPr>
        <p:spPr>
          <a:xfrm>
            <a:off x="3291840" y="2834640"/>
            <a:ext cx="25603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3" name="number"/>
          <p:cNvSpPr/>
          <p:nvPr/>
        </p:nvSpPr>
        <p:spPr>
          <a:xfrm>
            <a:off x="3429000" y="2971800"/>
            <a:ext cx="384048" cy="384048"/>
          </a:xfrm>
          <a:prstGeom prst="ellipse">
            <a:avLst/>
          </a:prstGeom>
          <a:solidFill>
            <a:schemeClr val="accent2"/>
          </a:solidFill>
          <a:ln w="12700">
            <a:solidFill>
              <a:schemeClr val="accent2"/>
            </a:solidFill>
            <a:prstDash val="solid"/>
          </a:ln>
        </p:spPr>
      </p:sp>
      <p:sp>
        <p:nvSpPr>
          <p:cNvPr id="44" name="Text 37"/>
          <p:cNvSpPr txBox="1"/>
          <p:nvPr/>
        </p:nvSpPr>
        <p:spPr>
          <a:xfrm>
            <a:off x="342900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5" name="icon badge"/>
          <p:cNvSpPr/>
          <p:nvPr/>
        </p:nvSpPr>
        <p:spPr>
          <a:xfrm>
            <a:off x="5212080" y="2944368"/>
            <a:ext cx="457200" cy="457200"/>
          </a:xfrm>
          <a:prstGeom prst="ellipse">
            <a:avLst/>
          </a:prstGeom>
          <a:solidFill>
            <a:schemeClr val="accent2"/>
          </a:solidFill>
          <a:ln w="12700">
            <a:solidFill>
              <a:schemeClr val="accent2"/>
            </a:solidFill>
            <a:prstDash val="solid"/>
          </a:ln>
        </p:spPr>
      </p:sp>
      <p:pic>
        <p:nvPicPr>
          <p:cNvPr id="46" name="Image 5" descr="bulb icon">    </p:cNvPr>
          <p:cNvPicPr>
            <a:picLocks noChangeAspect="1"/>
          </p:cNvPicPr>
          <p:nvPr/>
        </p:nvPicPr>
        <p:blipFill>
          <a:blip r:embed="rId6"/>
          <a:stretch>
            <a:fillRect/>
          </a:stretch>
        </p:blipFill>
        <p:spPr>
          <a:xfrm>
            <a:off x="5326380" y="3058668"/>
            <a:ext cx="228600" cy="228600"/>
          </a:xfrm>
          <a:prstGeom prst="rect">
            <a:avLst/>
          </a:prstGeom>
        </p:spPr>
      </p:pic>
      <p:sp>
        <p:nvSpPr>
          <p:cNvPr id="47" name="Text 39"/>
          <p:cNvSpPr txBox="1"/>
          <p:nvPr/>
        </p:nvSpPr>
        <p:spPr>
          <a:xfrm>
            <a:off x="3429000" y="3474720"/>
            <a:ext cx="2286000" cy="320040"/>
          </a:xfrm>
          <a:prstGeom prst="rect">
            <a:avLst/>
          </a:prstGeom>
          <a:noFill/>
          <a:ln/>
        </p:spPr>
        <p:txBody>
          <a:bodyPr wrap="square" lIns="0" tIns="0" rIns="0" bIns="0" rtlCol="0" anchor="ctr"/>
          <a:lstStyle/>
          <a:p>
            <a:pPr indent="0" marL="0">
              <a:buNone/>
            </a:pPr>
            <a:r>
              <a:rPr lang="en-US" sz="1600" b="1" dirty="0">
                <a:solidFill>
                  <a:schemeClr val="tx1"/>
                </a:solidFill>
              </a:rPr>
              <a:t>Generative AI</a:t>
            </a:r>
            <a:endParaRPr lang="en-US" sz="1600" dirty="0"/>
          </a:p>
        </p:txBody>
      </p:sp>
      <p:sp>
        <p:nvSpPr>
          <p:cNvPr id="48" name="Text 40"/>
          <p:cNvSpPr txBox="1"/>
          <p:nvPr/>
        </p:nvSpPr>
        <p:spPr>
          <a:xfrm>
            <a:off x="3429000" y="3794760"/>
            <a:ext cx="2286000" cy="502920"/>
          </a:xfrm>
          <a:prstGeom prst="rect">
            <a:avLst/>
          </a:prstGeom>
          <a:noFill/>
          <a:ln/>
        </p:spPr>
        <p:txBody>
          <a:bodyPr wrap="square" lIns="0" tIns="0" rIns="0" bIns="0" rtlCol="0" anchor="t"/>
          <a:lstStyle/>
          <a:p>
            <a:pPr indent="0" marL="0">
              <a:buNone/>
            </a:pPr>
            <a:r>
              <a:rPr lang="en-US" sz="1400" dirty="0">
                <a:solidFill>
                  <a:schemeClr val="tx2"/>
                </a:solidFill>
              </a:rPr>
              <a:t>LLMs, RAG, agents, Copilot Studio</a:t>
            </a:r>
            <a:endParaRPr lang="en-US" sz="1400" dirty="0"/>
          </a:p>
        </p:txBody>
      </p:sp>
      <p:sp>
        <p:nvSpPr>
          <p:cNvPr id="49" name="arrow"/>
          <p:cNvSpPr/>
          <p:nvPr/>
        </p:nvSpPr>
        <p:spPr>
          <a:xfrm>
            <a:off x="5879592" y="3657600"/>
            <a:ext cx="246888" cy="0"/>
          </a:xfrm>
          <a:prstGeom prst="line">
            <a:avLst/>
          </a:prstGeom>
          <a:noFill/>
          <a:ln w="25400">
            <a:solidFill>
              <a:schemeClr val="accent2"/>
            </a:solidFill>
            <a:prstDash val="solid"/>
            <a:tailEnd type="triangle"/>
          </a:ln>
        </p:spPr>
      </p:sp>
      <p:sp>
        <p:nvSpPr>
          <p:cNvPr id="50" name="card"/>
          <p:cNvSpPr/>
          <p:nvPr/>
        </p:nvSpPr>
        <p:spPr>
          <a:xfrm>
            <a:off x="6126480" y="2834640"/>
            <a:ext cx="256032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1" name="number"/>
          <p:cNvSpPr/>
          <p:nvPr/>
        </p:nvSpPr>
        <p:spPr>
          <a:xfrm>
            <a:off x="6263640" y="2971800"/>
            <a:ext cx="384048" cy="384048"/>
          </a:xfrm>
          <a:prstGeom prst="ellipse">
            <a:avLst/>
          </a:prstGeom>
          <a:solidFill>
            <a:schemeClr val="accent5"/>
          </a:solidFill>
          <a:ln w="12700">
            <a:solidFill>
              <a:schemeClr val="accent5"/>
            </a:solidFill>
            <a:prstDash val="solid"/>
          </a:ln>
        </p:spPr>
      </p:sp>
      <p:sp>
        <p:nvSpPr>
          <p:cNvPr id="52" name="Text 44"/>
          <p:cNvSpPr txBox="1"/>
          <p:nvPr/>
        </p:nvSpPr>
        <p:spPr>
          <a:xfrm>
            <a:off x="6263640" y="29718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53" name="icon badge"/>
          <p:cNvSpPr/>
          <p:nvPr/>
        </p:nvSpPr>
        <p:spPr>
          <a:xfrm>
            <a:off x="8046720" y="2944368"/>
            <a:ext cx="457200" cy="457200"/>
          </a:xfrm>
          <a:prstGeom prst="ellipse">
            <a:avLst/>
          </a:prstGeom>
          <a:solidFill>
            <a:schemeClr val="accent5"/>
          </a:solidFill>
          <a:ln w="12700">
            <a:solidFill>
              <a:schemeClr val="accent5"/>
            </a:solidFill>
            <a:prstDash val="solid"/>
          </a:ln>
        </p:spPr>
      </p:sp>
      <p:pic>
        <p:nvPicPr>
          <p:cNvPr id="54" name="Image 6" descr="github icon">    </p:cNvPr>
          <p:cNvPicPr>
            <a:picLocks noChangeAspect="1"/>
          </p:cNvPicPr>
          <p:nvPr/>
        </p:nvPicPr>
        <p:blipFill>
          <a:blip r:embed="rId7"/>
          <a:stretch>
            <a:fillRect/>
          </a:stretch>
        </p:blipFill>
        <p:spPr>
          <a:xfrm>
            <a:off x="8161020" y="3058668"/>
            <a:ext cx="228600" cy="228600"/>
          </a:xfrm>
          <a:prstGeom prst="rect">
            <a:avLst/>
          </a:prstGeom>
        </p:spPr>
      </p:pic>
      <p:sp>
        <p:nvSpPr>
          <p:cNvPr id="55" name="Text 46"/>
          <p:cNvSpPr txBox="1"/>
          <p:nvPr/>
        </p:nvSpPr>
        <p:spPr>
          <a:xfrm>
            <a:off x="6263640" y="3474720"/>
            <a:ext cx="2286000" cy="320040"/>
          </a:xfrm>
          <a:prstGeom prst="rect">
            <a:avLst/>
          </a:prstGeom>
          <a:noFill/>
          <a:ln/>
        </p:spPr>
        <p:txBody>
          <a:bodyPr wrap="square" lIns="0" tIns="0" rIns="0" bIns="0" rtlCol="0" anchor="ctr"/>
          <a:lstStyle/>
          <a:p>
            <a:pPr indent="0" marL="0">
              <a:buNone/>
            </a:pPr>
            <a:r>
              <a:rPr lang="en-US" sz="1600" b="1" dirty="0">
                <a:solidFill>
                  <a:schemeClr val="tx1"/>
                </a:solidFill>
              </a:rPr>
              <a:t>Projects</a:t>
            </a:r>
            <a:endParaRPr lang="en-US" sz="1600" dirty="0"/>
          </a:p>
        </p:txBody>
      </p:sp>
      <p:sp>
        <p:nvSpPr>
          <p:cNvPr id="56" name="Text 47"/>
          <p:cNvSpPr txBox="1"/>
          <p:nvPr/>
        </p:nvSpPr>
        <p:spPr>
          <a:xfrm>
            <a:off x="6263640" y="3794760"/>
            <a:ext cx="2286000" cy="502920"/>
          </a:xfrm>
          <a:prstGeom prst="rect">
            <a:avLst/>
          </a:prstGeom>
          <a:noFill/>
          <a:ln/>
        </p:spPr>
        <p:txBody>
          <a:bodyPr wrap="square" lIns="0" tIns="0" rIns="0" bIns="0" rtlCol="0" anchor="t"/>
          <a:lstStyle/>
          <a:p>
            <a:pPr indent="0" marL="0">
              <a:buNone/>
            </a:pPr>
            <a:r>
              <a:rPr lang="en-US" sz="1400" dirty="0">
                <a:solidFill>
                  <a:schemeClr val="tx2"/>
                </a:solidFill>
              </a:rPr>
              <a:t>GitHub, Kaggle, end-to-end deployments</a:t>
            </a:r>
            <a:endParaRPr lang="en-US" sz="1400" dirty="0"/>
          </a:p>
        </p:txBody>
      </p:sp>
      <p:sp>
        <p:nvSpPr>
          <p:cNvPr id="57" name="spacer"/>
          <p:cNvSpPr/>
          <p:nvPr/>
        </p:nvSpPr>
        <p:spPr>
          <a:xfrm>
            <a:off x="8961120" y="2971800"/>
            <a:ext cx="9144" cy="9144"/>
          </a:xfrm>
          <a:prstGeom prst="roundRect">
            <a:avLst/>
          </a:prstGeom>
          <a:solidFill>
            <a:schemeClr val="bg1"/>
          </a:solidFill>
          <a:ln w="12700">
            <a:solidFill>
              <a:schemeClr val="bg1"/>
            </a:solidFill>
            <a:prstDash val="solid"/>
          </a:ln>
        </p:spPr>
      </p:sp>
      <p:sp>
        <p:nvSpPr>
          <p:cNvPr id="58" name="Text 49"/>
          <p:cNvSpPr txBox="1"/>
          <p:nvPr/>
        </p:nvSpPr>
        <p:spPr>
          <a:xfrm>
            <a:off x="457200" y="4480560"/>
            <a:ext cx="7772400" cy="274320"/>
          </a:xfrm>
          <a:prstGeom prst="rect">
            <a:avLst/>
          </a:prstGeom>
          <a:noFill/>
          <a:ln/>
        </p:spPr>
        <p:txBody>
          <a:bodyPr wrap="square" lIns="0" tIns="0" rIns="0" bIns="0" rtlCol="0" anchor="ctr"/>
          <a:lstStyle/>
          <a:p>
            <a:pPr indent="0" marL="0">
              <a:buNone/>
            </a:pPr>
            <a:r>
              <a:rPr lang="en-US" sz="1200" i="1" dirty="0">
                <a:solidFill>
                  <a:schemeClr val="tx2"/>
                </a:solidFill>
              </a:rPr>
              <a:t>Build in order, and keep shipping small projects at every step.</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sp>
        <p:nvSpPr>
          <p:cNvPr id="3" name="glass card"/>
          <p:cNvSpPr/>
          <p:nvPr/>
        </p:nvSpPr>
        <p:spPr>
          <a:xfrm>
            <a:off x="457200" y="118872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4" name="icon badge"/>
          <p:cNvSpPr/>
          <p:nvPr/>
        </p:nvSpPr>
        <p:spPr>
          <a:xfrm>
            <a:off x="594360" y="1307592"/>
            <a:ext cx="420624" cy="420624"/>
          </a:xfrm>
          <a:prstGeom prst="ellipse">
            <a:avLst/>
          </a:prstGeom>
          <a:solidFill>
            <a:schemeClr val="accent6"/>
          </a:solidFill>
          <a:ln w="12700">
            <a:solidFill>
              <a:schemeClr val="accent6"/>
            </a:solidFill>
            <a:prstDash val="solid"/>
          </a:ln>
        </p:spPr>
      </p:sp>
      <p:pic>
        <p:nvPicPr>
          <p:cNvPr id="5" name="Image 0" descr="check icon">    </p:cNvPr>
          <p:cNvPicPr>
            <a:picLocks noChangeAspect="1"/>
          </p:cNvPicPr>
          <p:nvPr/>
        </p:nvPicPr>
        <p:blipFill>
          <a:blip r:embed="rId1"/>
          <a:stretch>
            <a:fillRect/>
          </a:stretch>
        </p:blipFill>
        <p:spPr>
          <a:xfrm>
            <a:off x="699516" y="1412748"/>
            <a:ext cx="210312" cy="210312"/>
          </a:xfrm>
          <a:prstGeom prst="rect">
            <a:avLst/>
          </a:prstGeom>
        </p:spPr>
      </p:pic>
      <p:sp>
        <p:nvSpPr>
          <p:cNvPr id="6" name="Text 3"/>
          <p:cNvSpPr txBox="1"/>
          <p:nvPr/>
        </p:nvSpPr>
        <p:spPr>
          <a:xfrm>
            <a:off x="1143000" y="118872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Data is the foundation of AI</a:t>
            </a:r>
            <a:endParaRPr lang="en-US" sz="1400" dirty="0"/>
          </a:p>
        </p:txBody>
      </p:sp>
      <p:sp>
        <p:nvSpPr>
          <p:cNvPr id="7" name="glass card"/>
          <p:cNvSpPr/>
          <p:nvPr/>
        </p:nvSpPr>
        <p:spPr>
          <a:xfrm>
            <a:off x="4663440" y="118872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8" name="icon badge"/>
          <p:cNvSpPr/>
          <p:nvPr/>
        </p:nvSpPr>
        <p:spPr>
          <a:xfrm>
            <a:off x="4800600" y="1307592"/>
            <a:ext cx="420624" cy="420624"/>
          </a:xfrm>
          <a:prstGeom prst="ellipse">
            <a:avLst/>
          </a:prstGeom>
          <a:solidFill>
            <a:schemeClr val="accent6"/>
          </a:solidFill>
          <a:ln w="12700">
            <a:solidFill>
              <a:schemeClr val="accent6"/>
            </a:solidFill>
            <a:prstDash val="solid"/>
          </a:ln>
        </p:spPr>
      </p:sp>
      <p:pic>
        <p:nvPicPr>
          <p:cNvPr id="9" name="Image 1" descr="check icon">    </p:cNvPr>
          <p:cNvPicPr>
            <a:picLocks noChangeAspect="1"/>
          </p:cNvPicPr>
          <p:nvPr/>
        </p:nvPicPr>
        <p:blipFill>
          <a:blip r:embed="rId2"/>
          <a:stretch>
            <a:fillRect/>
          </a:stretch>
        </p:blipFill>
        <p:spPr>
          <a:xfrm>
            <a:off x="4905756" y="1412748"/>
            <a:ext cx="210312" cy="210312"/>
          </a:xfrm>
          <a:prstGeom prst="rect">
            <a:avLst/>
          </a:prstGeom>
        </p:spPr>
      </p:pic>
      <p:sp>
        <p:nvSpPr>
          <p:cNvPr id="10" name="Text 6"/>
          <p:cNvSpPr txBox="1"/>
          <p:nvPr/>
        </p:nvSpPr>
        <p:spPr>
          <a:xfrm>
            <a:off x="5349240" y="118872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AI is the broader concept</a:t>
            </a:r>
            <a:endParaRPr lang="en-US" sz="1400" dirty="0"/>
          </a:p>
        </p:txBody>
      </p:sp>
      <p:sp>
        <p:nvSpPr>
          <p:cNvPr id="11" name="glass card"/>
          <p:cNvSpPr/>
          <p:nvPr/>
        </p:nvSpPr>
        <p:spPr>
          <a:xfrm>
            <a:off x="457200" y="196596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12" name="icon badge"/>
          <p:cNvSpPr/>
          <p:nvPr/>
        </p:nvSpPr>
        <p:spPr>
          <a:xfrm>
            <a:off x="594360" y="2084832"/>
            <a:ext cx="420624" cy="420624"/>
          </a:xfrm>
          <a:prstGeom prst="ellipse">
            <a:avLst/>
          </a:prstGeom>
          <a:solidFill>
            <a:schemeClr val="accent6"/>
          </a:solidFill>
          <a:ln w="12700">
            <a:solidFill>
              <a:schemeClr val="accent6"/>
            </a:solidFill>
            <a:prstDash val="solid"/>
          </a:ln>
        </p:spPr>
      </p:sp>
      <p:pic>
        <p:nvPicPr>
          <p:cNvPr id="13" name="Image 2" descr="check icon">    </p:cNvPr>
          <p:cNvPicPr>
            <a:picLocks noChangeAspect="1"/>
          </p:cNvPicPr>
          <p:nvPr/>
        </p:nvPicPr>
        <p:blipFill>
          <a:blip r:embed="rId3"/>
          <a:stretch>
            <a:fillRect/>
          </a:stretch>
        </p:blipFill>
        <p:spPr>
          <a:xfrm>
            <a:off x="699516" y="2189988"/>
            <a:ext cx="210312" cy="210312"/>
          </a:xfrm>
          <a:prstGeom prst="rect">
            <a:avLst/>
          </a:prstGeom>
        </p:spPr>
      </p:pic>
      <p:sp>
        <p:nvSpPr>
          <p:cNvPr id="14" name="Text 9"/>
          <p:cNvSpPr txBox="1"/>
          <p:nvPr/>
        </p:nvSpPr>
        <p:spPr>
          <a:xfrm>
            <a:off x="1143000" y="196596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Machine learning learns from data</a:t>
            </a:r>
            <a:endParaRPr lang="en-US" sz="1400" dirty="0"/>
          </a:p>
        </p:txBody>
      </p:sp>
      <p:sp>
        <p:nvSpPr>
          <p:cNvPr id="15" name="glass card"/>
          <p:cNvSpPr/>
          <p:nvPr/>
        </p:nvSpPr>
        <p:spPr>
          <a:xfrm>
            <a:off x="4663440" y="196596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16" name="icon badge"/>
          <p:cNvSpPr/>
          <p:nvPr/>
        </p:nvSpPr>
        <p:spPr>
          <a:xfrm>
            <a:off x="4800600" y="2084832"/>
            <a:ext cx="420624" cy="420624"/>
          </a:xfrm>
          <a:prstGeom prst="ellipse">
            <a:avLst/>
          </a:prstGeom>
          <a:solidFill>
            <a:schemeClr val="accent6"/>
          </a:solidFill>
          <a:ln w="12700">
            <a:solidFill>
              <a:schemeClr val="accent6"/>
            </a:solidFill>
            <a:prstDash val="solid"/>
          </a:ln>
        </p:spPr>
      </p:sp>
      <p:pic>
        <p:nvPicPr>
          <p:cNvPr id="17" name="Image 3" descr="check icon">    </p:cNvPr>
          <p:cNvPicPr>
            <a:picLocks noChangeAspect="1"/>
          </p:cNvPicPr>
          <p:nvPr/>
        </p:nvPicPr>
        <p:blipFill>
          <a:blip r:embed="rId4"/>
          <a:stretch>
            <a:fillRect/>
          </a:stretch>
        </p:blipFill>
        <p:spPr>
          <a:xfrm>
            <a:off x="4905756" y="2189988"/>
            <a:ext cx="210312" cy="210312"/>
          </a:xfrm>
          <a:prstGeom prst="rect">
            <a:avLst/>
          </a:prstGeom>
        </p:spPr>
      </p:pic>
      <p:sp>
        <p:nvSpPr>
          <p:cNvPr id="18" name="Text 12"/>
          <p:cNvSpPr txBox="1"/>
          <p:nvPr/>
        </p:nvSpPr>
        <p:spPr>
          <a:xfrm>
            <a:off x="5349240" y="196596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Deep learning mimics neural networks</a:t>
            </a:r>
            <a:endParaRPr lang="en-US" sz="1400" dirty="0"/>
          </a:p>
        </p:txBody>
      </p:sp>
      <p:sp>
        <p:nvSpPr>
          <p:cNvPr id="19" name="glass card"/>
          <p:cNvSpPr/>
          <p:nvPr/>
        </p:nvSpPr>
        <p:spPr>
          <a:xfrm>
            <a:off x="457200" y="274320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20" name="icon badge"/>
          <p:cNvSpPr/>
          <p:nvPr/>
        </p:nvSpPr>
        <p:spPr>
          <a:xfrm>
            <a:off x="594360" y="2862072"/>
            <a:ext cx="420624" cy="420624"/>
          </a:xfrm>
          <a:prstGeom prst="ellipse">
            <a:avLst/>
          </a:prstGeom>
          <a:solidFill>
            <a:schemeClr val="accent6"/>
          </a:solidFill>
          <a:ln w="12700">
            <a:solidFill>
              <a:schemeClr val="accent6"/>
            </a:solidFill>
            <a:prstDash val="solid"/>
          </a:ln>
        </p:spPr>
      </p:sp>
      <p:pic>
        <p:nvPicPr>
          <p:cNvPr id="21" name="Image 4" descr="check icon">    </p:cNvPr>
          <p:cNvPicPr>
            <a:picLocks noChangeAspect="1"/>
          </p:cNvPicPr>
          <p:nvPr/>
        </p:nvPicPr>
        <p:blipFill>
          <a:blip r:embed="rId5"/>
          <a:stretch>
            <a:fillRect/>
          </a:stretch>
        </p:blipFill>
        <p:spPr>
          <a:xfrm>
            <a:off x="699516" y="2967228"/>
            <a:ext cx="210312" cy="210312"/>
          </a:xfrm>
          <a:prstGeom prst="rect">
            <a:avLst/>
          </a:prstGeom>
        </p:spPr>
      </p:pic>
      <p:sp>
        <p:nvSpPr>
          <p:cNvPr id="22" name="Text 15"/>
          <p:cNvSpPr txBox="1"/>
          <p:nvPr/>
        </p:nvSpPr>
        <p:spPr>
          <a:xfrm>
            <a:off x="1143000" y="274320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AI skills are among the most in-demand globally</a:t>
            </a:r>
            <a:endParaRPr lang="en-US" sz="1400" dirty="0"/>
          </a:p>
        </p:txBody>
      </p:sp>
      <p:sp>
        <p:nvSpPr>
          <p:cNvPr id="23" name="glass card"/>
          <p:cNvSpPr/>
          <p:nvPr/>
        </p:nvSpPr>
        <p:spPr>
          <a:xfrm>
            <a:off x="4663440" y="2743200"/>
            <a:ext cx="4023360" cy="658368"/>
          </a:xfrm>
          <a:prstGeom prst="roundRect">
            <a:avLst>
              <a:gd name="adj" fmla="val 16667"/>
            </a:avLst>
          </a:prstGeom>
          <a:solidFill>
            <a:schemeClr val="bg1">
              <a:alpha val="14000"/>
            </a:schemeClr>
          </a:solidFill>
          <a:ln w="9525">
            <a:solidFill>
              <a:schemeClr val="bg1">
                <a:alpha val="40000"/>
              </a:schemeClr>
            </a:solidFill>
            <a:prstDash val="solid"/>
          </a:ln>
        </p:spPr>
      </p:sp>
      <p:sp>
        <p:nvSpPr>
          <p:cNvPr id="24" name="icon badge"/>
          <p:cNvSpPr/>
          <p:nvPr/>
        </p:nvSpPr>
        <p:spPr>
          <a:xfrm>
            <a:off x="4800600" y="2862072"/>
            <a:ext cx="420624" cy="420624"/>
          </a:xfrm>
          <a:prstGeom prst="ellipse">
            <a:avLst/>
          </a:prstGeom>
          <a:solidFill>
            <a:schemeClr val="accent6"/>
          </a:solidFill>
          <a:ln w="12700">
            <a:solidFill>
              <a:schemeClr val="accent6"/>
            </a:solidFill>
            <a:prstDash val="solid"/>
          </a:ln>
        </p:spPr>
      </p:sp>
      <p:pic>
        <p:nvPicPr>
          <p:cNvPr id="25" name="Image 5" descr="check icon">    </p:cNvPr>
          <p:cNvPicPr>
            <a:picLocks noChangeAspect="1"/>
          </p:cNvPicPr>
          <p:nvPr/>
        </p:nvPicPr>
        <p:blipFill>
          <a:blip r:embed="rId6"/>
          <a:stretch>
            <a:fillRect/>
          </a:stretch>
        </p:blipFill>
        <p:spPr>
          <a:xfrm>
            <a:off x="4905756" y="2967228"/>
            <a:ext cx="210312" cy="210312"/>
          </a:xfrm>
          <a:prstGeom prst="rect">
            <a:avLst/>
          </a:prstGeom>
        </p:spPr>
      </p:pic>
      <p:sp>
        <p:nvSpPr>
          <p:cNvPr id="26" name="Text 18"/>
          <p:cNvSpPr txBox="1"/>
          <p:nvPr/>
        </p:nvSpPr>
        <p:spPr>
          <a:xfrm>
            <a:off x="5349240" y="2743200"/>
            <a:ext cx="3246120" cy="658368"/>
          </a:xfrm>
          <a:prstGeom prst="rect">
            <a:avLst/>
          </a:prstGeom>
          <a:noFill/>
          <a:ln/>
        </p:spPr>
        <p:txBody>
          <a:bodyPr wrap="square" lIns="0" tIns="0" rIns="0" bIns="0" rtlCol="0" anchor="ctr"/>
          <a:lstStyle/>
          <a:p>
            <a:pPr indent="0" marL="0">
              <a:buNone/>
            </a:pPr>
            <a:r>
              <a:rPr lang="en-US" sz="1400" b="1" dirty="0">
                <a:solidFill>
                  <a:schemeClr val="bg1"/>
                </a:solidFill>
              </a:rPr>
              <a:t>Start with Python and build real projects</a:t>
            </a:r>
            <a:endParaRPr lang="en-US" sz="1400" dirty="0"/>
          </a:p>
        </p:txBody>
      </p:sp>
      <p:sp>
        <p:nvSpPr>
          <p:cNvPr id="27" name="quote box"/>
          <p:cNvSpPr/>
          <p:nvPr/>
        </p:nvSpPr>
        <p:spPr>
          <a:xfrm>
            <a:off x="457200" y="3611880"/>
            <a:ext cx="8229600" cy="960120"/>
          </a:xfrm>
          <a:prstGeom prst="roundRect">
            <a:avLst>
              <a:gd name="adj" fmla="val 11429"/>
            </a:avLst>
          </a:prstGeom>
          <a:solidFill>
            <a:schemeClr val="accent5"/>
          </a:solidFill>
          <a:ln w="12700">
            <a:solidFill>
              <a:schemeClr val="accent5"/>
            </a:solidFill>
            <a:prstDash val="solid"/>
          </a:ln>
        </p:spPr>
      </p:sp>
      <p:sp>
        <p:nvSpPr>
          <p:cNvPr id="28" name="Text 20"/>
          <p:cNvSpPr txBox="1"/>
          <p:nvPr/>
        </p:nvSpPr>
        <p:spPr>
          <a:xfrm>
            <a:off x="731520" y="3611880"/>
            <a:ext cx="7680960" cy="960120"/>
          </a:xfrm>
          <a:prstGeom prst="rect">
            <a:avLst/>
          </a:prstGeom>
          <a:noFill/>
          <a:ln/>
        </p:spPr>
        <p:txBody>
          <a:bodyPr wrap="square" lIns="0" tIns="0" rIns="0" bIns="0" rtlCol="0" anchor="ctr"/>
          <a:lstStyle/>
          <a:p>
            <a:pPr algn="ctr" indent="0" marL="0">
              <a:buNone/>
            </a:pPr>
            <a:r>
              <a:rPr lang="en-US" sz="2000" b="1" i="1" dirty="0">
                <a:solidFill>
                  <a:schemeClr val="tx1"/>
                </a:solidFill>
              </a:rPr>
              <a:t>"AI won't replace humans. Humans using AI will replace humans not using AI."</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164592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3" name="Text 1"/>
          <p:cNvSpPr txBox="1"/>
          <p:nvPr/>
        </p:nvSpPr>
        <p:spPr>
          <a:xfrm>
            <a:off x="548640" y="2194560"/>
            <a:ext cx="4572000" cy="548640"/>
          </a:xfrm>
          <a:prstGeom prst="rect">
            <a:avLst/>
          </a:prstGeom>
          <a:noFill/>
          <a:ln/>
        </p:spPr>
        <p:txBody>
          <a:bodyPr wrap="square" lIns="0" tIns="0" rIns="0" bIns="0" rtlCol="0" anchor="ctr"/>
          <a:lstStyle/>
          <a:p>
            <a:pPr indent="0" marL="0">
              <a:buNone/>
            </a:pPr>
            <a:r>
              <a:rPr lang="en-US" sz="2400" b="1" dirty="0">
                <a:solidFill>
                  <a:schemeClr val="accent5"/>
                </a:solidFill>
              </a:rPr>
              <a:t>Questions and discussion</a:t>
            </a:r>
            <a:endParaRPr lang="en-US" sz="2400" dirty="0"/>
          </a:p>
        </p:txBody>
      </p:sp>
      <p:sp>
        <p:nvSpPr>
          <p:cNvPr id="4" name="Text 2"/>
          <p:cNvSpPr txBox="1"/>
          <p:nvPr/>
        </p:nvSpPr>
        <p:spPr>
          <a:xfrm>
            <a:off x="548640" y="2926080"/>
            <a:ext cx="4389120" cy="731520"/>
          </a:xfrm>
          <a:prstGeom prst="rect">
            <a:avLst/>
          </a:prstGeom>
          <a:noFill/>
          <a:ln/>
        </p:spPr>
        <p:txBody>
          <a:bodyPr wrap="square" lIns="0" tIns="0" rIns="0" bIns="0" rtlCol="0" anchor="t"/>
          <a:lstStyle/>
          <a:p>
            <a:pPr indent="0" marL="0">
              <a:buNone/>
            </a:pPr>
            <a:r>
              <a:rPr lang="en-US" sz="1600" dirty="0">
                <a:solidFill>
                  <a:schemeClr val="bg2"/>
                </a:solidFill>
              </a:rPr>
              <a:t>Ask anything about data, AI, ML, deep learning or careers.</a:t>
            </a:r>
            <a:endParaRPr lang="en-US" sz="1600" dirty="0"/>
          </a:p>
        </p:txBody>
      </p:sp>
      <p:sp>
        <p:nvSpPr>
          <p:cNvPr id="5" name="halo"/>
          <p:cNvSpPr/>
          <p:nvPr/>
        </p:nvSpPr>
        <p:spPr>
          <a:xfrm>
            <a:off x="5669280" y="1097280"/>
            <a:ext cx="2743200" cy="2743200"/>
          </a:xfrm>
          <a:prstGeom prst="ellipse">
            <a:avLst/>
          </a:prstGeom>
          <a:solidFill>
            <a:schemeClr val="bg1">
              <a:alpha val="12000"/>
            </a:schemeClr>
          </a:solidFill>
          <a:ln w="19050">
            <a:solidFill>
              <a:schemeClr val="bg1">
                <a:alpha val="50000"/>
              </a:schemeClr>
            </a:solidFill>
            <a:prstDash val="solid"/>
          </a:ln>
        </p:spPr>
      </p:sp>
      <p:sp>
        <p:nvSpPr>
          <p:cNvPr id="6" name="q circle"/>
          <p:cNvSpPr/>
          <p:nvPr/>
        </p:nvSpPr>
        <p:spPr>
          <a:xfrm>
            <a:off x="6309360" y="1737360"/>
            <a:ext cx="1463040" cy="1463040"/>
          </a:xfrm>
          <a:prstGeom prst="ellipse">
            <a:avLst/>
          </a:prstGeom>
          <a:solidFill>
            <a:schemeClr val="accent5"/>
          </a:solidFill>
          <a:ln w="12700">
            <a:solidFill>
              <a:schemeClr val="accent5"/>
            </a:solidFill>
            <a:prstDash val="solid"/>
          </a:ln>
        </p:spPr>
      </p:sp>
      <p:pic>
        <p:nvPicPr>
          <p:cNvPr id="7" name="Image 0" descr="question mark">    </p:cNvPr>
          <p:cNvPicPr>
            <a:picLocks noChangeAspect="1"/>
          </p:cNvPicPr>
          <p:nvPr/>
        </p:nvPicPr>
        <p:blipFill>
          <a:blip r:embed="rId1"/>
          <a:stretch>
            <a:fillRect/>
          </a:stretch>
        </p:blipFill>
        <p:spPr>
          <a:xfrm>
            <a:off x="6675120" y="2103120"/>
            <a:ext cx="731520" cy="731520"/>
          </a:xfrm>
          <a:prstGeom prst="rect">
            <a:avLst/>
          </a:prstGeom>
        </p:spPr>
      </p:pic>
    </p:spTree>
  </p:cSld>
  <p:clrMapOvr>
    <a:masterClrMapping/>
  </p:clrMapOvr>
</p:sld>
</file>

<file path=ppt/theme/theme1.xml><?xml version="1.0" encoding="utf-8"?>
<a:theme xmlns:a="http://schemas.openxmlformats.org/drawingml/2006/main" name="Data to Intelligence">
  <a:themeElements>
    <a:clrScheme name="Data to Intelligence">
      <a:dk1>
        <a:srgbClr val="141B4D"/>
      </a:dk1>
      <a:lt1>
        <a:srgbClr val="FFFFFF"/>
      </a:lt1>
      <a:dk2>
        <a:srgbClr val="3B2F8F"/>
      </a:dk2>
      <a:lt2>
        <a:srgbClr val="EEF0FC"/>
      </a:lt2>
      <a:accent1>
        <a:srgbClr val="3B5BDB"/>
      </a:accent1>
      <a:accent2>
        <a:srgbClr val="7C3AED"/>
      </a:accent2>
      <a:accent3>
        <a:srgbClr val="0284C7"/>
      </a:accent3>
      <a:accent4>
        <a:srgbClr val="DB2777"/>
      </a:accent4>
      <a:accent5>
        <a:srgbClr val="F59E0B"/>
      </a:accent5>
      <a:accent6>
        <a:srgbClr val="10B981"/>
      </a:accent6>
      <a:hlink>
        <a:srgbClr val="3B5BDB"/>
      </a:hlink>
      <a:folHlink>
        <a:srgbClr val="7C3AED"/>
      </a:folHlink>
    </a:clrScheme>
    <a:fontScheme name="Data to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Data to Intelligence</dc:title>
  <dc:subject>PptxGenJS Presentation</dc:subject>
  <dc:creator>PptxGenJS</dc:creator>
  <cp:lastModifiedBy>PptxGenJS</cp:lastModifiedBy>
  <cp:revision>1</cp:revision>
  <dcterms:created xsi:type="dcterms:W3CDTF">2026-10-31T03:34:03Z</dcterms:created>
  <dcterms:modified xsi:type="dcterms:W3CDTF">2026-10-31T03:34:03Z</dcterms:modified>
</cp:coreProperties>
</file>