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81c2e74-3d6e-d25b-0521-3ea67b136911}">
          <p14:sldIdLst>
            <p14:sldId id="256"/>
            <p14:sldId id="257"/>
            <p14:sldId id="258"/>
            <p14:sldId id="259"/>
          </p14:sldIdLst>
        </p14:section>
        <p14:section name="Roadmap" id="{846a24bd-6197-3a6c-c4e2-79aad8ea22dc}">
          <p14:sldIdLst>
            <p14:sldId id="260"/>
            <p14:sldId id="261"/>
            <p14:sldId id="262"/>
            <p14:sldId id="263"/>
            <p14:sldId id="264"/>
          </p14:sldIdLst>
        </p14:section>
        <p14:section name="Toolkit and plan" id="{042af78e-6152-0a52-8f05-7a3fc0c55230}">
          <p14:sldIdLst>
            <p14:sldId id="265"/>
            <p14:sldId id="266"/>
            <p14:sldId id="267"/>
          </p14:sldIdLst>
        </p14:section>
        <p14:section name="Career" id="{3b73102d-b427-c0d5-2e92-1905daa81985}">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what a Forward Deployed Engineer (FDE) is and gives a simple stage-by-stage roadmap to become one. Built from the SCAI, Kizzy Consulting and GitHub roadmaps plus other public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Palantir realised complex platforms could not be sold as self-service software. They needed engineers embedded with customers writing real code. Today AI labs, data platforms and enterprise software companies hire FDEs.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loop is common across companies. Many FDE jobs measure success by customer adoption and workflow impact, not just shipped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FDEs are post-sale and always write code. Sales engineers demo, solutions architects design pre-sale, and platform engineers build internal tools. Source: Kizzy Consulting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capabilities in layers rather than learning every tool at once. Stages follow the Kizzy Consulting 7-stage FDE roadmap. Software engineers can usually start at stage 2 or 3; solutions engineers should close gaps in stages 1, 2 and 6; data engineers focus on stages 5 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 and 2: what to learn and what you should be able to do afterwards. Source: Kizzy Consulting 7-stage roadmap; SCAI's stage checks add that you advance when you can demonstrate a working outcome, not when you finish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3 and 4: what to learn and what you should be able to do afterwards. Source: Kizzy Consulting 7-stage roadmap; SCAI's stage checks add that you advance when you can demonstrate a working outcome, not when you finish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5 and 6: what to learn and what you should be able to do afterwards. Source: Kizzy Consulting 7-stage roadmap; SCAI's stage checks add that you advance when you can demonstrate a working outcome, not when you finish 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leadership means turning business problems into technical solutions. The six-step lifecycle follows Kizzy's FDE framework; SCAI stresses that the job is done when the customer team can run the system without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tool is the one that solves the customer's production problem reliably. High-security clients may need self-hosted open models (for example via vLLM or Ollama). Source: Kizzy Consulting tech stack by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Durations: beginner, intermediate and advanced profiles come from the GitHub roadmap (thecoder8890), which assumes about 10 to 12 focused hours per week. The 45-day plan for people who already code is from Kizzy Consulting: days 1-10 fundamentals, 11-20 integrations, 21-30 LLM app with RAG, 31-40 agents and deployment, 41-45 portfolio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Recruiters want to see architecture decisions, production code, integrations, deployment, tests and failure handling, not toy apps. Five project ideas come from Kizzy Consulting. The evolving capstone (one project across six stages) is SCAI's suggestion and carries more weight than six disconnected tutorials.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Formats are drawn from the GitHub roadmap, which cites OpenAI and Databricks interview descriptions. A story bank means five short stories per project: hardest bug, hardest stakeholder moment, biggest scope cut, biggest reliability failure, biggest learning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compensation includes base, stock and bonus, so job-ad base ranges are lower. Pay depends on employer, level, location and equity. India figure is a Glassdoor snapshot quoted in the GitHub roadmap and may be dated. SCAI notes there is no reliable global market-size estimate for FDE roles, only demand signals from companies that publish FDE hiring. Verify current figures before making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SCAI's common-mistake notes and Kizzy's best practices: never give an agent blind write permissions, use evaluation rather than demos, plan rollback, and finish with an operator guide that answers 'what do I do when the alert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where your gap is. Then build one real, deployed project and explain it as a case study: the problem, the architecture, the result. That is what FDE hiring teams want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Salary figures and company hiring details change quickly. Check current job postings before relying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022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solidFill>
          <a:srgbClr val="1022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1554480"/>
          </a:xfrm>
          <a:prstGeom prst="rect">
            <a:avLst/>
          </a:prstGeom>
          <a:noFill/>
          <a:ln/>
        </p:spPr>
        <p:txBody>
          <a:bodyPr wrap="square" lIns="0" tIns="0" rIns="0" bIns="0" rtlCol="0" anchor="t"/>
          <a:lstStyle/>
          <a:p>
            <a:pPr algn="l" indent="0" marL="0">
              <a:buNone/>
            </a:pPr>
            <a:r>
              <a:rPr lang="en-US" sz="4400" b="1" dirty="0">
                <a:solidFill>
                  <a:schemeClr val="bg1"/>
                </a:solidFill>
              </a:rPr>
              <a:t>Forward Deployed Engineer</a:t>
            </a:r>
            <a:endParaRPr lang="en-US" sz="4400" dirty="0"/>
          </a:p>
        </p:txBody>
      </p:sp>
      <p:sp>
        <p:nvSpPr>
          <p:cNvPr id="3" name="Text 1"/>
          <p:cNvSpPr txBox="1"/>
          <p:nvPr/>
        </p:nvSpPr>
        <p:spPr>
          <a:xfrm>
            <a:off x="548640" y="2880360"/>
            <a:ext cx="4754880" cy="457200"/>
          </a:xfrm>
          <a:prstGeom prst="rect">
            <a:avLst/>
          </a:prstGeom>
          <a:noFill/>
          <a:ln/>
        </p:spPr>
        <p:txBody>
          <a:bodyPr wrap="square" lIns="0" tIns="0" rIns="0" bIns="0" rtlCol="0" anchor="ctr"/>
          <a:lstStyle/>
          <a:p>
            <a:pPr indent="0" marL="0">
              <a:buNone/>
            </a:pPr>
            <a:r>
              <a:rPr lang="en-US" sz="2200" b="1" dirty="0">
                <a:solidFill>
                  <a:schemeClr val="accent2"/>
                </a:solidFill>
              </a:rPr>
              <a:t>The roadmap, from zero to FDE</a:t>
            </a:r>
            <a:endParaRPr lang="en-US" sz="2200" dirty="0"/>
          </a:p>
        </p:txBody>
      </p:sp>
      <p:sp>
        <p:nvSpPr>
          <p:cNvPr id="4" name="Text 2"/>
          <p:cNvSpPr txBox="1"/>
          <p:nvPr/>
        </p:nvSpPr>
        <p:spPr>
          <a:xfrm>
            <a:off x="548640" y="3474720"/>
            <a:ext cx="4754880" cy="365760"/>
          </a:xfrm>
          <a:prstGeom prst="rect">
            <a:avLst/>
          </a:prstGeom>
          <a:noFill/>
          <a:ln/>
        </p:spPr>
        <p:txBody>
          <a:bodyPr wrap="square" lIns="0" tIns="0" rIns="0" bIns="0" rtlCol="0" anchor="ctr"/>
          <a:lstStyle/>
          <a:p>
            <a:pPr indent="0" marL="0">
              <a:buNone/>
            </a:pPr>
            <a:r>
              <a:rPr lang="en-US" sz="1600" dirty="0">
                <a:solidFill>
                  <a:schemeClr val="bg2"/>
                </a:solidFill>
              </a:rPr>
              <a:t>Embed. Build. Ship. Own the outcome.</a:t>
            </a:r>
            <a:endParaRPr lang="en-US" sz="1600" dirty="0"/>
          </a:p>
        </p:txBody>
      </p:sp>
      <p:sp>
        <p:nvSpPr>
          <p:cNvPr id="5" name="radar ring"/>
          <p:cNvSpPr/>
          <p:nvPr/>
        </p:nvSpPr>
        <p:spPr>
          <a:xfrm>
            <a:off x="5166360" y="640080"/>
            <a:ext cx="3840480" cy="3840480"/>
          </a:xfrm>
          <a:prstGeom prst="ellipse">
            <a:avLst/>
          </a:prstGeom>
          <a:solidFill>
            <a:schemeClr val="accent1">
              <a:alpha val="0"/>
            </a:schemeClr>
          </a:solidFill>
          <a:ln w="19050">
            <a:solidFill>
              <a:schemeClr val="accent1"/>
            </a:solidFill>
            <a:prstDash val="solid"/>
          </a:ln>
        </p:spPr>
      </p:sp>
      <p:sp>
        <p:nvSpPr>
          <p:cNvPr id="6" name="radar ring"/>
          <p:cNvSpPr/>
          <p:nvPr/>
        </p:nvSpPr>
        <p:spPr>
          <a:xfrm>
            <a:off x="5760720" y="1234440"/>
            <a:ext cx="2651760" cy="2651760"/>
          </a:xfrm>
          <a:prstGeom prst="ellipse">
            <a:avLst/>
          </a:prstGeom>
          <a:solidFill>
            <a:schemeClr val="accent1">
              <a:alpha val="0"/>
            </a:schemeClr>
          </a:solidFill>
          <a:ln w="19050">
            <a:solidFill>
              <a:schemeClr val="accent1"/>
            </a:solidFill>
            <a:prstDash val="solid"/>
          </a:ln>
        </p:spPr>
      </p:sp>
      <p:sp>
        <p:nvSpPr>
          <p:cNvPr id="7" name="radar ring"/>
          <p:cNvSpPr/>
          <p:nvPr/>
        </p:nvSpPr>
        <p:spPr>
          <a:xfrm>
            <a:off x="6355080" y="1828800"/>
            <a:ext cx="1463040" cy="1463040"/>
          </a:xfrm>
          <a:prstGeom prst="ellipse">
            <a:avLst/>
          </a:prstGeom>
          <a:solidFill>
            <a:schemeClr val="accent1">
              <a:alpha val="0"/>
            </a:schemeClr>
          </a:solidFill>
          <a:ln w="19050">
            <a:solidFill>
              <a:schemeClr val="accent1"/>
            </a:solidFill>
            <a:prstDash val="solid"/>
          </a:ln>
        </p:spPr>
      </p:sp>
      <p:sp>
        <p:nvSpPr>
          <p:cNvPr id="8" name="radar centre"/>
          <p:cNvSpPr/>
          <p:nvPr/>
        </p:nvSpPr>
        <p:spPr>
          <a:xfrm>
            <a:off x="6629400" y="2103120"/>
            <a:ext cx="914400" cy="914400"/>
          </a:xfrm>
          <a:prstGeom prst="ellipse">
            <a:avLst/>
          </a:prstGeom>
          <a:solidFill>
            <a:schemeClr val="accent2"/>
          </a:solidFill>
          <a:ln w="12700">
            <a:solidFill>
              <a:schemeClr val="accent2"/>
            </a:solidFill>
            <a:prstDash val="solid"/>
          </a:ln>
        </p:spPr>
      </p:sp>
      <p:pic>
        <p:nvPicPr>
          <p:cNvPr id="9" name="Image 0" descr="rocket">    </p:cNvPr>
          <p:cNvPicPr>
            <a:picLocks noChangeAspect="1"/>
          </p:cNvPicPr>
          <p:nvPr/>
        </p:nvPicPr>
        <p:blipFill>
          <a:blip r:embed="rId1"/>
          <a:stretch>
            <a:fillRect/>
          </a:stretch>
        </p:blipFill>
        <p:spPr>
          <a:xfrm>
            <a:off x="6858000" y="2331720"/>
            <a:ext cx="457200" cy="457200"/>
          </a:xfrm>
          <a:prstGeom prst="rect">
            <a:avLst/>
          </a:prstGeom>
        </p:spPr>
      </p:pic>
      <p:sp>
        <p:nvSpPr>
          <p:cNvPr id="10" name="orbit badge"/>
          <p:cNvSpPr/>
          <p:nvPr/>
        </p:nvSpPr>
        <p:spPr>
          <a:xfrm>
            <a:off x="7664539" y="1270317"/>
            <a:ext cx="548640" cy="548640"/>
          </a:xfrm>
          <a:prstGeom prst="ellipse">
            <a:avLst/>
          </a:prstGeom>
          <a:solidFill>
            <a:srgbClr val="12877B"/>
          </a:solidFill>
          <a:ln w="25400">
            <a:solidFill>
              <a:schemeClr val="tx1"/>
            </a:solidFill>
            <a:prstDash val="solid"/>
          </a:ln>
        </p:spPr>
      </p:sp>
      <p:pic>
        <p:nvPicPr>
          <p:cNvPr id="11" name="Image 1" descr="icon">    </p:cNvPr>
          <p:cNvPicPr>
            <a:picLocks noChangeAspect="1"/>
          </p:cNvPicPr>
          <p:nvPr/>
        </p:nvPicPr>
        <p:blipFill>
          <a:blip r:embed="rId2"/>
          <a:stretch>
            <a:fillRect/>
          </a:stretch>
        </p:blipFill>
        <p:spPr>
          <a:xfrm>
            <a:off x="7801699" y="1407477"/>
            <a:ext cx="274320" cy="274320"/>
          </a:xfrm>
          <a:prstGeom prst="rect">
            <a:avLst/>
          </a:prstGeom>
        </p:spPr>
      </p:pic>
      <p:sp>
        <p:nvSpPr>
          <p:cNvPr id="12" name="orbit badge"/>
          <p:cNvSpPr/>
          <p:nvPr/>
        </p:nvSpPr>
        <p:spPr>
          <a:xfrm>
            <a:off x="8385249" y="3387404"/>
            <a:ext cx="548640" cy="548640"/>
          </a:xfrm>
          <a:prstGeom prst="ellipse">
            <a:avLst/>
          </a:prstGeom>
          <a:solidFill>
            <a:srgbClr val="3C8DDE"/>
          </a:solidFill>
          <a:ln w="25400">
            <a:solidFill>
              <a:schemeClr val="tx1"/>
            </a:solidFill>
            <a:prstDash val="solid"/>
          </a:ln>
        </p:spPr>
      </p:sp>
      <p:pic>
        <p:nvPicPr>
          <p:cNvPr id="13" name="Image 2" descr="icon">    </p:cNvPr>
          <p:cNvPicPr>
            <a:picLocks noChangeAspect="1"/>
          </p:cNvPicPr>
          <p:nvPr/>
        </p:nvPicPr>
        <p:blipFill>
          <a:blip r:embed="rId3"/>
          <a:stretch>
            <a:fillRect/>
          </a:stretch>
        </p:blipFill>
        <p:spPr>
          <a:xfrm>
            <a:off x="8522409" y="3524564"/>
            <a:ext cx="274320" cy="274320"/>
          </a:xfrm>
          <a:prstGeom prst="rect">
            <a:avLst/>
          </a:prstGeom>
        </p:spPr>
      </p:pic>
      <p:sp>
        <p:nvSpPr>
          <p:cNvPr id="14" name="orbit badge"/>
          <p:cNvSpPr/>
          <p:nvPr/>
        </p:nvSpPr>
        <p:spPr>
          <a:xfrm>
            <a:off x="5664034" y="2948940"/>
            <a:ext cx="548640" cy="548640"/>
          </a:xfrm>
          <a:prstGeom prst="ellipse">
            <a:avLst/>
          </a:prstGeom>
          <a:solidFill>
            <a:srgbClr val="6C63D9"/>
          </a:solidFill>
          <a:ln w="25400">
            <a:solidFill>
              <a:schemeClr val="tx1"/>
            </a:solidFill>
            <a:prstDash val="solid"/>
          </a:ln>
        </p:spPr>
      </p:sp>
      <p:pic>
        <p:nvPicPr>
          <p:cNvPr id="15" name="Image 3" descr="icon">    </p:cNvPr>
          <p:cNvPicPr>
            <a:picLocks noChangeAspect="1"/>
          </p:cNvPicPr>
          <p:nvPr/>
        </p:nvPicPr>
        <p:blipFill>
          <a:blip r:embed="rId4"/>
          <a:stretch>
            <a:fillRect/>
          </a:stretch>
        </p:blipFill>
        <p:spPr>
          <a:xfrm>
            <a:off x="5801194" y="3086100"/>
            <a:ext cx="274320" cy="274320"/>
          </a:xfrm>
          <a:prstGeom prst="rect">
            <a:avLst/>
          </a:prstGeom>
        </p:spPr>
      </p:pic>
      <p:sp>
        <p:nvSpPr>
          <p:cNvPr id="16" name="orbit badge"/>
          <p:cNvSpPr/>
          <p:nvPr/>
        </p:nvSpPr>
        <p:spPr>
          <a:xfrm>
            <a:off x="5454465" y="928185"/>
            <a:ext cx="548640" cy="548640"/>
          </a:xfrm>
          <a:prstGeom prst="ellipse">
            <a:avLst/>
          </a:prstGeom>
          <a:solidFill>
            <a:srgbClr val="F2655A"/>
          </a:solidFill>
          <a:ln w="25400">
            <a:solidFill>
              <a:schemeClr val="tx1"/>
            </a:solidFill>
            <a:prstDash val="solid"/>
          </a:ln>
        </p:spPr>
      </p:sp>
      <p:pic>
        <p:nvPicPr>
          <p:cNvPr id="17" name="Image 4" descr="icon">    </p:cNvPr>
          <p:cNvPicPr>
            <a:picLocks noChangeAspect="1"/>
          </p:cNvPicPr>
          <p:nvPr/>
        </p:nvPicPr>
        <p:blipFill>
          <a:blip r:embed="rId5"/>
          <a:stretch>
            <a:fillRect/>
          </a:stretch>
        </p:blipFill>
        <p:spPr>
          <a:xfrm>
            <a:off x="5591625" y="1065345"/>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an FDE?</a:t>
            </a:r>
            <a:endParaRPr lang="en-US" sz="3400" dirty="0"/>
          </a:p>
        </p:txBody>
      </p:sp>
      <p:sp>
        <p:nvSpPr>
          <p:cNvPr id="3" name="Text 1"/>
          <p:cNvSpPr txBox="1"/>
          <p:nvPr/>
        </p:nvSpPr>
        <p:spPr>
          <a:xfrm>
            <a:off x="457200" y="1280160"/>
            <a:ext cx="3931920" cy="1463040"/>
          </a:xfrm>
          <a:prstGeom prst="rect">
            <a:avLst/>
          </a:prstGeom>
          <a:noFill/>
          <a:ln/>
        </p:spPr>
        <p:txBody>
          <a:bodyPr wrap="square" lIns="0" tIns="0" rIns="0" bIns="0" rtlCol="0" anchor="t"/>
          <a:lstStyle/>
          <a:p>
            <a:pPr indent="0" marL="0">
              <a:buNone/>
            </a:pPr>
            <a:r>
              <a:rPr lang="en-US" sz="2000" dirty="0">
                <a:solidFill>
                  <a:schemeClr val="tx1"/>
                </a:solidFill>
              </a:rPr>
              <a:t>A software engineer who embeds with a customer to build, deploy and own a solution inside the customer's world.</a:t>
            </a:r>
            <a:endParaRPr lang="en-US" sz="2000" dirty="0"/>
          </a:p>
        </p:txBody>
      </p:sp>
      <p:sp>
        <p:nvSpPr>
          <p:cNvPr id="4" name="card"/>
          <p:cNvSpPr/>
          <p:nvPr/>
        </p:nvSpPr>
        <p:spPr>
          <a:xfrm>
            <a:off x="457200" y="2971800"/>
            <a:ext cx="3931920" cy="1508760"/>
          </a:xfrm>
          <a:prstGeom prst="roundRect">
            <a:avLst>
              <a:gd name="adj" fmla="val 7273"/>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5" name="origin badge"/>
          <p:cNvSpPr/>
          <p:nvPr/>
        </p:nvSpPr>
        <p:spPr>
          <a:xfrm>
            <a:off x="640080" y="3154680"/>
            <a:ext cx="502920" cy="502920"/>
          </a:xfrm>
          <a:prstGeom prst="ellipse">
            <a:avLst/>
          </a:prstGeom>
          <a:solidFill>
            <a:schemeClr val="accent2"/>
          </a:solidFill>
          <a:ln w="12700">
            <a:solidFill>
              <a:schemeClr val="accent2"/>
            </a:solidFill>
            <a:prstDash val="solid"/>
          </a:ln>
        </p:spPr>
      </p:sp>
      <p:pic>
        <p:nvPicPr>
          <p:cNvPr id="6" name="Image 0" descr="icon">    </p:cNvPr>
          <p:cNvPicPr>
            <a:picLocks noChangeAspect="1"/>
          </p:cNvPicPr>
          <p:nvPr/>
        </p:nvPicPr>
        <p:blipFill>
          <a:blip r:embed="rId1"/>
          <a:stretch>
            <a:fillRect/>
          </a:stretch>
        </p:blipFill>
        <p:spPr>
          <a:xfrm>
            <a:off x="765810" y="3280410"/>
            <a:ext cx="251460" cy="251460"/>
          </a:xfrm>
          <a:prstGeom prst="rect">
            <a:avLst/>
          </a:prstGeom>
        </p:spPr>
      </p:pic>
      <p:sp>
        <p:nvSpPr>
          <p:cNvPr id="7" name="Text 4"/>
          <p:cNvSpPr txBox="1"/>
          <p:nvPr/>
        </p:nvSpPr>
        <p:spPr>
          <a:xfrm>
            <a:off x="1280160" y="3154680"/>
            <a:ext cx="2926080" cy="502920"/>
          </a:xfrm>
          <a:prstGeom prst="rect">
            <a:avLst/>
          </a:prstGeom>
          <a:noFill/>
          <a:ln/>
        </p:spPr>
        <p:txBody>
          <a:bodyPr wrap="square" lIns="0" tIns="0" rIns="0" bIns="0" rtlCol="0" anchor="ctr"/>
          <a:lstStyle/>
          <a:p>
            <a:pPr indent="0" marL="0">
              <a:buNone/>
            </a:pPr>
            <a:r>
              <a:rPr lang="en-US" sz="1600" b="1" dirty="0">
                <a:solidFill>
                  <a:schemeClr val="accent2"/>
                </a:solidFill>
              </a:rPr>
              <a:t>Where the name comes from</a:t>
            </a:r>
            <a:endParaRPr lang="en-US" sz="1600" dirty="0"/>
          </a:p>
        </p:txBody>
      </p:sp>
      <p:sp>
        <p:nvSpPr>
          <p:cNvPr id="8" name="Text 5"/>
          <p:cNvSpPr txBox="1"/>
          <p:nvPr/>
        </p:nvSpPr>
        <p:spPr>
          <a:xfrm>
            <a:off x="640080" y="3749040"/>
            <a:ext cx="3566160" cy="640080"/>
          </a:xfrm>
          <a:prstGeom prst="rect">
            <a:avLst/>
          </a:prstGeom>
          <a:noFill/>
          <a:ln/>
        </p:spPr>
        <p:txBody>
          <a:bodyPr wrap="square" lIns="0" tIns="0" rIns="0" bIns="0" rtlCol="0" anchor="t"/>
          <a:lstStyle/>
          <a:p>
            <a:pPr indent="0" marL="0">
              <a:buNone/>
            </a:pPr>
            <a:r>
              <a:rPr lang="en-US" sz="1400" dirty="0">
                <a:solidFill>
                  <a:schemeClr val="bg1"/>
                </a:solidFill>
              </a:rPr>
              <a:t>Palantir created the role in the mid-2000s. "Forward deployed" is military language for working at the point of action.</a:t>
            </a:r>
            <a:endParaRPr lang="en-US" sz="1400" dirty="0"/>
          </a:p>
        </p:txBody>
      </p:sp>
      <p:sp>
        <p:nvSpPr>
          <p:cNvPr id="9" name="card"/>
          <p:cNvSpPr/>
          <p:nvPr/>
        </p:nvSpPr>
        <p:spPr>
          <a:xfrm>
            <a:off x="4754880" y="1280160"/>
            <a:ext cx="39319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badge"/>
          <p:cNvSpPr/>
          <p:nvPr/>
        </p:nvSpPr>
        <p:spPr>
          <a:xfrm>
            <a:off x="4937760" y="1481328"/>
            <a:ext cx="548640" cy="548640"/>
          </a:xfrm>
          <a:prstGeom prst="ellipse">
            <a:avLst/>
          </a:prstGeom>
          <a:solidFill>
            <a:schemeClr val="accent1"/>
          </a:solidFill>
          <a:ln w="12700">
            <a:solidFill>
              <a:schemeClr val="accent1"/>
            </a:solidFill>
            <a:prstDash val="solid"/>
          </a:ln>
        </p:spPr>
      </p:sp>
      <p:pic>
        <p:nvPicPr>
          <p:cNvPr id="11" name="Image 1" descr="icon">    </p:cNvPr>
          <p:cNvPicPr>
            <a:picLocks noChangeAspect="1"/>
          </p:cNvPicPr>
          <p:nvPr/>
        </p:nvPicPr>
        <p:blipFill>
          <a:blip r:embed="rId2"/>
          <a:stretch>
            <a:fillRect/>
          </a:stretch>
        </p:blipFill>
        <p:spPr>
          <a:xfrm>
            <a:off x="5074920" y="1618488"/>
            <a:ext cx="274320" cy="274320"/>
          </a:xfrm>
          <a:prstGeom prst="rect">
            <a:avLst/>
          </a:prstGeom>
        </p:spPr>
      </p:pic>
      <p:sp>
        <p:nvSpPr>
          <p:cNvPr id="12" name="Text 8"/>
          <p:cNvSpPr txBox="1"/>
          <p:nvPr/>
        </p:nvSpPr>
        <p:spPr>
          <a:xfrm>
            <a:off x="5669280" y="1389888"/>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Embed</a:t>
            </a:r>
            <a:endParaRPr lang="en-US" sz="1800" dirty="0"/>
          </a:p>
        </p:txBody>
      </p:sp>
      <p:sp>
        <p:nvSpPr>
          <p:cNvPr id="13" name="Text 9"/>
          <p:cNvSpPr txBox="1"/>
          <p:nvPr/>
        </p:nvSpPr>
        <p:spPr>
          <a:xfrm>
            <a:off x="5669280" y="1737360"/>
            <a:ext cx="2880360" cy="457200"/>
          </a:xfrm>
          <a:prstGeom prst="rect">
            <a:avLst/>
          </a:prstGeom>
          <a:noFill/>
          <a:ln/>
        </p:spPr>
        <p:txBody>
          <a:bodyPr wrap="square" lIns="0" tIns="0" rIns="0" bIns="0" rtlCol="0" anchor="t"/>
          <a:lstStyle/>
          <a:p>
            <a:pPr indent="0" marL="0">
              <a:buNone/>
            </a:pPr>
            <a:r>
              <a:rPr lang="en-US" sz="1400" dirty="0">
                <a:solidFill>
                  <a:schemeClr val="tx2"/>
                </a:solidFill>
              </a:rPr>
              <a:t>Work inside the customer team, on their data and rules</a:t>
            </a:r>
            <a:endParaRPr lang="en-US" sz="1400" dirty="0"/>
          </a:p>
        </p:txBody>
      </p:sp>
      <p:sp>
        <p:nvSpPr>
          <p:cNvPr id="14" name="card"/>
          <p:cNvSpPr/>
          <p:nvPr/>
        </p:nvSpPr>
        <p:spPr>
          <a:xfrm>
            <a:off x="4754880" y="2377440"/>
            <a:ext cx="39319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badge"/>
          <p:cNvSpPr/>
          <p:nvPr/>
        </p:nvSpPr>
        <p:spPr>
          <a:xfrm>
            <a:off x="4937760" y="2578608"/>
            <a:ext cx="548640" cy="548640"/>
          </a:xfrm>
          <a:prstGeom prst="ellipse">
            <a:avLst/>
          </a:prstGeom>
          <a:solidFill>
            <a:schemeClr val="accent4"/>
          </a:solidFill>
          <a:ln w="12700">
            <a:solidFill>
              <a:schemeClr val="accent4"/>
            </a:solidFill>
            <a:prstDash val="solid"/>
          </a:ln>
        </p:spPr>
      </p:sp>
      <p:pic>
        <p:nvPicPr>
          <p:cNvPr id="16" name="Image 2" descr="icon">    </p:cNvPr>
          <p:cNvPicPr>
            <a:picLocks noChangeAspect="1"/>
          </p:cNvPicPr>
          <p:nvPr/>
        </p:nvPicPr>
        <p:blipFill>
          <a:blip r:embed="rId3"/>
          <a:stretch>
            <a:fillRect/>
          </a:stretch>
        </p:blipFill>
        <p:spPr>
          <a:xfrm>
            <a:off x="5074920" y="2715768"/>
            <a:ext cx="274320" cy="274320"/>
          </a:xfrm>
          <a:prstGeom prst="rect">
            <a:avLst/>
          </a:prstGeom>
        </p:spPr>
      </p:pic>
      <p:sp>
        <p:nvSpPr>
          <p:cNvPr id="17" name="Text 12"/>
          <p:cNvSpPr txBox="1"/>
          <p:nvPr/>
        </p:nvSpPr>
        <p:spPr>
          <a:xfrm>
            <a:off x="5669280" y="2487168"/>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Build</a:t>
            </a:r>
            <a:endParaRPr lang="en-US" sz="1800" dirty="0"/>
          </a:p>
        </p:txBody>
      </p:sp>
      <p:sp>
        <p:nvSpPr>
          <p:cNvPr id="18" name="Text 13"/>
          <p:cNvSpPr txBox="1"/>
          <p:nvPr/>
        </p:nvSpPr>
        <p:spPr>
          <a:xfrm>
            <a:off x="5669280" y="2834640"/>
            <a:ext cx="2880360" cy="457200"/>
          </a:xfrm>
          <a:prstGeom prst="rect">
            <a:avLst/>
          </a:prstGeom>
          <a:noFill/>
          <a:ln/>
        </p:spPr>
        <p:txBody>
          <a:bodyPr wrap="square" lIns="0" tIns="0" rIns="0" bIns="0" rtlCol="0" anchor="t"/>
          <a:lstStyle/>
          <a:p>
            <a:pPr indent="0" marL="0">
              <a:buNone/>
            </a:pPr>
            <a:r>
              <a:rPr lang="en-US" sz="1400" dirty="0">
                <a:solidFill>
                  <a:schemeClr val="tx2"/>
                </a:solidFill>
              </a:rPr>
              <a:t>Write production code, integrations and data pipelines</a:t>
            </a:r>
            <a:endParaRPr lang="en-US" sz="1400" dirty="0"/>
          </a:p>
        </p:txBody>
      </p:sp>
      <p:sp>
        <p:nvSpPr>
          <p:cNvPr id="19" name="card"/>
          <p:cNvSpPr/>
          <p:nvPr/>
        </p:nvSpPr>
        <p:spPr>
          <a:xfrm>
            <a:off x="4754880" y="3474720"/>
            <a:ext cx="39319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badge"/>
          <p:cNvSpPr/>
          <p:nvPr/>
        </p:nvSpPr>
        <p:spPr>
          <a:xfrm>
            <a:off x="4937760" y="3675888"/>
            <a:ext cx="548640" cy="548640"/>
          </a:xfrm>
          <a:prstGeom prst="ellipse">
            <a:avLst/>
          </a:prstGeom>
          <a:solidFill>
            <a:schemeClr val="accent2"/>
          </a:solidFill>
          <a:ln w="12700">
            <a:solidFill>
              <a:schemeClr val="accent2"/>
            </a:solidFill>
            <a:prstDash val="solid"/>
          </a:ln>
        </p:spPr>
      </p:sp>
      <p:pic>
        <p:nvPicPr>
          <p:cNvPr id="21" name="Image 3" descr="icon">    </p:cNvPr>
          <p:cNvPicPr>
            <a:picLocks noChangeAspect="1"/>
          </p:cNvPicPr>
          <p:nvPr/>
        </p:nvPicPr>
        <p:blipFill>
          <a:blip r:embed="rId4"/>
          <a:stretch>
            <a:fillRect/>
          </a:stretch>
        </p:blipFill>
        <p:spPr>
          <a:xfrm>
            <a:off x="5074920" y="3813048"/>
            <a:ext cx="274320" cy="274320"/>
          </a:xfrm>
          <a:prstGeom prst="rect">
            <a:avLst/>
          </a:prstGeom>
        </p:spPr>
      </p:pic>
      <p:sp>
        <p:nvSpPr>
          <p:cNvPr id="22" name="Text 16"/>
          <p:cNvSpPr txBox="1"/>
          <p:nvPr/>
        </p:nvSpPr>
        <p:spPr>
          <a:xfrm>
            <a:off x="5669280" y="3584448"/>
            <a:ext cx="2834640" cy="365760"/>
          </a:xfrm>
          <a:prstGeom prst="rect">
            <a:avLst/>
          </a:prstGeom>
          <a:noFill/>
          <a:ln/>
        </p:spPr>
        <p:txBody>
          <a:bodyPr wrap="square" lIns="0" tIns="0" rIns="0" bIns="0" rtlCol="0" anchor="ctr"/>
          <a:lstStyle/>
          <a:p>
            <a:pPr indent="0" marL="0">
              <a:buNone/>
            </a:pPr>
            <a:r>
              <a:rPr lang="en-US" sz="1800" b="1" dirty="0">
                <a:solidFill>
                  <a:schemeClr val="tx1"/>
                </a:solidFill>
              </a:rPr>
              <a:t>Own</a:t>
            </a:r>
            <a:endParaRPr lang="en-US" sz="1800" dirty="0"/>
          </a:p>
        </p:txBody>
      </p:sp>
      <p:sp>
        <p:nvSpPr>
          <p:cNvPr id="23" name="Text 17"/>
          <p:cNvSpPr txBox="1"/>
          <p:nvPr/>
        </p:nvSpPr>
        <p:spPr>
          <a:xfrm>
            <a:off x="5669280" y="3931920"/>
            <a:ext cx="2880360" cy="457200"/>
          </a:xfrm>
          <a:prstGeom prst="rect">
            <a:avLst/>
          </a:prstGeom>
          <a:noFill/>
          <a:ln/>
        </p:spPr>
        <p:txBody>
          <a:bodyPr wrap="square" lIns="0" tIns="0" rIns="0" bIns="0" rtlCol="0" anchor="t"/>
          <a:lstStyle/>
          <a:p>
            <a:pPr indent="0" marL="0">
              <a:buNone/>
            </a:pPr>
            <a:r>
              <a:rPr lang="en-US" sz="1400" dirty="0">
                <a:solidFill>
                  <a:schemeClr val="tx2"/>
                </a:solidFill>
              </a:rPr>
              <a:t>Stay accountable until it works in production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FDE loop</a:t>
            </a:r>
            <a:endParaRPr lang="en-US" sz="3400" dirty="0"/>
          </a:p>
        </p:txBody>
      </p:sp>
      <p:sp>
        <p:nvSpPr>
          <p:cNvPr id="3" name="card"/>
          <p:cNvSpPr/>
          <p:nvPr/>
        </p:nvSpPr>
        <p:spPr>
          <a:xfrm>
            <a:off x="457200" y="1325880"/>
            <a:ext cx="1828800" cy="242316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badge"/>
          <p:cNvSpPr/>
          <p:nvPr/>
        </p:nvSpPr>
        <p:spPr>
          <a:xfrm>
            <a:off x="960120" y="1508760"/>
            <a:ext cx="822960" cy="82296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1165860" y="1714500"/>
            <a:ext cx="411480" cy="411480"/>
          </a:xfrm>
          <a:prstGeom prst="rect">
            <a:avLst/>
          </a:prstGeom>
        </p:spPr>
      </p:pic>
      <p:sp>
        <p:nvSpPr>
          <p:cNvPr id="6" name="Text 3"/>
          <p:cNvSpPr txBox="1"/>
          <p:nvPr/>
        </p:nvSpPr>
        <p:spPr>
          <a:xfrm>
            <a:off x="548640" y="246888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Sit with the work</a:t>
            </a:r>
            <a:endParaRPr lang="en-US" sz="1600" dirty="0"/>
          </a:p>
        </p:txBody>
      </p:sp>
      <p:sp>
        <p:nvSpPr>
          <p:cNvPr id="7" name="Text 4"/>
          <p:cNvSpPr txBox="1"/>
          <p:nvPr/>
        </p:nvSpPr>
        <p:spPr>
          <a:xfrm>
            <a:off x="594360" y="3017520"/>
            <a:ext cx="1554480" cy="640080"/>
          </a:xfrm>
          <a:prstGeom prst="rect">
            <a:avLst/>
          </a:prstGeom>
          <a:noFill/>
          <a:ln/>
        </p:spPr>
        <p:txBody>
          <a:bodyPr wrap="square" lIns="0" tIns="0" rIns="0" bIns="0" rtlCol="0" anchor="t"/>
          <a:lstStyle/>
          <a:p>
            <a:pPr algn="ctr" indent="0" marL="0">
              <a:buNone/>
            </a:pPr>
            <a:r>
              <a:rPr lang="en-US" sz="1400" dirty="0">
                <a:solidFill>
                  <a:schemeClr val="tx2"/>
                </a:solidFill>
              </a:rPr>
              <a:t>Learn the real workflow and constraints</a:t>
            </a:r>
            <a:endParaRPr lang="en-US" sz="1400" dirty="0"/>
          </a:p>
        </p:txBody>
      </p:sp>
      <p:sp>
        <p:nvSpPr>
          <p:cNvPr id="8" name="loop arrow"/>
          <p:cNvSpPr/>
          <p:nvPr/>
        </p:nvSpPr>
        <p:spPr>
          <a:xfrm>
            <a:off x="2313432" y="2514600"/>
            <a:ext cx="246888" cy="0"/>
          </a:xfrm>
          <a:prstGeom prst="line">
            <a:avLst/>
          </a:prstGeom>
          <a:noFill/>
          <a:ln w="25400">
            <a:solidFill>
              <a:schemeClr val="tx2"/>
            </a:solidFill>
            <a:prstDash val="solid"/>
            <a:tailEnd type="triangle"/>
          </a:ln>
        </p:spPr>
      </p:sp>
      <p:sp>
        <p:nvSpPr>
          <p:cNvPr id="9" name="card"/>
          <p:cNvSpPr/>
          <p:nvPr/>
        </p:nvSpPr>
        <p:spPr>
          <a:xfrm>
            <a:off x="2587752" y="1325880"/>
            <a:ext cx="1828800" cy="242316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badge"/>
          <p:cNvSpPr/>
          <p:nvPr/>
        </p:nvSpPr>
        <p:spPr>
          <a:xfrm>
            <a:off x="3090672" y="1508760"/>
            <a:ext cx="822960" cy="822960"/>
          </a:xfrm>
          <a:prstGeom prst="ellipse">
            <a:avLst/>
          </a:prstGeom>
          <a:solidFill>
            <a:schemeClr val="accent5"/>
          </a:solidFill>
          <a:ln w="12700">
            <a:solidFill>
              <a:schemeClr val="accent5"/>
            </a:solidFill>
            <a:prstDash val="solid"/>
          </a:ln>
        </p:spPr>
      </p:sp>
      <p:pic>
        <p:nvPicPr>
          <p:cNvPr id="11" name="Image 1" descr="icon">    </p:cNvPr>
          <p:cNvPicPr>
            <a:picLocks noChangeAspect="1"/>
          </p:cNvPicPr>
          <p:nvPr/>
        </p:nvPicPr>
        <p:blipFill>
          <a:blip r:embed="rId2"/>
          <a:stretch>
            <a:fillRect/>
          </a:stretch>
        </p:blipFill>
        <p:spPr>
          <a:xfrm>
            <a:off x="3296412" y="1714500"/>
            <a:ext cx="411480" cy="411480"/>
          </a:xfrm>
          <a:prstGeom prst="rect">
            <a:avLst/>
          </a:prstGeom>
        </p:spPr>
      </p:pic>
      <p:sp>
        <p:nvSpPr>
          <p:cNvPr id="12" name="Text 8"/>
          <p:cNvSpPr txBox="1"/>
          <p:nvPr/>
        </p:nvSpPr>
        <p:spPr>
          <a:xfrm>
            <a:off x="2679192" y="246888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Build in place</a:t>
            </a:r>
            <a:endParaRPr lang="en-US" sz="1600" dirty="0"/>
          </a:p>
        </p:txBody>
      </p:sp>
      <p:sp>
        <p:nvSpPr>
          <p:cNvPr id="13" name="Text 9"/>
          <p:cNvSpPr txBox="1"/>
          <p:nvPr/>
        </p:nvSpPr>
        <p:spPr>
          <a:xfrm>
            <a:off x="2724912" y="3017520"/>
            <a:ext cx="1554480" cy="640080"/>
          </a:xfrm>
          <a:prstGeom prst="rect">
            <a:avLst/>
          </a:prstGeom>
          <a:noFill/>
          <a:ln/>
        </p:spPr>
        <p:txBody>
          <a:bodyPr wrap="square" lIns="0" tIns="0" rIns="0" bIns="0" rtlCol="0" anchor="t"/>
          <a:lstStyle/>
          <a:p>
            <a:pPr algn="ctr" indent="0" marL="0">
              <a:buNone/>
            </a:pPr>
            <a:r>
              <a:rPr lang="en-US" sz="1400" dirty="0">
                <a:solidFill>
                  <a:schemeClr val="tx2"/>
                </a:solidFill>
              </a:rPr>
              <a:t>Prototype on the customer's own data</a:t>
            </a:r>
            <a:endParaRPr lang="en-US" sz="1400" dirty="0"/>
          </a:p>
        </p:txBody>
      </p:sp>
      <p:sp>
        <p:nvSpPr>
          <p:cNvPr id="14" name="loop arrow"/>
          <p:cNvSpPr/>
          <p:nvPr/>
        </p:nvSpPr>
        <p:spPr>
          <a:xfrm>
            <a:off x="4443984" y="2514600"/>
            <a:ext cx="246888" cy="0"/>
          </a:xfrm>
          <a:prstGeom prst="line">
            <a:avLst/>
          </a:prstGeom>
          <a:noFill/>
          <a:ln w="25400">
            <a:solidFill>
              <a:schemeClr val="tx2"/>
            </a:solidFill>
            <a:prstDash val="solid"/>
            <a:tailEnd type="triangle"/>
          </a:ln>
        </p:spPr>
      </p:sp>
      <p:sp>
        <p:nvSpPr>
          <p:cNvPr id="15" name="card"/>
          <p:cNvSpPr/>
          <p:nvPr/>
        </p:nvSpPr>
        <p:spPr>
          <a:xfrm>
            <a:off x="4718304" y="1325880"/>
            <a:ext cx="1828800" cy="242316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badge"/>
          <p:cNvSpPr/>
          <p:nvPr/>
        </p:nvSpPr>
        <p:spPr>
          <a:xfrm>
            <a:off x="5221224" y="1508760"/>
            <a:ext cx="822960" cy="822960"/>
          </a:xfrm>
          <a:prstGeom prst="ellipse">
            <a:avLst/>
          </a:prstGeom>
          <a:solidFill>
            <a:schemeClr val="accent4"/>
          </a:solidFill>
          <a:ln w="12700">
            <a:solidFill>
              <a:schemeClr val="accent4"/>
            </a:solidFill>
            <a:prstDash val="solid"/>
          </a:ln>
        </p:spPr>
      </p:sp>
      <p:pic>
        <p:nvPicPr>
          <p:cNvPr id="17" name="Image 2" descr="icon">    </p:cNvPr>
          <p:cNvPicPr>
            <a:picLocks noChangeAspect="1"/>
          </p:cNvPicPr>
          <p:nvPr/>
        </p:nvPicPr>
        <p:blipFill>
          <a:blip r:embed="rId3"/>
          <a:stretch>
            <a:fillRect/>
          </a:stretch>
        </p:blipFill>
        <p:spPr>
          <a:xfrm>
            <a:off x="5426964" y="1714500"/>
            <a:ext cx="411480" cy="411480"/>
          </a:xfrm>
          <a:prstGeom prst="rect">
            <a:avLst/>
          </a:prstGeom>
        </p:spPr>
      </p:pic>
      <p:sp>
        <p:nvSpPr>
          <p:cNvPr id="18" name="Text 13"/>
          <p:cNvSpPr txBox="1"/>
          <p:nvPr/>
        </p:nvSpPr>
        <p:spPr>
          <a:xfrm>
            <a:off x="4809744" y="246888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Ship to production</a:t>
            </a:r>
            <a:endParaRPr lang="en-US" sz="1600" dirty="0"/>
          </a:p>
        </p:txBody>
      </p:sp>
      <p:sp>
        <p:nvSpPr>
          <p:cNvPr id="19" name="Text 14"/>
          <p:cNvSpPr txBox="1"/>
          <p:nvPr/>
        </p:nvSpPr>
        <p:spPr>
          <a:xfrm>
            <a:off x="4855464" y="3017520"/>
            <a:ext cx="1554480" cy="640080"/>
          </a:xfrm>
          <a:prstGeom prst="rect">
            <a:avLst/>
          </a:prstGeom>
          <a:noFill/>
          <a:ln/>
        </p:spPr>
        <p:txBody>
          <a:bodyPr wrap="square" lIns="0" tIns="0" rIns="0" bIns="0" rtlCol="0" anchor="t"/>
          <a:lstStyle/>
          <a:p>
            <a:pPr algn="ctr" indent="0" marL="0">
              <a:buNone/>
            </a:pPr>
            <a:r>
              <a:rPr lang="en-US" sz="1400" dirty="0">
                <a:solidFill>
                  <a:schemeClr val="tx2"/>
                </a:solidFill>
              </a:rPr>
              <a:t>Deploy, monitor and fix</a:t>
            </a:r>
            <a:endParaRPr lang="en-US" sz="1400" dirty="0"/>
          </a:p>
        </p:txBody>
      </p:sp>
      <p:sp>
        <p:nvSpPr>
          <p:cNvPr id="20" name="loop arrow"/>
          <p:cNvSpPr/>
          <p:nvPr/>
        </p:nvSpPr>
        <p:spPr>
          <a:xfrm>
            <a:off x="6574536" y="2514600"/>
            <a:ext cx="246888" cy="0"/>
          </a:xfrm>
          <a:prstGeom prst="line">
            <a:avLst/>
          </a:prstGeom>
          <a:noFill/>
          <a:ln w="25400">
            <a:solidFill>
              <a:schemeClr val="tx2"/>
            </a:solidFill>
            <a:prstDash val="solid"/>
            <a:tailEnd type="triangle"/>
          </a:ln>
        </p:spPr>
      </p:sp>
      <p:sp>
        <p:nvSpPr>
          <p:cNvPr id="21" name="card"/>
          <p:cNvSpPr/>
          <p:nvPr/>
        </p:nvSpPr>
        <p:spPr>
          <a:xfrm>
            <a:off x="6848856" y="1325880"/>
            <a:ext cx="1828800" cy="242316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badge"/>
          <p:cNvSpPr/>
          <p:nvPr/>
        </p:nvSpPr>
        <p:spPr>
          <a:xfrm>
            <a:off x="7351776" y="1508760"/>
            <a:ext cx="822960" cy="822960"/>
          </a:xfrm>
          <a:prstGeom prst="ellipse">
            <a:avLst/>
          </a:prstGeom>
          <a:solidFill>
            <a:schemeClr val="accent2"/>
          </a:solidFill>
          <a:ln w="12700">
            <a:solidFill>
              <a:schemeClr val="accent2"/>
            </a:solidFill>
            <a:prstDash val="solid"/>
          </a:ln>
        </p:spPr>
      </p:sp>
      <p:pic>
        <p:nvPicPr>
          <p:cNvPr id="23" name="Image 3" descr="icon">    </p:cNvPr>
          <p:cNvPicPr>
            <a:picLocks noChangeAspect="1"/>
          </p:cNvPicPr>
          <p:nvPr/>
        </p:nvPicPr>
        <p:blipFill>
          <a:blip r:embed="rId4"/>
          <a:stretch>
            <a:fillRect/>
          </a:stretch>
        </p:blipFill>
        <p:spPr>
          <a:xfrm>
            <a:off x="7557516" y="1714500"/>
            <a:ext cx="411480" cy="411480"/>
          </a:xfrm>
          <a:prstGeom prst="rect">
            <a:avLst/>
          </a:prstGeom>
        </p:spPr>
      </p:pic>
      <p:sp>
        <p:nvSpPr>
          <p:cNvPr id="24" name="Text 18"/>
          <p:cNvSpPr txBox="1"/>
          <p:nvPr/>
        </p:nvSpPr>
        <p:spPr>
          <a:xfrm>
            <a:off x="6940296" y="246888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Generalise</a:t>
            </a:r>
            <a:endParaRPr lang="en-US" sz="1600" dirty="0"/>
          </a:p>
        </p:txBody>
      </p:sp>
      <p:sp>
        <p:nvSpPr>
          <p:cNvPr id="25" name="Text 19"/>
          <p:cNvSpPr txBox="1"/>
          <p:nvPr/>
        </p:nvSpPr>
        <p:spPr>
          <a:xfrm>
            <a:off x="6986016" y="3017520"/>
            <a:ext cx="1554480" cy="640080"/>
          </a:xfrm>
          <a:prstGeom prst="rect">
            <a:avLst/>
          </a:prstGeom>
          <a:noFill/>
          <a:ln/>
        </p:spPr>
        <p:txBody>
          <a:bodyPr wrap="square" lIns="0" tIns="0" rIns="0" bIns="0" rtlCol="0" anchor="t"/>
          <a:lstStyle/>
          <a:p>
            <a:pPr algn="ctr" indent="0" marL="0">
              <a:buNone/>
            </a:pPr>
            <a:r>
              <a:rPr lang="en-US" sz="1400" dirty="0">
                <a:solidFill>
                  <a:schemeClr val="tx2"/>
                </a:solidFill>
              </a:rPr>
              <a:t>Feed patterns back into the product</a:t>
            </a:r>
            <a:endParaRPr lang="en-US" sz="1400" dirty="0"/>
          </a:p>
        </p:txBody>
      </p:sp>
      <p:sp>
        <p:nvSpPr>
          <p:cNvPr id="26" name="card"/>
          <p:cNvSpPr/>
          <p:nvPr/>
        </p:nvSpPr>
        <p:spPr>
          <a:xfrm>
            <a:off x="457200" y="3931920"/>
            <a:ext cx="8229600" cy="640080"/>
          </a:xfrm>
          <a:prstGeom prst="roundRect">
            <a:avLst>
              <a:gd name="adj" fmla="val 17143"/>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27" name="Text 21"/>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600" b="1" dirty="0">
                <a:solidFill>
                  <a:schemeClr val="tx1"/>
                </a:solidFill>
              </a:rPr>
              <a:t>Step 4 is what separates an FDE from a consultant: what you learn improves the product.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FDE vs similar roles</a:t>
            </a:r>
            <a:endParaRPr lang="en-US" sz="3400" dirty="0"/>
          </a:p>
        </p:txBody>
      </p:sp>
      <p:sp>
        <p:nvSpPr>
          <p:cNvPr id="3" name="card"/>
          <p:cNvSpPr/>
          <p:nvPr/>
        </p:nvSpPr>
        <p:spPr>
          <a:xfrm>
            <a:off x="457200" y="1280160"/>
            <a:ext cx="1828800" cy="32004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94360" y="1417320"/>
            <a:ext cx="1554480" cy="731520"/>
          </a:xfrm>
          <a:prstGeom prst="rect">
            <a:avLst/>
          </a:prstGeom>
          <a:noFill/>
          <a:ln/>
        </p:spPr>
        <p:txBody>
          <a:bodyPr wrap="square" lIns="0" tIns="0" rIns="0" bIns="0" rtlCol="0" anchor="t"/>
          <a:lstStyle/>
          <a:p>
            <a:pPr indent="0" marL="0">
              <a:buNone/>
            </a:pPr>
            <a:r>
              <a:rPr lang="en-US" sz="1600" b="1" dirty="0">
                <a:solidFill>
                  <a:schemeClr val="tx1"/>
                </a:solidFill>
              </a:rPr>
              <a:t>Sales Engineer</a:t>
            </a:r>
            <a:endParaRPr lang="en-US" sz="1600" dirty="0"/>
          </a:p>
        </p:txBody>
      </p:sp>
      <p:sp>
        <p:nvSpPr>
          <p:cNvPr id="5" name="Text 3"/>
          <p:cNvSpPr txBox="1"/>
          <p:nvPr/>
        </p:nvSpPr>
        <p:spPr>
          <a:xfrm>
            <a:off x="594360" y="219456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WHEN</a:t>
            </a:r>
            <a:endParaRPr lang="en-US" sz="1100" dirty="0"/>
          </a:p>
        </p:txBody>
      </p:sp>
      <p:sp>
        <p:nvSpPr>
          <p:cNvPr id="6" name="Text 4"/>
          <p:cNvSpPr txBox="1"/>
          <p:nvPr/>
        </p:nvSpPr>
        <p:spPr>
          <a:xfrm>
            <a:off x="594360" y="2423160"/>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Pre-sale</a:t>
            </a:r>
            <a:endParaRPr lang="en-US" sz="1400" dirty="0"/>
          </a:p>
        </p:txBody>
      </p:sp>
      <p:sp>
        <p:nvSpPr>
          <p:cNvPr id="7" name="Text 5"/>
          <p:cNvSpPr txBox="1"/>
          <p:nvPr/>
        </p:nvSpPr>
        <p:spPr>
          <a:xfrm>
            <a:off x="594360" y="2743200"/>
            <a:ext cx="1554480" cy="731520"/>
          </a:xfrm>
          <a:prstGeom prst="rect">
            <a:avLst/>
          </a:prstGeom>
          <a:noFill/>
          <a:ln/>
        </p:spPr>
        <p:txBody>
          <a:bodyPr wrap="square" lIns="0" tIns="0" rIns="0" bIns="0" rtlCol="0" anchor="t"/>
          <a:lstStyle/>
          <a:p>
            <a:pPr indent="0" marL="0">
              <a:buNone/>
            </a:pPr>
            <a:r>
              <a:rPr lang="en-US" sz="1400" dirty="0">
                <a:solidFill>
                  <a:schemeClr val="tx2"/>
                </a:solidFill>
              </a:rPr>
              <a:t>Demos and proofs of concept</a:t>
            </a:r>
            <a:endParaRPr lang="en-US" sz="1400" dirty="0"/>
          </a:p>
        </p:txBody>
      </p:sp>
      <p:sp>
        <p:nvSpPr>
          <p:cNvPr id="8" name="Text 6"/>
          <p:cNvSpPr txBox="1"/>
          <p:nvPr/>
        </p:nvSpPr>
        <p:spPr>
          <a:xfrm>
            <a:off x="594360" y="365760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CODING</a:t>
            </a:r>
            <a:endParaRPr lang="en-US" sz="1100" dirty="0"/>
          </a:p>
        </p:txBody>
      </p:sp>
      <p:sp>
        <p:nvSpPr>
          <p:cNvPr id="9" name="coding level"/>
          <p:cNvSpPr/>
          <p:nvPr/>
        </p:nvSpPr>
        <p:spPr>
          <a:xfrm>
            <a:off x="594360" y="3977640"/>
            <a:ext cx="256032" cy="219456"/>
          </a:xfrm>
          <a:prstGeom prst="roundRect">
            <a:avLst>
              <a:gd name="adj" fmla="val 20833"/>
            </a:avLst>
          </a:prstGeom>
          <a:solidFill>
            <a:schemeClr val="bg1"/>
          </a:solidFill>
          <a:ln w="9525">
            <a:solidFill>
              <a:schemeClr val="tx2"/>
            </a:solidFill>
            <a:prstDash val="solid"/>
          </a:ln>
        </p:spPr>
      </p:sp>
      <p:sp>
        <p:nvSpPr>
          <p:cNvPr id="10" name="coding level"/>
          <p:cNvSpPr/>
          <p:nvPr/>
        </p:nvSpPr>
        <p:spPr>
          <a:xfrm>
            <a:off x="905256" y="3977640"/>
            <a:ext cx="256032" cy="219456"/>
          </a:xfrm>
          <a:prstGeom prst="roundRect">
            <a:avLst>
              <a:gd name="adj" fmla="val 20833"/>
            </a:avLst>
          </a:prstGeom>
          <a:solidFill>
            <a:schemeClr val="bg1"/>
          </a:solidFill>
          <a:ln w="9525">
            <a:solidFill>
              <a:schemeClr val="tx2"/>
            </a:solidFill>
            <a:prstDash val="solid"/>
          </a:ln>
        </p:spPr>
      </p:sp>
      <p:sp>
        <p:nvSpPr>
          <p:cNvPr id="11" name="coding level"/>
          <p:cNvSpPr/>
          <p:nvPr/>
        </p:nvSpPr>
        <p:spPr>
          <a:xfrm>
            <a:off x="1216152" y="3977640"/>
            <a:ext cx="256032" cy="219456"/>
          </a:xfrm>
          <a:prstGeom prst="roundRect">
            <a:avLst>
              <a:gd name="adj" fmla="val 20833"/>
            </a:avLst>
          </a:prstGeom>
          <a:solidFill>
            <a:schemeClr val="bg1"/>
          </a:solidFill>
          <a:ln w="9525">
            <a:solidFill>
              <a:schemeClr val="tx2"/>
            </a:solidFill>
            <a:prstDash val="solid"/>
          </a:ln>
        </p:spPr>
      </p:sp>
      <p:sp>
        <p:nvSpPr>
          <p:cNvPr id="12" name="coding level"/>
          <p:cNvSpPr/>
          <p:nvPr/>
        </p:nvSpPr>
        <p:spPr>
          <a:xfrm>
            <a:off x="1527048" y="3977640"/>
            <a:ext cx="256032" cy="219456"/>
          </a:xfrm>
          <a:prstGeom prst="roundRect">
            <a:avLst>
              <a:gd name="adj" fmla="val 20833"/>
            </a:avLst>
          </a:prstGeom>
          <a:solidFill>
            <a:schemeClr val="bg1"/>
          </a:solidFill>
          <a:ln w="9525">
            <a:solidFill>
              <a:schemeClr val="tx2"/>
            </a:solidFill>
            <a:prstDash val="solid"/>
          </a:ln>
        </p:spPr>
      </p:sp>
      <p:sp>
        <p:nvSpPr>
          <p:cNvPr id="13" name="coding level"/>
          <p:cNvSpPr/>
          <p:nvPr/>
        </p:nvSpPr>
        <p:spPr>
          <a:xfrm>
            <a:off x="1837944" y="3977640"/>
            <a:ext cx="256032" cy="219456"/>
          </a:xfrm>
          <a:prstGeom prst="roundRect">
            <a:avLst>
              <a:gd name="adj" fmla="val 20833"/>
            </a:avLst>
          </a:prstGeom>
          <a:solidFill>
            <a:schemeClr val="bg1"/>
          </a:solidFill>
          <a:ln w="9525">
            <a:solidFill>
              <a:schemeClr val="tx2"/>
            </a:solidFill>
            <a:prstDash val="solid"/>
          </a:ln>
        </p:spPr>
      </p:sp>
      <p:sp>
        <p:nvSpPr>
          <p:cNvPr id="14" name="card"/>
          <p:cNvSpPr/>
          <p:nvPr/>
        </p:nvSpPr>
        <p:spPr>
          <a:xfrm>
            <a:off x="2587752" y="1280160"/>
            <a:ext cx="1828800" cy="32004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2724912" y="1417320"/>
            <a:ext cx="1554480" cy="731520"/>
          </a:xfrm>
          <a:prstGeom prst="rect">
            <a:avLst/>
          </a:prstGeom>
          <a:noFill/>
          <a:ln/>
        </p:spPr>
        <p:txBody>
          <a:bodyPr wrap="square" lIns="0" tIns="0" rIns="0" bIns="0" rtlCol="0" anchor="t"/>
          <a:lstStyle/>
          <a:p>
            <a:pPr indent="0" marL="0">
              <a:buNone/>
            </a:pPr>
            <a:r>
              <a:rPr lang="en-US" sz="1600" b="1" dirty="0">
                <a:solidFill>
                  <a:schemeClr val="tx1"/>
                </a:solidFill>
              </a:rPr>
              <a:t>Solutions Architect</a:t>
            </a:r>
            <a:endParaRPr lang="en-US" sz="1600" dirty="0"/>
          </a:p>
        </p:txBody>
      </p:sp>
      <p:sp>
        <p:nvSpPr>
          <p:cNvPr id="16" name="Text 14"/>
          <p:cNvSpPr txBox="1"/>
          <p:nvPr/>
        </p:nvSpPr>
        <p:spPr>
          <a:xfrm>
            <a:off x="2724912" y="219456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WHEN</a:t>
            </a:r>
            <a:endParaRPr lang="en-US" sz="1100" dirty="0"/>
          </a:p>
        </p:txBody>
      </p:sp>
      <p:sp>
        <p:nvSpPr>
          <p:cNvPr id="17" name="Text 15"/>
          <p:cNvSpPr txBox="1"/>
          <p:nvPr/>
        </p:nvSpPr>
        <p:spPr>
          <a:xfrm>
            <a:off x="2724912" y="2423160"/>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Pre / during sale</a:t>
            </a:r>
            <a:endParaRPr lang="en-US" sz="1400" dirty="0"/>
          </a:p>
        </p:txBody>
      </p:sp>
      <p:sp>
        <p:nvSpPr>
          <p:cNvPr id="18" name="Text 16"/>
          <p:cNvSpPr txBox="1"/>
          <p:nvPr/>
        </p:nvSpPr>
        <p:spPr>
          <a:xfrm>
            <a:off x="2724912" y="2743200"/>
            <a:ext cx="1554480" cy="731520"/>
          </a:xfrm>
          <a:prstGeom prst="rect">
            <a:avLst/>
          </a:prstGeom>
          <a:noFill/>
          <a:ln/>
        </p:spPr>
        <p:txBody>
          <a:bodyPr wrap="square" lIns="0" tIns="0" rIns="0" bIns="0" rtlCol="0" anchor="t"/>
          <a:lstStyle/>
          <a:p>
            <a:pPr indent="0" marL="0">
              <a:buNone/>
            </a:pPr>
            <a:r>
              <a:rPr lang="en-US" sz="1400" dirty="0">
                <a:solidFill>
                  <a:schemeClr val="tx2"/>
                </a:solidFill>
              </a:rPr>
              <a:t>High-level system design</a:t>
            </a:r>
            <a:endParaRPr lang="en-US" sz="1400" dirty="0"/>
          </a:p>
        </p:txBody>
      </p:sp>
      <p:sp>
        <p:nvSpPr>
          <p:cNvPr id="19" name="Text 17"/>
          <p:cNvSpPr txBox="1"/>
          <p:nvPr/>
        </p:nvSpPr>
        <p:spPr>
          <a:xfrm>
            <a:off x="2724912" y="365760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CODING</a:t>
            </a:r>
            <a:endParaRPr lang="en-US" sz="1100" dirty="0"/>
          </a:p>
        </p:txBody>
      </p:sp>
      <p:sp>
        <p:nvSpPr>
          <p:cNvPr id="20" name="coding level"/>
          <p:cNvSpPr/>
          <p:nvPr/>
        </p:nvSpPr>
        <p:spPr>
          <a:xfrm>
            <a:off x="2724912" y="3977640"/>
            <a:ext cx="256032" cy="219456"/>
          </a:xfrm>
          <a:prstGeom prst="roundRect">
            <a:avLst>
              <a:gd name="adj" fmla="val 20833"/>
            </a:avLst>
          </a:prstGeom>
          <a:solidFill>
            <a:schemeClr val="accent1"/>
          </a:solidFill>
          <a:ln w="12700">
            <a:solidFill>
              <a:schemeClr val="tx2"/>
            </a:solidFill>
            <a:prstDash val="solid"/>
          </a:ln>
        </p:spPr>
      </p:sp>
      <p:sp>
        <p:nvSpPr>
          <p:cNvPr id="21" name="coding level"/>
          <p:cNvSpPr/>
          <p:nvPr/>
        </p:nvSpPr>
        <p:spPr>
          <a:xfrm>
            <a:off x="3035808" y="3977640"/>
            <a:ext cx="256032" cy="219456"/>
          </a:xfrm>
          <a:prstGeom prst="roundRect">
            <a:avLst>
              <a:gd name="adj" fmla="val 20833"/>
            </a:avLst>
          </a:prstGeom>
          <a:solidFill>
            <a:schemeClr val="accent1"/>
          </a:solidFill>
          <a:ln w="12700">
            <a:solidFill>
              <a:schemeClr val="tx2"/>
            </a:solidFill>
            <a:prstDash val="solid"/>
          </a:ln>
        </p:spPr>
      </p:sp>
      <p:sp>
        <p:nvSpPr>
          <p:cNvPr id="22" name="coding level"/>
          <p:cNvSpPr/>
          <p:nvPr/>
        </p:nvSpPr>
        <p:spPr>
          <a:xfrm>
            <a:off x="3346704" y="3977640"/>
            <a:ext cx="256032" cy="219456"/>
          </a:xfrm>
          <a:prstGeom prst="roundRect">
            <a:avLst>
              <a:gd name="adj" fmla="val 20833"/>
            </a:avLst>
          </a:prstGeom>
          <a:solidFill>
            <a:schemeClr val="bg1"/>
          </a:solidFill>
          <a:ln w="9525">
            <a:solidFill>
              <a:schemeClr val="tx2"/>
            </a:solidFill>
            <a:prstDash val="solid"/>
          </a:ln>
        </p:spPr>
      </p:sp>
      <p:sp>
        <p:nvSpPr>
          <p:cNvPr id="23" name="coding level"/>
          <p:cNvSpPr/>
          <p:nvPr/>
        </p:nvSpPr>
        <p:spPr>
          <a:xfrm>
            <a:off x="3657600" y="3977640"/>
            <a:ext cx="256032" cy="219456"/>
          </a:xfrm>
          <a:prstGeom prst="roundRect">
            <a:avLst>
              <a:gd name="adj" fmla="val 20833"/>
            </a:avLst>
          </a:prstGeom>
          <a:solidFill>
            <a:schemeClr val="bg1"/>
          </a:solidFill>
          <a:ln w="9525">
            <a:solidFill>
              <a:schemeClr val="tx2"/>
            </a:solidFill>
            <a:prstDash val="solid"/>
          </a:ln>
        </p:spPr>
      </p:sp>
      <p:sp>
        <p:nvSpPr>
          <p:cNvPr id="24" name="coding level"/>
          <p:cNvSpPr/>
          <p:nvPr/>
        </p:nvSpPr>
        <p:spPr>
          <a:xfrm>
            <a:off x="3968496" y="3977640"/>
            <a:ext cx="256032" cy="219456"/>
          </a:xfrm>
          <a:prstGeom prst="roundRect">
            <a:avLst>
              <a:gd name="adj" fmla="val 20833"/>
            </a:avLst>
          </a:prstGeom>
          <a:solidFill>
            <a:schemeClr val="bg1"/>
          </a:solidFill>
          <a:ln w="9525">
            <a:solidFill>
              <a:schemeClr val="tx2"/>
            </a:solidFill>
            <a:prstDash val="solid"/>
          </a:ln>
        </p:spPr>
      </p:sp>
      <p:sp>
        <p:nvSpPr>
          <p:cNvPr id="25" name="card"/>
          <p:cNvSpPr/>
          <p:nvPr/>
        </p:nvSpPr>
        <p:spPr>
          <a:xfrm>
            <a:off x="4718304" y="1280160"/>
            <a:ext cx="1828800" cy="3200400"/>
          </a:xfrm>
          <a:prstGeom prst="roundRect">
            <a:avLst>
              <a:gd name="adj" fmla="val 6000"/>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26" name="Text 24"/>
          <p:cNvSpPr txBox="1"/>
          <p:nvPr/>
        </p:nvSpPr>
        <p:spPr>
          <a:xfrm>
            <a:off x="4855464" y="1417320"/>
            <a:ext cx="1554480" cy="731520"/>
          </a:xfrm>
          <a:prstGeom prst="rect">
            <a:avLst/>
          </a:prstGeom>
          <a:noFill/>
          <a:ln/>
        </p:spPr>
        <p:txBody>
          <a:bodyPr wrap="square" lIns="0" tIns="0" rIns="0" bIns="0" rtlCol="0" anchor="t"/>
          <a:lstStyle/>
          <a:p>
            <a:pPr indent="0" marL="0">
              <a:buNone/>
            </a:pPr>
            <a:r>
              <a:rPr lang="en-US" sz="1600" b="1" dirty="0">
                <a:solidFill>
                  <a:schemeClr val="bg1"/>
                </a:solidFill>
              </a:rPr>
              <a:t>Forward Deployed Engineer</a:t>
            </a:r>
            <a:endParaRPr lang="en-US" sz="1600" dirty="0"/>
          </a:p>
        </p:txBody>
      </p:sp>
      <p:sp>
        <p:nvSpPr>
          <p:cNvPr id="27" name="Text 25"/>
          <p:cNvSpPr txBox="1"/>
          <p:nvPr/>
        </p:nvSpPr>
        <p:spPr>
          <a:xfrm>
            <a:off x="4855464" y="2194560"/>
            <a:ext cx="1554480" cy="228600"/>
          </a:xfrm>
          <a:prstGeom prst="rect">
            <a:avLst/>
          </a:prstGeom>
          <a:noFill/>
          <a:ln/>
        </p:spPr>
        <p:txBody>
          <a:bodyPr wrap="square" lIns="0" tIns="0" rIns="0" bIns="0" rtlCol="0" anchor="ctr"/>
          <a:lstStyle/>
          <a:p>
            <a:pPr indent="0" marL="0">
              <a:buNone/>
            </a:pPr>
            <a:r>
              <a:rPr lang="en-US" sz="1100" b="1" dirty="0">
                <a:solidFill>
                  <a:schemeClr val="accent2"/>
                </a:solidFill>
              </a:rPr>
              <a:t>WHEN</a:t>
            </a:r>
            <a:endParaRPr lang="en-US" sz="1100" dirty="0"/>
          </a:p>
        </p:txBody>
      </p:sp>
      <p:sp>
        <p:nvSpPr>
          <p:cNvPr id="28" name="Text 26"/>
          <p:cNvSpPr txBox="1"/>
          <p:nvPr/>
        </p:nvSpPr>
        <p:spPr>
          <a:xfrm>
            <a:off x="4855464" y="2423160"/>
            <a:ext cx="1554480" cy="274320"/>
          </a:xfrm>
          <a:prstGeom prst="rect">
            <a:avLst/>
          </a:prstGeom>
          <a:noFill/>
          <a:ln/>
        </p:spPr>
        <p:txBody>
          <a:bodyPr wrap="square" lIns="0" tIns="0" rIns="0" bIns="0" rtlCol="0" anchor="ctr"/>
          <a:lstStyle/>
          <a:p>
            <a:pPr indent="0" marL="0">
              <a:buNone/>
            </a:pPr>
            <a:r>
              <a:rPr lang="en-US" sz="1400" b="1" dirty="0">
                <a:solidFill>
                  <a:schemeClr val="bg1"/>
                </a:solidFill>
              </a:rPr>
              <a:t>Post-sale</a:t>
            </a:r>
            <a:endParaRPr lang="en-US" sz="1400" dirty="0"/>
          </a:p>
        </p:txBody>
      </p:sp>
      <p:sp>
        <p:nvSpPr>
          <p:cNvPr id="29" name="Text 27"/>
          <p:cNvSpPr txBox="1"/>
          <p:nvPr/>
        </p:nvSpPr>
        <p:spPr>
          <a:xfrm>
            <a:off x="4855464" y="2743200"/>
            <a:ext cx="1554480" cy="731520"/>
          </a:xfrm>
          <a:prstGeom prst="rect">
            <a:avLst/>
          </a:prstGeom>
          <a:noFill/>
          <a:ln/>
        </p:spPr>
        <p:txBody>
          <a:bodyPr wrap="square" lIns="0" tIns="0" rIns="0" bIns="0" rtlCol="0" anchor="t"/>
          <a:lstStyle/>
          <a:p>
            <a:pPr indent="0" marL="0">
              <a:buNone/>
            </a:pPr>
            <a:r>
              <a:rPr lang="en-US" sz="1400" dirty="0">
                <a:solidFill>
                  <a:schemeClr val="bg1"/>
                </a:solidFill>
              </a:rPr>
              <a:t>Production code in the customer's environment</a:t>
            </a:r>
            <a:endParaRPr lang="en-US" sz="1400" dirty="0"/>
          </a:p>
        </p:txBody>
      </p:sp>
      <p:sp>
        <p:nvSpPr>
          <p:cNvPr id="30" name="Text 28"/>
          <p:cNvSpPr txBox="1"/>
          <p:nvPr/>
        </p:nvSpPr>
        <p:spPr>
          <a:xfrm>
            <a:off x="4855464" y="3657600"/>
            <a:ext cx="1554480" cy="228600"/>
          </a:xfrm>
          <a:prstGeom prst="rect">
            <a:avLst/>
          </a:prstGeom>
          <a:noFill/>
          <a:ln/>
        </p:spPr>
        <p:txBody>
          <a:bodyPr wrap="square" lIns="0" tIns="0" rIns="0" bIns="0" rtlCol="0" anchor="ctr"/>
          <a:lstStyle/>
          <a:p>
            <a:pPr indent="0" marL="0">
              <a:buNone/>
            </a:pPr>
            <a:r>
              <a:rPr lang="en-US" sz="1100" b="1" dirty="0">
                <a:solidFill>
                  <a:schemeClr val="accent2"/>
                </a:solidFill>
              </a:rPr>
              <a:t>CODING</a:t>
            </a:r>
            <a:endParaRPr lang="en-US" sz="1100" dirty="0"/>
          </a:p>
        </p:txBody>
      </p:sp>
      <p:sp>
        <p:nvSpPr>
          <p:cNvPr id="31" name="coding level"/>
          <p:cNvSpPr/>
          <p:nvPr/>
        </p:nvSpPr>
        <p:spPr>
          <a:xfrm>
            <a:off x="4855464" y="3977640"/>
            <a:ext cx="256032" cy="219456"/>
          </a:xfrm>
          <a:prstGeom prst="roundRect">
            <a:avLst>
              <a:gd name="adj" fmla="val 20833"/>
            </a:avLst>
          </a:prstGeom>
          <a:solidFill>
            <a:schemeClr val="accent2"/>
          </a:solidFill>
          <a:ln w="12700">
            <a:solidFill>
              <a:schemeClr val="bg1"/>
            </a:solidFill>
            <a:prstDash val="solid"/>
          </a:ln>
        </p:spPr>
      </p:sp>
      <p:sp>
        <p:nvSpPr>
          <p:cNvPr id="32" name="coding level"/>
          <p:cNvSpPr/>
          <p:nvPr/>
        </p:nvSpPr>
        <p:spPr>
          <a:xfrm>
            <a:off x="5166360" y="3977640"/>
            <a:ext cx="256032" cy="219456"/>
          </a:xfrm>
          <a:prstGeom prst="roundRect">
            <a:avLst>
              <a:gd name="adj" fmla="val 20833"/>
            </a:avLst>
          </a:prstGeom>
          <a:solidFill>
            <a:schemeClr val="accent2"/>
          </a:solidFill>
          <a:ln w="12700">
            <a:solidFill>
              <a:schemeClr val="bg1"/>
            </a:solidFill>
            <a:prstDash val="solid"/>
          </a:ln>
        </p:spPr>
      </p:sp>
      <p:sp>
        <p:nvSpPr>
          <p:cNvPr id="33" name="coding level"/>
          <p:cNvSpPr/>
          <p:nvPr/>
        </p:nvSpPr>
        <p:spPr>
          <a:xfrm>
            <a:off x="5477256" y="3977640"/>
            <a:ext cx="256032" cy="219456"/>
          </a:xfrm>
          <a:prstGeom prst="roundRect">
            <a:avLst>
              <a:gd name="adj" fmla="val 20833"/>
            </a:avLst>
          </a:prstGeom>
          <a:solidFill>
            <a:schemeClr val="accent2"/>
          </a:solidFill>
          <a:ln w="12700">
            <a:solidFill>
              <a:schemeClr val="bg1"/>
            </a:solidFill>
            <a:prstDash val="solid"/>
          </a:ln>
        </p:spPr>
      </p:sp>
      <p:sp>
        <p:nvSpPr>
          <p:cNvPr id="34" name="coding level"/>
          <p:cNvSpPr/>
          <p:nvPr/>
        </p:nvSpPr>
        <p:spPr>
          <a:xfrm>
            <a:off x="5788152" y="3977640"/>
            <a:ext cx="256032" cy="219456"/>
          </a:xfrm>
          <a:prstGeom prst="roundRect">
            <a:avLst>
              <a:gd name="adj" fmla="val 20833"/>
            </a:avLst>
          </a:prstGeom>
          <a:solidFill>
            <a:schemeClr val="accent2"/>
          </a:solidFill>
          <a:ln w="12700">
            <a:solidFill>
              <a:schemeClr val="bg1"/>
            </a:solidFill>
            <a:prstDash val="solid"/>
          </a:ln>
        </p:spPr>
      </p:sp>
      <p:sp>
        <p:nvSpPr>
          <p:cNvPr id="35" name="coding level"/>
          <p:cNvSpPr/>
          <p:nvPr/>
        </p:nvSpPr>
        <p:spPr>
          <a:xfrm>
            <a:off x="6099048" y="3977640"/>
            <a:ext cx="256032" cy="219456"/>
          </a:xfrm>
          <a:prstGeom prst="roundRect">
            <a:avLst>
              <a:gd name="adj" fmla="val 20833"/>
            </a:avLst>
          </a:prstGeom>
          <a:solidFill>
            <a:schemeClr val="accent2"/>
          </a:solidFill>
          <a:ln w="12700">
            <a:solidFill>
              <a:schemeClr val="bg1"/>
            </a:solidFill>
            <a:prstDash val="solid"/>
          </a:ln>
        </p:spPr>
      </p:sp>
      <p:sp>
        <p:nvSpPr>
          <p:cNvPr id="36" name="card"/>
          <p:cNvSpPr/>
          <p:nvPr/>
        </p:nvSpPr>
        <p:spPr>
          <a:xfrm>
            <a:off x="6848856" y="1280160"/>
            <a:ext cx="1828800" cy="3200400"/>
          </a:xfrm>
          <a:prstGeom prst="roundRect">
            <a:avLst>
              <a:gd name="adj" fmla="val 60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7" name="Text 35"/>
          <p:cNvSpPr txBox="1"/>
          <p:nvPr/>
        </p:nvSpPr>
        <p:spPr>
          <a:xfrm>
            <a:off x="6986016" y="1417320"/>
            <a:ext cx="1554480" cy="731520"/>
          </a:xfrm>
          <a:prstGeom prst="rect">
            <a:avLst/>
          </a:prstGeom>
          <a:noFill/>
          <a:ln/>
        </p:spPr>
        <p:txBody>
          <a:bodyPr wrap="square" lIns="0" tIns="0" rIns="0" bIns="0" rtlCol="0" anchor="t"/>
          <a:lstStyle/>
          <a:p>
            <a:pPr indent="0" marL="0">
              <a:buNone/>
            </a:pPr>
            <a:r>
              <a:rPr lang="en-US" sz="1600" b="1" dirty="0">
                <a:solidFill>
                  <a:schemeClr val="tx1"/>
                </a:solidFill>
              </a:rPr>
              <a:t>Platform Engineer</a:t>
            </a:r>
            <a:endParaRPr lang="en-US" sz="1600" dirty="0"/>
          </a:p>
        </p:txBody>
      </p:sp>
      <p:sp>
        <p:nvSpPr>
          <p:cNvPr id="38" name="Text 36"/>
          <p:cNvSpPr txBox="1"/>
          <p:nvPr/>
        </p:nvSpPr>
        <p:spPr>
          <a:xfrm>
            <a:off x="6986016" y="219456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WHEN</a:t>
            </a:r>
            <a:endParaRPr lang="en-US" sz="1100" dirty="0"/>
          </a:p>
        </p:txBody>
      </p:sp>
      <p:sp>
        <p:nvSpPr>
          <p:cNvPr id="39" name="Text 37"/>
          <p:cNvSpPr txBox="1"/>
          <p:nvPr/>
        </p:nvSpPr>
        <p:spPr>
          <a:xfrm>
            <a:off x="6986016" y="2423160"/>
            <a:ext cx="1554480" cy="274320"/>
          </a:xfrm>
          <a:prstGeom prst="rect">
            <a:avLst/>
          </a:prstGeom>
          <a:noFill/>
          <a:ln/>
        </p:spPr>
        <p:txBody>
          <a:bodyPr wrap="square" lIns="0" tIns="0" rIns="0" bIns="0" rtlCol="0" anchor="ctr"/>
          <a:lstStyle/>
          <a:p>
            <a:pPr indent="0" marL="0">
              <a:buNone/>
            </a:pPr>
            <a:r>
              <a:rPr lang="en-US" sz="1400" b="1" dirty="0">
                <a:solidFill>
                  <a:schemeClr val="tx1"/>
                </a:solidFill>
              </a:rPr>
              <a:t>Internal</a:t>
            </a:r>
            <a:endParaRPr lang="en-US" sz="1400" dirty="0"/>
          </a:p>
        </p:txBody>
      </p:sp>
      <p:sp>
        <p:nvSpPr>
          <p:cNvPr id="40" name="Text 38"/>
          <p:cNvSpPr txBox="1"/>
          <p:nvPr/>
        </p:nvSpPr>
        <p:spPr>
          <a:xfrm>
            <a:off x="6986016" y="2743200"/>
            <a:ext cx="1554480" cy="731520"/>
          </a:xfrm>
          <a:prstGeom prst="rect">
            <a:avLst/>
          </a:prstGeom>
          <a:noFill/>
          <a:ln/>
        </p:spPr>
        <p:txBody>
          <a:bodyPr wrap="square" lIns="0" tIns="0" rIns="0" bIns="0" rtlCol="0" anchor="t"/>
          <a:lstStyle/>
          <a:p>
            <a:pPr indent="0" marL="0">
              <a:buNone/>
            </a:pPr>
            <a:r>
              <a:rPr lang="en-US" sz="1400" dirty="0">
                <a:solidFill>
                  <a:schemeClr val="tx2"/>
                </a:solidFill>
              </a:rPr>
              <a:t>Tools and infrastructure for own teams</a:t>
            </a:r>
            <a:endParaRPr lang="en-US" sz="1400" dirty="0"/>
          </a:p>
        </p:txBody>
      </p:sp>
      <p:sp>
        <p:nvSpPr>
          <p:cNvPr id="41" name="Text 39"/>
          <p:cNvSpPr txBox="1"/>
          <p:nvPr/>
        </p:nvSpPr>
        <p:spPr>
          <a:xfrm>
            <a:off x="6986016" y="3657600"/>
            <a:ext cx="1554480" cy="228600"/>
          </a:xfrm>
          <a:prstGeom prst="rect">
            <a:avLst/>
          </a:prstGeom>
          <a:noFill/>
          <a:ln/>
        </p:spPr>
        <p:txBody>
          <a:bodyPr wrap="square" lIns="0" tIns="0" rIns="0" bIns="0" rtlCol="0" anchor="ctr"/>
          <a:lstStyle/>
          <a:p>
            <a:pPr indent="0" marL="0">
              <a:buNone/>
            </a:pPr>
            <a:r>
              <a:rPr lang="en-US" sz="1100" b="1" dirty="0">
                <a:solidFill>
                  <a:schemeClr val="accent1"/>
                </a:solidFill>
              </a:rPr>
              <a:t>CODING</a:t>
            </a:r>
            <a:endParaRPr lang="en-US" sz="1100" dirty="0"/>
          </a:p>
        </p:txBody>
      </p:sp>
      <p:sp>
        <p:nvSpPr>
          <p:cNvPr id="42" name="coding level"/>
          <p:cNvSpPr/>
          <p:nvPr/>
        </p:nvSpPr>
        <p:spPr>
          <a:xfrm>
            <a:off x="6986016" y="3977640"/>
            <a:ext cx="256032" cy="219456"/>
          </a:xfrm>
          <a:prstGeom prst="roundRect">
            <a:avLst>
              <a:gd name="adj" fmla="val 20833"/>
            </a:avLst>
          </a:prstGeom>
          <a:solidFill>
            <a:schemeClr val="accent1"/>
          </a:solidFill>
          <a:ln w="12700">
            <a:solidFill>
              <a:schemeClr val="tx2"/>
            </a:solidFill>
            <a:prstDash val="solid"/>
          </a:ln>
        </p:spPr>
      </p:sp>
      <p:sp>
        <p:nvSpPr>
          <p:cNvPr id="43" name="coding level"/>
          <p:cNvSpPr/>
          <p:nvPr/>
        </p:nvSpPr>
        <p:spPr>
          <a:xfrm>
            <a:off x="7296912" y="3977640"/>
            <a:ext cx="256032" cy="219456"/>
          </a:xfrm>
          <a:prstGeom prst="roundRect">
            <a:avLst>
              <a:gd name="adj" fmla="val 20833"/>
            </a:avLst>
          </a:prstGeom>
          <a:solidFill>
            <a:schemeClr val="accent1"/>
          </a:solidFill>
          <a:ln w="12700">
            <a:solidFill>
              <a:schemeClr val="tx2"/>
            </a:solidFill>
            <a:prstDash val="solid"/>
          </a:ln>
        </p:spPr>
      </p:sp>
      <p:sp>
        <p:nvSpPr>
          <p:cNvPr id="44" name="coding level"/>
          <p:cNvSpPr/>
          <p:nvPr/>
        </p:nvSpPr>
        <p:spPr>
          <a:xfrm>
            <a:off x="7607808" y="3977640"/>
            <a:ext cx="256032" cy="219456"/>
          </a:xfrm>
          <a:prstGeom prst="roundRect">
            <a:avLst>
              <a:gd name="adj" fmla="val 20833"/>
            </a:avLst>
          </a:prstGeom>
          <a:solidFill>
            <a:schemeClr val="accent1"/>
          </a:solidFill>
          <a:ln w="12700">
            <a:solidFill>
              <a:schemeClr val="tx2"/>
            </a:solidFill>
            <a:prstDash val="solid"/>
          </a:ln>
        </p:spPr>
      </p:sp>
      <p:sp>
        <p:nvSpPr>
          <p:cNvPr id="45" name="coding level"/>
          <p:cNvSpPr/>
          <p:nvPr/>
        </p:nvSpPr>
        <p:spPr>
          <a:xfrm>
            <a:off x="7918704" y="3977640"/>
            <a:ext cx="256032" cy="219456"/>
          </a:xfrm>
          <a:prstGeom prst="roundRect">
            <a:avLst>
              <a:gd name="adj" fmla="val 20833"/>
            </a:avLst>
          </a:prstGeom>
          <a:solidFill>
            <a:schemeClr val="accent1"/>
          </a:solidFill>
          <a:ln w="12700">
            <a:solidFill>
              <a:schemeClr val="tx2"/>
            </a:solidFill>
            <a:prstDash val="solid"/>
          </a:ln>
        </p:spPr>
      </p:sp>
      <p:sp>
        <p:nvSpPr>
          <p:cNvPr id="46" name="coding level"/>
          <p:cNvSpPr/>
          <p:nvPr/>
        </p:nvSpPr>
        <p:spPr>
          <a:xfrm>
            <a:off x="8229600" y="3977640"/>
            <a:ext cx="256032" cy="219456"/>
          </a:xfrm>
          <a:prstGeom prst="roundRect">
            <a:avLst>
              <a:gd name="adj" fmla="val 20833"/>
            </a:avLst>
          </a:prstGeom>
          <a:solidFill>
            <a:schemeClr val="bg1"/>
          </a:solidFill>
          <a:ln w="9525">
            <a:solidFill>
              <a:schemeClr val="tx2"/>
            </a:solidFill>
            <a:prstDash val="solid"/>
          </a:ln>
        </p:spPr>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7-stage roadmap</a:t>
            </a:r>
            <a:endParaRPr lang="en-US" sz="3400" dirty="0"/>
          </a:p>
        </p:txBody>
      </p:sp>
      <p:sp>
        <p:nvSpPr>
          <p:cNvPr id="3" name="stair 1"/>
          <p:cNvSpPr/>
          <p:nvPr/>
        </p:nvSpPr>
        <p:spPr>
          <a:xfrm>
            <a:off x="457200" y="3703320"/>
            <a:ext cx="1097280" cy="914400"/>
          </a:xfrm>
          <a:prstGeom prst="roundRect">
            <a:avLst>
              <a:gd name="adj" fmla="val 10000"/>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457200" y="3776472"/>
            <a:ext cx="1097280" cy="3657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502920" y="4160520"/>
            <a:ext cx="1005840" cy="457200"/>
          </a:xfrm>
          <a:prstGeom prst="rect">
            <a:avLst/>
          </a:prstGeom>
          <a:noFill/>
          <a:ln/>
        </p:spPr>
        <p:txBody>
          <a:bodyPr wrap="square" lIns="0" tIns="0" rIns="0" bIns="0" rtlCol="0" anchor="t"/>
          <a:lstStyle/>
          <a:p>
            <a:pPr algn="ctr" indent="0" marL="0">
              <a:buNone/>
            </a:pPr>
            <a:r>
              <a:rPr lang="en-US" sz="1200" b="1" dirty="0">
                <a:solidFill>
                  <a:schemeClr val="bg1"/>
                </a:solidFill>
              </a:rPr>
              <a:t>Foundations</a:t>
            </a:r>
            <a:endParaRPr lang="en-US" sz="1200" dirty="0"/>
          </a:p>
        </p:txBody>
      </p:sp>
      <p:sp>
        <p:nvSpPr>
          <p:cNvPr id="6" name="stair 2"/>
          <p:cNvSpPr/>
          <p:nvPr/>
        </p:nvSpPr>
        <p:spPr>
          <a:xfrm>
            <a:off x="1636776" y="3337560"/>
            <a:ext cx="1097280" cy="1280160"/>
          </a:xfrm>
          <a:prstGeom prst="roundRect">
            <a:avLst>
              <a:gd name="adj" fmla="val 8333"/>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1636776" y="3410712"/>
            <a:ext cx="1097280" cy="3657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Text 6"/>
          <p:cNvSpPr txBox="1"/>
          <p:nvPr/>
        </p:nvSpPr>
        <p:spPr>
          <a:xfrm>
            <a:off x="1682496" y="3794760"/>
            <a:ext cx="1005840" cy="457200"/>
          </a:xfrm>
          <a:prstGeom prst="rect">
            <a:avLst/>
          </a:prstGeom>
          <a:noFill/>
          <a:ln/>
        </p:spPr>
        <p:txBody>
          <a:bodyPr wrap="square" lIns="0" tIns="0" rIns="0" bIns="0" rtlCol="0" anchor="t"/>
          <a:lstStyle/>
          <a:p>
            <a:pPr algn="ctr" indent="0" marL="0">
              <a:buNone/>
            </a:pPr>
            <a:r>
              <a:rPr lang="en-US" sz="1200" b="1" dirty="0">
                <a:solidFill>
                  <a:schemeClr val="bg1"/>
                </a:solidFill>
              </a:rPr>
              <a:t>Cloud &amp; Systems</a:t>
            </a:r>
            <a:endParaRPr lang="en-US" sz="1200" dirty="0"/>
          </a:p>
        </p:txBody>
      </p:sp>
      <p:sp>
        <p:nvSpPr>
          <p:cNvPr id="9" name="stair 3"/>
          <p:cNvSpPr/>
          <p:nvPr/>
        </p:nvSpPr>
        <p:spPr>
          <a:xfrm>
            <a:off x="2816352" y="2971800"/>
            <a:ext cx="1097280" cy="1645920"/>
          </a:xfrm>
          <a:prstGeom prst="roundRect">
            <a:avLst>
              <a:gd name="adj" fmla="val 8333"/>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2816352" y="3044952"/>
            <a:ext cx="1097280" cy="3657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Text 9"/>
          <p:cNvSpPr txBox="1"/>
          <p:nvPr/>
        </p:nvSpPr>
        <p:spPr>
          <a:xfrm>
            <a:off x="2862072" y="3429000"/>
            <a:ext cx="1005840" cy="457200"/>
          </a:xfrm>
          <a:prstGeom prst="rect">
            <a:avLst/>
          </a:prstGeom>
          <a:noFill/>
          <a:ln/>
        </p:spPr>
        <p:txBody>
          <a:bodyPr wrap="square" lIns="0" tIns="0" rIns="0" bIns="0" rtlCol="0" anchor="t"/>
          <a:lstStyle/>
          <a:p>
            <a:pPr algn="ctr" indent="0" marL="0">
              <a:buNone/>
            </a:pPr>
            <a:r>
              <a:rPr lang="en-US" sz="1200" b="1" dirty="0">
                <a:solidFill>
                  <a:schemeClr val="bg1"/>
                </a:solidFill>
              </a:rPr>
              <a:t>Data &amp; Integration</a:t>
            </a:r>
            <a:endParaRPr lang="en-US" sz="1200" dirty="0"/>
          </a:p>
        </p:txBody>
      </p:sp>
      <p:sp>
        <p:nvSpPr>
          <p:cNvPr id="12" name="stair 4"/>
          <p:cNvSpPr/>
          <p:nvPr/>
        </p:nvSpPr>
        <p:spPr>
          <a:xfrm>
            <a:off x="3995928" y="2606040"/>
            <a:ext cx="1097280" cy="2011680"/>
          </a:xfrm>
          <a:prstGeom prst="roundRect">
            <a:avLst>
              <a:gd name="adj" fmla="val 8333"/>
            </a:avLst>
          </a:prstGeom>
          <a:solidFill>
            <a:schemeClr val="accent4"/>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3995928" y="2679192"/>
            <a:ext cx="1097280" cy="3657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4" name="Text 12"/>
          <p:cNvSpPr txBox="1"/>
          <p:nvPr/>
        </p:nvSpPr>
        <p:spPr>
          <a:xfrm>
            <a:off x="4041648" y="3063240"/>
            <a:ext cx="1005840" cy="457200"/>
          </a:xfrm>
          <a:prstGeom prst="rect">
            <a:avLst/>
          </a:prstGeom>
          <a:noFill/>
          <a:ln/>
        </p:spPr>
        <p:txBody>
          <a:bodyPr wrap="square" lIns="0" tIns="0" rIns="0" bIns="0" rtlCol="0" anchor="t"/>
          <a:lstStyle/>
          <a:p>
            <a:pPr algn="ctr" indent="0" marL="0">
              <a:buNone/>
            </a:pPr>
            <a:r>
              <a:rPr lang="en-US" sz="1200" b="1" dirty="0">
                <a:solidFill>
                  <a:schemeClr val="bg1"/>
                </a:solidFill>
              </a:rPr>
              <a:t>AI Engineering</a:t>
            </a:r>
            <a:endParaRPr lang="en-US" sz="1200" dirty="0"/>
          </a:p>
        </p:txBody>
      </p:sp>
      <p:sp>
        <p:nvSpPr>
          <p:cNvPr id="15" name="stair 5"/>
          <p:cNvSpPr/>
          <p:nvPr/>
        </p:nvSpPr>
        <p:spPr>
          <a:xfrm>
            <a:off x="5175504" y="2240280"/>
            <a:ext cx="1097280" cy="2377440"/>
          </a:xfrm>
          <a:prstGeom prst="roundRect">
            <a:avLst>
              <a:gd name="adj" fmla="val 8333"/>
            </a:avLst>
          </a:prstGeom>
          <a:solidFill>
            <a:schemeClr val="accent4"/>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5175504" y="2313432"/>
            <a:ext cx="1097280" cy="36576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17" name="Text 15"/>
          <p:cNvSpPr txBox="1"/>
          <p:nvPr/>
        </p:nvSpPr>
        <p:spPr>
          <a:xfrm>
            <a:off x="5221224" y="2697480"/>
            <a:ext cx="1005840" cy="457200"/>
          </a:xfrm>
          <a:prstGeom prst="rect">
            <a:avLst/>
          </a:prstGeom>
          <a:noFill/>
          <a:ln/>
        </p:spPr>
        <p:txBody>
          <a:bodyPr wrap="square" lIns="0" tIns="0" rIns="0" bIns="0" rtlCol="0" anchor="t"/>
          <a:lstStyle/>
          <a:p>
            <a:pPr algn="ctr" indent="0" marL="0">
              <a:buNone/>
            </a:pPr>
            <a:r>
              <a:rPr lang="en-US" sz="1200" b="1" dirty="0">
                <a:solidFill>
                  <a:schemeClr val="bg1"/>
                </a:solidFill>
              </a:rPr>
              <a:t>Agentic AI</a:t>
            </a:r>
            <a:endParaRPr lang="en-US" sz="1200" dirty="0"/>
          </a:p>
        </p:txBody>
      </p:sp>
      <p:sp>
        <p:nvSpPr>
          <p:cNvPr id="18" name="stair 6"/>
          <p:cNvSpPr/>
          <p:nvPr/>
        </p:nvSpPr>
        <p:spPr>
          <a:xfrm>
            <a:off x="6355080" y="1874520"/>
            <a:ext cx="1097280" cy="2743200"/>
          </a:xfrm>
          <a:prstGeom prst="roundRect">
            <a:avLst>
              <a:gd name="adj" fmla="val 8333"/>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6355080" y="1947672"/>
            <a:ext cx="1097280" cy="365760"/>
          </a:xfrm>
          <a:prstGeom prst="rect">
            <a:avLst/>
          </a:prstGeom>
          <a:noFill/>
          <a:ln/>
        </p:spPr>
        <p:txBody>
          <a:bodyPr wrap="square" lIns="0" tIns="0" rIns="0" bIns="0" rtlCol="0" anchor="ctr"/>
          <a:lstStyle/>
          <a:p>
            <a:pPr algn="ctr" indent="0" marL="0">
              <a:buNone/>
            </a:pPr>
            <a:r>
              <a:rPr lang="en-US" sz="2400" b="1" dirty="0">
                <a:solidFill>
                  <a:schemeClr val="tx1"/>
                </a:solidFill>
              </a:rPr>
              <a:t>6</a:t>
            </a:r>
            <a:endParaRPr lang="en-US" sz="2400" dirty="0"/>
          </a:p>
        </p:txBody>
      </p:sp>
      <p:sp>
        <p:nvSpPr>
          <p:cNvPr id="20" name="Text 18"/>
          <p:cNvSpPr txBox="1"/>
          <p:nvPr/>
        </p:nvSpPr>
        <p:spPr>
          <a:xfrm>
            <a:off x="6400800" y="2331720"/>
            <a:ext cx="1005840" cy="457200"/>
          </a:xfrm>
          <a:prstGeom prst="rect">
            <a:avLst/>
          </a:prstGeom>
          <a:noFill/>
          <a:ln/>
        </p:spPr>
        <p:txBody>
          <a:bodyPr wrap="square" lIns="0" tIns="0" rIns="0" bIns="0" rtlCol="0" anchor="t"/>
          <a:lstStyle/>
          <a:p>
            <a:pPr algn="ctr" indent="0" marL="0">
              <a:buNone/>
            </a:pPr>
            <a:r>
              <a:rPr lang="en-US" sz="1200" b="1" dirty="0">
                <a:solidFill>
                  <a:schemeClr val="tx1"/>
                </a:solidFill>
              </a:rPr>
              <a:t>Enterprise Delivery</a:t>
            </a:r>
            <a:endParaRPr lang="en-US" sz="1200" dirty="0"/>
          </a:p>
        </p:txBody>
      </p:sp>
      <p:sp>
        <p:nvSpPr>
          <p:cNvPr id="21" name="stair 7"/>
          <p:cNvSpPr/>
          <p:nvPr/>
        </p:nvSpPr>
        <p:spPr>
          <a:xfrm>
            <a:off x="7534656" y="1508760"/>
            <a:ext cx="1097280" cy="3108960"/>
          </a:xfrm>
          <a:prstGeom prst="roundRect">
            <a:avLst>
              <a:gd name="adj" fmla="val 8333"/>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22" name="Text 20"/>
          <p:cNvSpPr txBox="1"/>
          <p:nvPr/>
        </p:nvSpPr>
        <p:spPr>
          <a:xfrm>
            <a:off x="7534656" y="1581912"/>
            <a:ext cx="1097280" cy="365760"/>
          </a:xfrm>
          <a:prstGeom prst="rect">
            <a:avLst/>
          </a:prstGeom>
          <a:noFill/>
          <a:ln/>
        </p:spPr>
        <p:txBody>
          <a:bodyPr wrap="square" lIns="0" tIns="0" rIns="0" bIns="0" rtlCol="0" anchor="ctr"/>
          <a:lstStyle/>
          <a:p>
            <a:pPr algn="ctr" indent="0" marL="0">
              <a:buNone/>
            </a:pPr>
            <a:r>
              <a:rPr lang="en-US" sz="2400" b="1" dirty="0">
                <a:solidFill>
                  <a:schemeClr val="tx1"/>
                </a:solidFill>
              </a:rPr>
              <a:t>7</a:t>
            </a:r>
            <a:endParaRPr lang="en-US" sz="2400" dirty="0"/>
          </a:p>
        </p:txBody>
      </p:sp>
      <p:sp>
        <p:nvSpPr>
          <p:cNvPr id="23" name="Text 21"/>
          <p:cNvSpPr txBox="1"/>
          <p:nvPr/>
        </p:nvSpPr>
        <p:spPr>
          <a:xfrm>
            <a:off x="7580376" y="1965960"/>
            <a:ext cx="1005840" cy="457200"/>
          </a:xfrm>
          <a:prstGeom prst="rect">
            <a:avLst/>
          </a:prstGeom>
          <a:noFill/>
          <a:ln/>
        </p:spPr>
        <p:txBody>
          <a:bodyPr wrap="square" lIns="0" tIns="0" rIns="0" bIns="0" rtlCol="0" anchor="t"/>
          <a:lstStyle/>
          <a:p>
            <a:pPr algn="ctr" indent="0" marL="0">
              <a:buNone/>
            </a:pPr>
            <a:r>
              <a:rPr lang="en-US" sz="1200" b="1" dirty="0">
                <a:solidFill>
                  <a:schemeClr val="tx1"/>
                </a:solidFill>
              </a:rPr>
              <a:t>Customer Leadership</a:t>
            </a:r>
            <a:endParaRPr lang="en-US" sz="1200" dirty="0"/>
          </a:p>
        </p:txBody>
      </p:sp>
      <p:sp>
        <p:nvSpPr>
          <p:cNvPr id="24" name="goal flag"/>
          <p:cNvSpPr/>
          <p:nvPr/>
        </p:nvSpPr>
        <p:spPr>
          <a:xfrm>
            <a:off x="7808976" y="941832"/>
            <a:ext cx="502920" cy="502920"/>
          </a:xfrm>
          <a:prstGeom prst="ellipse">
            <a:avLst/>
          </a:prstGeom>
          <a:solidFill>
            <a:schemeClr val="tx1"/>
          </a:solidFill>
          <a:ln w="12700">
            <a:solidFill>
              <a:schemeClr val="tx1"/>
            </a:solidFill>
            <a:prstDash val="solid"/>
          </a:ln>
        </p:spPr>
      </p:sp>
      <p:pic>
        <p:nvPicPr>
          <p:cNvPr id="25" name="Image 0" descr="icon">    </p:cNvPr>
          <p:cNvPicPr>
            <a:picLocks noChangeAspect="1"/>
          </p:cNvPicPr>
          <p:nvPr/>
        </p:nvPicPr>
        <p:blipFill>
          <a:blip r:embed="rId1"/>
          <a:stretch>
            <a:fillRect/>
          </a:stretch>
        </p:blipFill>
        <p:spPr>
          <a:xfrm>
            <a:off x="7934706" y="1067562"/>
            <a:ext cx="251460" cy="251460"/>
          </a:xfrm>
          <a:prstGeom prst="rect">
            <a:avLst/>
          </a:prstGeom>
        </p:spPr>
      </p:pic>
      <p:sp>
        <p:nvSpPr>
          <p:cNvPr id="26" name="legend dot"/>
          <p:cNvSpPr/>
          <p:nvPr/>
        </p:nvSpPr>
        <p:spPr>
          <a:xfrm>
            <a:off x="457200" y="1280160"/>
            <a:ext cx="182880" cy="182880"/>
          </a:xfrm>
          <a:prstGeom prst="ellipse">
            <a:avLst/>
          </a:prstGeom>
          <a:solidFill>
            <a:schemeClr val="accent1"/>
          </a:solidFill>
          <a:ln w="12700">
            <a:solidFill>
              <a:schemeClr val="accent1"/>
            </a:solidFill>
            <a:prstDash val="solid"/>
          </a:ln>
        </p:spPr>
      </p:sp>
      <p:sp>
        <p:nvSpPr>
          <p:cNvPr id="27" name="Text 24"/>
          <p:cNvSpPr txBox="1"/>
          <p:nvPr/>
        </p:nvSpPr>
        <p:spPr>
          <a:xfrm>
            <a:off x="731520" y="1234440"/>
            <a:ext cx="822960" cy="274320"/>
          </a:xfrm>
          <a:prstGeom prst="rect">
            <a:avLst/>
          </a:prstGeom>
          <a:noFill/>
          <a:ln/>
        </p:spPr>
        <p:txBody>
          <a:bodyPr wrap="square" lIns="0" tIns="0" rIns="0" bIns="0" rtlCol="0" anchor="ctr"/>
          <a:lstStyle/>
          <a:p>
            <a:pPr indent="0" marL="0">
              <a:buNone/>
            </a:pPr>
            <a:r>
              <a:rPr lang="en-US" sz="1400" dirty="0">
                <a:solidFill>
                  <a:schemeClr val="tx1"/>
                </a:solidFill>
              </a:rPr>
              <a:t>Build</a:t>
            </a:r>
            <a:endParaRPr lang="en-US" sz="1400" dirty="0"/>
          </a:p>
        </p:txBody>
      </p:sp>
      <p:sp>
        <p:nvSpPr>
          <p:cNvPr id="28" name="legend dot"/>
          <p:cNvSpPr/>
          <p:nvPr/>
        </p:nvSpPr>
        <p:spPr>
          <a:xfrm>
            <a:off x="1645920" y="1280160"/>
            <a:ext cx="182880" cy="182880"/>
          </a:xfrm>
          <a:prstGeom prst="ellipse">
            <a:avLst/>
          </a:prstGeom>
          <a:solidFill>
            <a:schemeClr val="accent4"/>
          </a:solidFill>
          <a:ln w="12700">
            <a:solidFill>
              <a:schemeClr val="accent4"/>
            </a:solidFill>
            <a:prstDash val="solid"/>
          </a:ln>
        </p:spPr>
      </p:sp>
      <p:sp>
        <p:nvSpPr>
          <p:cNvPr id="29" name="Text 26"/>
          <p:cNvSpPr txBox="1"/>
          <p:nvPr/>
        </p:nvSpPr>
        <p:spPr>
          <a:xfrm>
            <a:off x="1920240" y="1234440"/>
            <a:ext cx="822960" cy="274320"/>
          </a:xfrm>
          <a:prstGeom prst="rect">
            <a:avLst/>
          </a:prstGeom>
          <a:noFill/>
          <a:ln/>
        </p:spPr>
        <p:txBody>
          <a:bodyPr wrap="square" lIns="0" tIns="0" rIns="0" bIns="0" rtlCol="0" anchor="ctr"/>
          <a:lstStyle/>
          <a:p>
            <a:pPr indent="0" marL="0">
              <a:buNone/>
            </a:pPr>
            <a:r>
              <a:rPr lang="en-US" sz="1400" dirty="0">
                <a:solidFill>
                  <a:schemeClr val="tx1"/>
                </a:solidFill>
              </a:rPr>
              <a:t>AI</a:t>
            </a:r>
            <a:endParaRPr lang="en-US" sz="1400" dirty="0"/>
          </a:p>
        </p:txBody>
      </p:sp>
      <p:sp>
        <p:nvSpPr>
          <p:cNvPr id="30" name="legend dot"/>
          <p:cNvSpPr/>
          <p:nvPr/>
        </p:nvSpPr>
        <p:spPr>
          <a:xfrm>
            <a:off x="2834640" y="1280160"/>
            <a:ext cx="182880" cy="182880"/>
          </a:xfrm>
          <a:prstGeom prst="ellipse">
            <a:avLst/>
          </a:prstGeom>
          <a:solidFill>
            <a:schemeClr val="accent2"/>
          </a:solidFill>
          <a:ln w="12700">
            <a:solidFill>
              <a:schemeClr val="accent2"/>
            </a:solidFill>
            <a:prstDash val="solid"/>
          </a:ln>
        </p:spPr>
      </p:sp>
      <p:sp>
        <p:nvSpPr>
          <p:cNvPr id="31" name="Text 28"/>
          <p:cNvSpPr txBox="1"/>
          <p:nvPr/>
        </p:nvSpPr>
        <p:spPr>
          <a:xfrm>
            <a:off x="3108960" y="1234440"/>
            <a:ext cx="822960" cy="274320"/>
          </a:xfrm>
          <a:prstGeom prst="rect">
            <a:avLst/>
          </a:prstGeom>
          <a:noFill/>
          <a:ln/>
        </p:spPr>
        <p:txBody>
          <a:bodyPr wrap="square" lIns="0" tIns="0" rIns="0" bIns="0" rtlCol="0" anchor="ctr"/>
          <a:lstStyle/>
          <a:p>
            <a:pPr indent="0" marL="0">
              <a:buNone/>
            </a:pPr>
            <a:r>
              <a:rPr lang="en-US" sz="1400" dirty="0">
                <a:solidFill>
                  <a:schemeClr val="tx1"/>
                </a:solidFill>
              </a:rPr>
              <a:t>Deliver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Stages 1 and 2</a:t>
            </a:r>
            <a:endParaRPr lang="en-US" sz="3400" dirty="0"/>
          </a:p>
        </p:txBody>
      </p:sp>
      <p:sp>
        <p:nvSpPr>
          <p:cNvPr id="3" name="card"/>
          <p:cNvSpPr/>
          <p:nvPr/>
        </p:nvSpPr>
        <p:spPr>
          <a:xfrm>
            <a:off x="45720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tage icon"/>
          <p:cNvSpPr/>
          <p:nvPr/>
        </p:nvSpPr>
        <p:spPr>
          <a:xfrm>
            <a:off x="685800" y="1463040"/>
            <a:ext cx="685800" cy="6858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57250" y="1634490"/>
            <a:ext cx="342900" cy="342900"/>
          </a:xfrm>
          <a:prstGeom prst="rect">
            <a:avLst/>
          </a:prstGeom>
        </p:spPr>
      </p:pic>
      <p:sp>
        <p:nvSpPr>
          <p:cNvPr id="6" name="Text 3"/>
          <p:cNvSpPr txBox="1"/>
          <p:nvPr/>
        </p:nvSpPr>
        <p:spPr>
          <a:xfrm>
            <a:off x="150876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1</a:t>
            </a:r>
            <a:endParaRPr lang="en-US" sz="1200" dirty="0"/>
          </a:p>
        </p:txBody>
      </p:sp>
      <p:sp>
        <p:nvSpPr>
          <p:cNvPr id="7" name="Text 4"/>
          <p:cNvSpPr txBox="1"/>
          <p:nvPr/>
        </p:nvSpPr>
        <p:spPr>
          <a:xfrm>
            <a:off x="150876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Foundations</a:t>
            </a:r>
            <a:endParaRPr lang="en-US" sz="2200" dirty="0"/>
          </a:p>
        </p:txBody>
      </p:sp>
      <p:sp>
        <p:nvSpPr>
          <p:cNvPr id="8" name="Text 5"/>
          <p:cNvSpPr txBox="1"/>
          <p:nvPr/>
        </p:nvSpPr>
        <p:spPr>
          <a:xfrm>
            <a:off x="68580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9" name="Text 6"/>
          <p:cNvSpPr txBox="1"/>
          <p:nvPr/>
        </p:nvSpPr>
        <p:spPr>
          <a:xfrm>
            <a:off x="68580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Python or TypeScript, Git, Linux, HTTP and APIs, SQL</a:t>
            </a:r>
            <a:endParaRPr lang="en-US" sz="1400" dirty="0"/>
          </a:p>
        </p:txBody>
      </p:sp>
      <p:sp>
        <p:nvSpPr>
          <p:cNvPr id="10" name="outcome box"/>
          <p:cNvSpPr/>
          <p:nvPr/>
        </p:nvSpPr>
        <p:spPr>
          <a:xfrm>
            <a:off x="640080" y="3474720"/>
            <a:ext cx="3566160" cy="868680"/>
          </a:xfrm>
          <a:prstGeom prst="roundRect">
            <a:avLst>
              <a:gd name="adj" fmla="val 10526"/>
            </a:avLst>
          </a:prstGeom>
          <a:solidFill>
            <a:schemeClr val="bg1"/>
          </a:solidFill>
          <a:ln w="12700">
            <a:solidFill>
              <a:schemeClr val="bg1"/>
            </a:solidFill>
            <a:prstDash val="solid"/>
          </a:ln>
        </p:spPr>
      </p:sp>
      <p:sp>
        <p:nvSpPr>
          <p:cNvPr id="11" name="Text 8"/>
          <p:cNvSpPr txBox="1"/>
          <p:nvPr/>
        </p:nvSpPr>
        <p:spPr>
          <a:xfrm>
            <a:off x="77724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12" name="Text 9"/>
          <p:cNvSpPr txBox="1"/>
          <p:nvPr/>
        </p:nvSpPr>
        <p:spPr>
          <a:xfrm>
            <a:off x="77724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Build apps, debug issues, work with APIs and databases</a:t>
            </a:r>
            <a:endParaRPr lang="en-US" sz="1400" dirty="0"/>
          </a:p>
        </p:txBody>
      </p:sp>
      <p:sp>
        <p:nvSpPr>
          <p:cNvPr id="13" name="card"/>
          <p:cNvSpPr/>
          <p:nvPr/>
        </p:nvSpPr>
        <p:spPr>
          <a:xfrm>
            <a:off x="475488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tage icon"/>
          <p:cNvSpPr/>
          <p:nvPr/>
        </p:nvSpPr>
        <p:spPr>
          <a:xfrm>
            <a:off x="4983480" y="1463040"/>
            <a:ext cx="685800" cy="685800"/>
          </a:xfrm>
          <a:prstGeom prst="ellipse">
            <a:avLst/>
          </a:prstGeom>
          <a:solidFill>
            <a:schemeClr val="accent1"/>
          </a:solidFill>
          <a:ln w="12700">
            <a:solidFill>
              <a:schemeClr val="accent1"/>
            </a:solidFill>
            <a:prstDash val="solid"/>
          </a:ln>
        </p:spPr>
      </p:sp>
      <p:pic>
        <p:nvPicPr>
          <p:cNvPr id="15" name="Image 1" descr="icon">    </p:cNvPr>
          <p:cNvPicPr>
            <a:picLocks noChangeAspect="1"/>
          </p:cNvPicPr>
          <p:nvPr/>
        </p:nvPicPr>
        <p:blipFill>
          <a:blip r:embed="rId2"/>
          <a:stretch>
            <a:fillRect/>
          </a:stretch>
        </p:blipFill>
        <p:spPr>
          <a:xfrm>
            <a:off x="5154930" y="1634490"/>
            <a:ext cx="342900" cy="342900"/>
          </a:xfrm>
          <a:prstGeom prst="rect">
            <a:avLst/>
          </a:prstGeom>
        </p:spPr>
      </p:pic>
      <p:sp>
        <p:nvSpPr>
          <p:cNvPr id="16" name="Text 12"/>
          <p:cNvSpPr txBox="1"/>
          <p:nvPr/>
        </p:nvSpPr>
        <p:spPr>
          <a:xfrm>
            <a:off x="580644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2</a:t>
            </a:r>
            <a:endParaRPr lang="en-US" sz="1200" dirty="0"/>
          </a:p>
        </p:txBody>
      </p:sp>
      <p:sp>
        <p:nvSpPr>
          <p:cNvPr id="17" name="Text 13"/>
          <p:cNvSpPr txBox="1"/>
          <p:nvPr/>
        </p:nvSpPr>
        <p:spPr>
          <a:xfrm>
            <a:off x="580644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Cloud &amp; Systems</a:t>
            </a:r>
            <a:endParaRPr lang="en-US" sz="2200" dirty="0"/>
          </a:p>
        </p:txBody>
      </p:sp>
      <p:sp>
        <p:nvSpPr>
          <p:cNvPr id="18" name="Text 14"/>
          <p:cNvSpPr txBox="1"/>
          <p:nvPr/>
        </p:nvSpPr>
        <p:spPr>
          <a:xfrm>
            <a:off x="498348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19" name="Text 15"/>
          <p:cNvSpPr txBox="1"/>
          <p:nvPr/>
        </p:nvSpPr>
        <p:spPr>
          <a:xfrm>
            <a:off x="498348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AWS, Azure or GCP, Docker, Kubernetes, networking, CI/CD</a:t>
            </a:r>
            <a:endParaRPr lang="en-US" sz="1400" dirty="0"/>
          </a:p>
        </p:txBody>
      </p:sp>
      <p:sp>
        <p:nvSpPr>
          <p:cNvPr id="20" name="outcome box"/>
          <p:cNvSpPr/>
          <p:nvPr/>
        </p:nvSpPr>
        <p:spPr>
          <a:xfrm>
            <a:off x="4937760" y="3474720"/>
            <a:ext cx="3566160" cy="868680"/>
          </a:xfrm>
          <a:prstGeom prst="roundRect">
            <a:avLst>
              <a:gd name="adj" fmla="val 10526"/>
            </a:avLst>
          </a:prstGeom>
          <a:solidFill>
            <a:schemeClr val="bg1"/>
          </a:solidFill>
          <a:ln w="12700">
            <a:solidFill>
              <a:schemeClr val="bg1"/>
            </a:solidFill>
            <a:prstDash val="solid"/>
          </a:ln>
        </p:spPr>
      </p:sp>
      <p:sp>
        <p:nvSpPr>
          <p:cNvPr id="21" name="Text 17"/>
          <p:cNvSpPr txBox="1"/>
          <p:nvPr/>
        </p:nvSpPr>
        <p:spPr>
          <a:xfrm>
            <a:off x="507492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22" name="Text 18"/>
          <p:cNvSpPr txBox="1"/>
          <p:nvPr/>
        </p:nvSpPr>
        <p:spPr>
          <a:xfrm>
            <a:off x="507492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Deploy and operate applications reliably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Stages 3 and 4</a:t>
            </a:r>
            <a:endParaRPr lang="en-US" sz="3400" dirty="0"/>
          </a:p>
        </p:txBody>
      </p:sp>
      <p:sp>
        <p:nvSpPr>
          <p:cNvPr id="3" name="card"/>
          <p:cNvSpPr/>
          <p:nvPr/>
        </p:nvSpPr>
        <p:spPr>
          <a:xfrm>
            <a:off x="45720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tage icon"/>
          <p:cNvSpPr/>
          <p:nvPr/>
        </p:nvSpPr>
        <p:spPr>
          <a:xfrm>
            <a:off x="685800" y="1463040"/>
            <a:ext cx="685800" cy="6858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57250" y="1634490"/>
            <a:ext cx="342900" cy="342900"/>
          </a:xfrm>
          <a:prstGeom prst="rect">
            <a:avLst/>
          </a:prstGeom>
        </p:spPr>
      </p:pic>
      <p:sp>
        <p:nvSpPr>
          <p:cNvPr id="6" name="Text 3"/>
          <p:cNvSpPr txBox="1"/>
          <p:nvPr/>
        </p:nvSpPr>
        <p:spPr>
          <a:xfrm>
            <a:off x="150876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3</a:t>
            </a:r>
            <a:endParaRPr lang="en-US" sz="1200" dirty="0"/>
          </a:p>
        </p:txBody>
      </p:sp>
      <p:sp>
        <p:nvSpPr>
          <p:cNvPr id="7" name="Text 4"/>
          <p:cNvSpPr txBox="1"/>
          <p:nvPr/>
        </p:nvSpPr>
        <p:spPr>
          <a:xfrm>
            <a:off x="150876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Data &amp; Integration</a:t>
            </a:r>
            <a:endParaRPr lang="en-US" sz="2200" dirty="0"/>
          </a:p>
        </p:txBody>
      </p:sp>
      <p:sp>
        <p:nvSpPr>
          <p:cNvPr id="8" name="Text 5"/>
          <p:cNvSpPr txBox="1"/>
          <p:nvPr/>
        </p:nvSpPr>
        <p:spPr>
          <a:xfrm>
            <a:off x="68580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9" name="Text 6"/>
          <p:cNvSpPr txBox="1"/>
          <p:nvPr/>
        </p:nvSpPr>
        <p:spPr>
          <a:xfrm>
            <a:off x="68580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REST APIs, webhooks, OAuth, ETL, databases and warehouses</a:t>
            </a:r>
            <a:endParaRPr lang="en-US" sz="1400" dirty="0"/>
          </a:p>
        </p:txBody>
      </p:sp>
      <p:sp>
        <p:nvSpPr>
          <p:cNvPr id="10" name="outcome box"/>
          <p:cNvSpPr/>
          <p:nvPr/>
        </p:nvSpPr>
        <p:spPr>
          <a:xfrm>
            <a:off x="640080" y="3474720"/>
            <a:ext cx="3566160" cy="868680"/>
          </a:xfrm>
          <a:prstGeom prst="roundRect">
            <a:avLst>
              <a:gd name="adj" fmla="val 10526"/>
            </a:avLst>
          </a:prstGeom>
          <a:solidFill>
            <a:schemeClr val="bg1"/>
          </a:solidFill>
          <a:ln w="12700">
            <a:solidFill>
              <a:schemeClr val="bg1"/>
            </a:solidFill>
            <a:prstDash val="solid"/>
          </a:ln>
        </p:spPr>
      </p:sp>
      <p:sp>
        <p:nvSpPr>
          <p:cNvPr id="11" name="Text 8"/>
          <p:cNvSpPr txBox="1"/>
          <p:nvPr/>
        </p:nvSpPr>
        <p:spPr>
          <a:xfrm>
            <a:off x="77724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12" name="Text 9"/>
          <p:cNvSpPr txBox="1"/>
          <p:nvPr/>
        </p:nvSpPr>
        <p:spPr>
          <a:xfrm>
            <a:off x="77724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Connect enterprise systems and move data securely</a:t>
            </a:r>
            <a:endParaRPr lang="en-US" sz="1400" dirty="0"/>
          </a:p>
        </p:txBody>
      </p:sp>
      <p:sp>
        <p:nvSpPr>
          <p:cNvPr id="13" name="card"/>
          <p:cNvSpPr/>
          <p:nvPr/>
        </p:nvSpPr>
        <p:spPr>
          <a:xfrm>
            <a:off x="475488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tage icon"/>
          <p:cNvSpPr/>
          <p:nvPr/>
        </p:nvSpPr>
        <p:spPr>
          <a:xfrm>
            <a:off x="4983480" y="1463040"/>
            <a:ext cx="685800" cy="685800"/>
          </a:xfrm>
          <a:prstGeom prst="ellipse">
            <a:avLst/>
          </a:prstGeom>
          <a:solidFill>
            <a:schemeClr val="accent4"/>
          </a:solidFill>
          <a:ln w="12700">
            <a:solidFill>
              <a:schemeClr val="accent4"/>
            </a:solidFill>
            <a:prstDash val="solid"/>
          </a:ln>
        </p:spPr>
      </p:sp>
      <p:pic>
        <p:nvPicPr>
          <p:cNvPr id="15" name="Image 1" descr="icon">    </p:cNvPr>
          <p:cNvPicPr>
            <a:picLocks noChangeAspect="1"/>
          </p:cNvPicPr>
          <p:nvPr/>
        </p:nvPicPr>
        <p:blipFill>
          <a:blip r:embed="rId2"/>
          <a:stretch>
            <a:fillRect/>
          </a:stretch>
        </p:blipFill>
        <p:spPr>
          <a:xfrm>
            <a:off x="5154930" y="1634490"/>
            <a:ext cx="342900" cy="342900"/>
          </a:xfrm>
          <a:prstGeom prst="rect">
            <a:avLst/>
          </a:prstGeom>
        </p:spPr>
      </p:pic>
      <p:sp>
        <p:nvSpPr>
          <p:cNvPr id="16" name="Text 12"/>
          <p:cNvSpPr txBox="1"/>
          <p:nvPr/>
        </p:nvSpPr>
        <p:spPr>
          <a:xfrm>
            <a:off x="580644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4</a:t>
            </a:r>
            <a:endParaRPr lang="en-US" sz="1200" dirty="0"/>
          </a:p>
        </p:txBody>
      </p:sp>
      <p:sp>
        <p:nvSpPr>
          <p:cNvPr id="17" name="Text 13"/>
          <p:cNvSpPr txBox="1"/>
          <p:nvPr/>
        </p:nvSpPr>
        <p:spPr>
          <a:xfrm>
            <a:off x="580644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AI Engineering</a:t>
            </a:r>
            <a:endParaRPr lang="en-US" sz="2200" dirty="0"/>
          </a:p>
        </p:txBody>
      </p:sp>
      <p:sp>
        <p:nvSpPr>
          <p:cNvPr id="18" name="Text 14"/>
          <p:cNvSpPr txBox="1"/>
          <p:nvPr/>
        </p:nvSpPr>
        <p:spPr>
          <a:xfrm>
            <a:off x="498348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19" name="Text 15"/>
          <p:cNvSpPr txBox="1"/>
          <p:nvPr/>
        </p:nvSpPr>
        <p:spPr>
          <a:xfrm>
            <a:off x="498348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LLMs, embeddings, RAG, vector databases, evaluation</a:t>
            </a:r>
            <a:endParaRPr lang="en-US" sz="1400" dirty="0"/>
          </a:p>
        </p:txBody>
      </p:sp>
      <p:sp>
        <p:nvSpPr>
          <p:cNvPr id="20" name="outcome box"/>
          <p:cNvSpPr/>
          <p:nvPr/>
        </p:nvSpPr>
        <p:spPr>
          <a:xfrm>
            <a:off x="4937760" y="3474720"/>
            <a:ext cx="3566160" cy="868680"/>
          </a:xfrm>
          <a:prstGeom prst="roundRect">
            <a:avLst>
              <a:gd name="adj" fmla="val 10526"/>
            </a:avLst>
          </a:prstGeom>
          <a:solidFill>
            <a:schemeClr val="bg1"/>
          </a:solidFill>
          <a:ln w="12700">
            <a:solidFill>
              <a:schemeClr val="bg1"/>
            </a:solidFill>
            <a:prstDash val="solid"/>
          </a:ln>
        </p:spPr>
      </p:sp>
      <p:sp>
        <p:nvSpPr>
          <p:cNvPr id="21" name="Text 17"/>
          <p:cNvSpPr txBox="1"/>
          <p:nvPr/>
        </p:nvSpPr>
        <p:spPr>
          <a:xfrm>
            <a:off x="507492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22" name="Text 18"/>
          <p:cNvSpPr txBox="1"/>
          <p:nvPr/>
        </p:nvSpPr>
        <p:spPr>
          <a:xfrm>
            <a:off x="507492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Build reliable AI apps around live business data</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Stages 5 and 6</a:t>
            </a:r>
            <a:endParaRPr lang="en-US" sz="3400" dirty="0"/>
          </a:p>
        </p:txBody>
      </p:sp>
      <p:sp>
        <p:nvSpPr>
          <p:cNvPr id="3" name="card"/>
          <p:cNvSpPr/>
          <p:nvPr/>
        </p:nvSpPr>
        <p:spPr>
          <a:xfrm>
            <a:off x="45720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tage icon"/>
          <p:cNvSpPr/>
          <p:nvPr/>
        </p:nvSpPr>
        <p:spPr>
          <a:xfrm>
            <a:off x="685800" y="1463040"/>
            <a:ext cx="685800" cy="685800"/>
          </a:xfrm>
          <a:prstGeom prst="ellipse">
            <a:avLst/>
          </a:prstGeom>
          <a:solidFill>
            <a:schemeClr val="accent4"/>
          </a:solidFill>
          <a:ln w="12700">
            <a:solidFill>
              <a:schemeClr val="accent4"/>
            </a:solidFill>
            <a:prstDash val="solid"/>
          </a:ln>
        </p:spPr>
      </p:sp>
      <p:pic>
        <p:nvPicPr>
          <p:cNvPr id="5" name="Image 0" descr="icon">    </p:cNvPr>
          <p:cNvPicPr>
            <a:picLocks noChangeAspect="1"/>
          </p:cNvPicPr>
          <p:nvPr/>
        </p:nvPicPr>
        <p:blipFill>
          <a:blip r:embed="rId1"/>
          <a:stretch>
            <a:fillRect/>
          </a:stretch>
        </p:blipFill>
        <p:spPr>
          <a:xfrm>
            <a:off x="857250" y="1634490"/>
            <a:ext cx="342900" cy="342900"/>
          </a:xfrm>
          <a:prstGeom prst="rect">
            <a:avLst/>
          </a:prstGeom>
        </p:spPr>
      </p:pic>
      <p:sp>
        <p:nvSpPr>
          <p:cNvPr id="6" name="Text 3"/>
          <p:cNvSpPr txBox="1"/>
          <p:nvPr/>
        </p:nvSpPr>
        <p:spPr>
          <a:xfrm>
            <a:off x="150876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5</a:t>
            </a:r>
            <a:endParaRPr lang="en-US" sz="1200" dirty="0"/>
          </a:p>
        </p:txBody>
      </p:sp>
      <p:sp>
        <p:nvSpPr>
          <p:cNvPr id="7" name="Text 4"/>
          <p:cNvSpPr txBox="1"/>
          <p:nvPr/>
        </p:nvSpPr>
        <p:spPr>
          <a:xfrm>
            <a:off x="150876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Agentic AI</a:t>
            </a:r>
            <a:endParaRPr lang="en-US" sz="2200" dirty="0"/>
          </a:p>
        </p:txBody>
      </p:sp>
      <p:sp>
        <p:nvSpPr>
          <p:cNvPr id="8" name="Text 5"/>
          <p:cNvSpPr txBox="1"/>
          <p:nvPr/>
        </p:nvSpPr>
        <p:spPr>
          <a:xfrm>
            <a:off x="68580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9" name="Text 6"/>
          <p:cNvSpPr txBox="1"/>
          <p:nvPr/>
        </p:nvSpPr>
        <p:spPr>
          <a:xfrm>
            <a:off x="68580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Agents, tools, memory, MCP, orchestration, guardrails</a:t>
            </a:r>
            <a:endParaRPr lang="en-US" sz="1400" dirty="0"/>
          </a:p>
        </p:txBody>
      </p:sp>
      <p:sp>
        <p:nvSpPr>
          <p:cNvPr id="10" name="outcome box"/>
          <p:cNvSpPr/>
          <p:nvPr/>
        </p:nvSpPr>
        <p:spPr>
          <a:xfrm>
            <a:off x="640080" y="3474720"/>
            <a:ext cx="3566160" cy="868680"/>
          </a:xfrm>
          <a:prstGeom prst="roundRect">
            <a:avLst>
              <a:gd name="adj" fmla="val 10526"/>
            </a:avLst>
          </a:prstGeom>
          <a:solidFill>
            <a:schemeClr val="bg1"/>
          </a:solidFill>
          <a:ln w="12700">
            <a:solidFill>
              <a:schemeClr val="bg1"/>
            </a:solidFill>
            <a:prstDash val="solid"/>
          </a:ln>
        </p:spPr>
      </p:sp>
      <p:sp>
        <p:nvSpPr>
          <p:cNvPr id="11" name="Text 8"/>
          <p:cNvSpPr txBox="1"/>
          <p:nvPr/>
        </p:nvSpPr>
        <p:spPr>
          <a:xfrm>
            <a:off x="77724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12" name="Text 9"/>
          <p:cNvSpPr txBox="1"/>
          <p:nvPr/>
        </p:nvSpPr>
        <p:spPr>
          <a:xfrm>
            <a:off x="77724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Build AI that can execute business workflows</a:t>
            </a:r>
            <a:endParaRPr lang="en-US" sz="1400" dirty="0"/>
          </a:p>
        </p:txBody>
      </p:sp>
      <p:sp>
        <p:nvSpPr>
          <p:cNvPr id="13" name="card"/>
          <p:cNvSpPr/>
          <p:nvPr/>
        </p:nvSpPr>
        <p:spPr>
          <a:xfrm>
            <a:off x="4754880" y="1280160"/>
            <a:ext cx="393192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tage icon"/>
          <p:cNvSpPr/>
          <p:nvPr/>
        </p:nvSpPr>
        <p:spPr>
          <a:xfrm>
            <a:off x="4983480" y="1463040"/>
            <a:ext cx="685800" cy="685800"/>
          </a:xfrm>
          <a:prstGeom prst="ellipse">
            <a:avLst/>
          </a:prstGeom>
          <a:solidFill>
            <a:schemeClr val="accent2"/>
          </a:solidFill>
          <a:ln w="12700">
            <a:solidFill>
              <a:schemeClr val="accent2"/>
            </a:solidFill>
            <a:prstDash val="solid"/>
          </a:ln>
        </p:spPr>
      </p:sp>
      <p:pic>
        <p:nvPicPr>
          <p:cNvPr id="15" name="Image 1" descr="icon">    </p:cNvPr>
          <p:cNvPicPr>
            <a:picLocks noChangeAspect="1"/>
          </p:cNvPicPr>
          <p:nvPr/>
        </p:nvPicPr>
        <p:blipFill>
          <a:blip r:embed="rId2"/>
          <a:stretch>
            <a:fillRect/>
          </a:stretch>
        </p:blipFill>
        <p:spPr>
          <a:xfrm>
            <a:off x="5154930" y="1634490"/>
            <a:ext cx="342900" cy="342900"/>
          </a:xfrm>
          <a:prstGeom prst="rect">
            <a:avLst/>
          </a:prstGeom>
        </p:spPr>
      </p:pic>
      <p:sp>
        <p:nvSpPr>
          <p:cNvPr id="16" name="Text 12"/>
          <p:cNvSpPr txBox="1"/>
          <p:nvPr/>
        </p:nvSpPr>
        <p:spPr>
          <a:xfrm>
            <a:off x="5806440" y="1481328"/>
            <a:ext cx="2743200" cy="274320"/>
          </a:xfrm>
          <a:prstGeom prst="rect">
            <a:avLst/>
          </a:prstGeom>
          <a:noFill/>
          <a:ln/>
        </p:spPr>
        <p:txBody>
          <a:bodyPr wrap="square" lIns="0" tIns="0" rIns="0" bIns="0" rtlCol="0" anchor="ctr"/>
          <a:lstStyle/>
          <a:p>
            <a:pPr indent="0" marL="0">
              <a:buNone/>
            </a:pPr>
            <a:r>
              <a:rPr lang="en-US" sz="1200" b="1" dirty="0">
                <a:solidFill>
                  <a:schemeClr val="accent1"/>
                </a:solidFill>
              </a:rPr>
              <a:t>STAGE 6</a:t>
            </a:r>
            <a:endParaRPr lang="en-US" sz="1200" dirty="0"/>
          </a:p>
        </p:txBody>
      </p:sp>
      <p:sp>
        <p:nvSpPr>
          <p:cNvPr id="17" name="Text 13"/>
          <p:cNvSpPr txBox="1"/>
          <p:nvPr/>
        </p:nvSpPr>
        <p:spPr>
          <a:xfrm>
            <a:off x="5806440" y="1755648"/>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Enterprise Delivery</a:t>
            </a:r>
            <a:endParaRPr lang="en-US" sz="2200" dirty="0"/>
          </a:p>
        </p:txBody>
      </p:sp>
      <p:sp>
        <p:nvSpPr>
          <p:cNvPr id="18" name="Text 14"/>
          <p:cNvSpPr txBox="1"/>
          <p:nvPr/>
        </p:nvSpPr>
        <p:spPr>
          <a:xfrm>
            <a:off x="4983480" y="2423160"/>
            <a:ext cx="3474720" cy="228600"/>
          </a:xfrm>
          <a:prstGeom prst="rect">
            <a:avLst/>
          </a:prstGeom>
          <a:noFill/>
          <a:ln/>
        </p:spPr>
        <p:txBody>
          <a:bodyPr wrap="square" lIns="0" tIns="0" rIns="0" bIns="0" rtlCol="0" anchor="ctr"/>
          <a:lstStyle/>
          <a:p>
            <a:pPr indent="0" marL="0">
              <a:buNone/>
            </a:pPr>
            <a:r>
              <a:rPr lang="en-US" sz="1100" b="1" dirty="0">
                <a:solidFill>
                  <a:schemeClr val="accent1"/>
                </a:solidFill>
              </a:rPr>
              <a:t>LEARN</a:t>
            </a:r>
            <a:endParaRPr lang="en-US" sz="1100" dirty="0"/>
          </a:p>
        </p:txBody>
      </p:sp>
      <p:sp>
        <p:nvSpPr>
          <p:cNvPr id="19" name="Text 15"/>
          <p:cNvSpPr txBox="1"/>
          <p:nvPr/>
        </p:nvSpPr>
        <p:spPr>
          <a:xfrm>
            <a:off x="4983480" y="2670048"/>
            <a:ext cx="3474720" cy="685800"/>
          </a:xfrm>
          <a:prstGeom prst="rect">
            <a:avLst/>
          </a:prstGeom>
          <a:noFill/>
          <a:ln/>
        </p:spPr>
        <p:txBody>
          <a:bodyPr wrap="square" lIns="0" tIns="0" rIns="0" bIns="0" rtlCol="0" anchor="t"/>
          <a:lstStyle/>
          <a:p>
            <a:pPr indent="0" marL="0">
              <a:buNone/>
            </a:pPr>
            <a:r>
              <a:rPr lang="en-US" sz="1400" dirty="0">
                <a:solidFill>
                  <a:schemeClr val="tx1"/>
                </a:solidFill>
              </a:rPr>
              <a:t>Security, architecture, compliance, UAT, observability</a:t>
            </a:r>
            <a:endParaRPr lang="en-US" sz="1400" dirty="0"/>
          </a:p>
        </p:txBody>
      </p:sp>
      <p:sp>
        <p:nvSpPr>
          <p:cNvPr id="20" name="outcome box"/>
          <p:cNvSpPr/>
          <p:nvPr/>
        </p:nvSpPr>
        <p:spPr>
          <a:xfrm>
            <a:off x="4937760" y="3474720"/>
            <a:ext cx="3566160" cy="868680"/>
          </a:xfrm>
          <a:prstGeom prst="roundRect">
            <a:avLst>
              <a:gd name="adj" fmla="val 10526"/>
            </a:avLst>
          </a:prstGeom>
          <a:solidFill>
            <a:schemeClr val="bg1"/>
          </a:solidFill>
          <a:ln w="12700">
            <a:solidFill>
              <a:schemeClr val="bg1"/>
            </a:solidFill>
            <a:prstDash val="solid"/>
          </a:ln>
        </p:spPr>
      </p:sp>
      <p:sp>
        <p:nvSpPr>
          <p:cNvPr id="21" name="Text 17"/>
          <p:cNvSpPr txBox="1"/>
          <p:nvPr/>
        </p:nvSpPr>
        <p:spPr>
          <a:xfrm>
            <a:off x="5074920" y="3547872"/>
            <a:ext cx="3291840" cy="228600"/>
          </a:xfrm>
          <a:prstGeom prst="rect">
            <a:avLst/>
          </a:prstGeom>
          <a:noFill/>
          <a:ln/>
        </p:spPr>
        <p:txBody>
          <a:bodyPr wrap="square" lIns="0" tIns="0" rIns="0" bIns="0" rtlCol="0" anchor="ctr"/>
          <a:lstStyle/>
          <a:p>
            <a:pPr indent="0" marL="0">
              <a:buNone/>
            </a:pPr>
            <a:r>
              <a:rPr lang="en-US" sz="1100" b="1" dirty="0">
                <a:solidFill>
                  <a:schemeClr val="accent1"/>
                </a:solidFill>
              </a:rPr>
              <a:t>YOU CAN</a:t>
            </a:r>
            <a:endParaRPr lang="en-US" sz="1100" dirty="0"/>
          </a:p>
        </p:txBody>
      </p:sp>
      <p:sp>
        <p:nvSpPr>
          <p:cNvPr id="22" name="Text 18"/>
          <p:cNvSpPr txBox="1"/>
          <p:nvPr/>
        </p:nvSpPr>
        <p:spPr>
          <a:xfrm>
            <a:off x="5074920" y="3776472"/>
            <a:ext cx="3291840" cy="502920"/>
          </a:xfrm>
          <a:prstGeom prst="rect">
            <a:avLst/>
          </a:prstGeom>
          <a:noFill/>
          <a:ln/>
        </p:spPr>
        <p:txBody>
          <a:bodyPr wrap="square" lIns="0" tIns="0" rIns="0" bIns="0" rtlCol="0" anchor="t"/>
          <a:lstStyle/>
          <a:p>
            <a:pPr indent="0" marL="0">
              <a:buNone/>
            </a:pPr>
            <a:r>
              <a:rPr lang="en-US" sz="1400" b="1" dirty="0">
                <a:solidFill>
                  <a:schemeClr val="tx1"/>
                </a:solidFill>
              </a:rPr>
              <a:t>Move solutions from prototype to production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Stage 7: Customer leadership</a:t>
            </a:r>
            <a:endParaRPr lang="en-US" sz="3400" dirty="0"/>
          </a:p>
        </p:txBody>
      </p:sp>
      <p:sp>
        <p:nvSpPr>
          <p:cNvPr id="3" name="card"/>
          <p:cNvSpPr/>
          <p:nvPr/>
        </p:nvSpPr>
        <p:spPr>
          <a:xfrm>
            <a:off x="457200" y="1280160"/>
            <a:ext cx="3749040" cy="3246120"/>
          </a:xfrm>
          <a:prstGeom prst="roundRect">
            <a:avLst>
              <a:gd name="adj" fmla="val 338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37160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Skills that set an FDE apart</a:t>
            </a:r>
            <a:endParaRPr lang="en-US" sz="1600" dirty="0"/>
          </a:p>
        </p:txBody>
      </p:sp>
      <p:sp>
        <p:nvSpPr>
          <p:cNvPr id="5" name="skill icon"/>
          <p:cNvSpPr/>
          <p:nvPr/>
        </p:nvSpPr>
        <p:spPr>
          <a:xfrm>
            <a:off x="640080" y="1828800"/>
            <a:ext cx="475488" cy="475488"/>
          </a:xfrm>
          <a:prstGeom prst="ellipse">
            <a:avLst/>
          </a:prstGeom>
          <a:solidFill>
            <a:schemeClr val="accent2"/>
          </a:solidFill>
          <a:ln w="12700">
            <a:solidFill>
              <a:schemeClr val="accent2"/>
            </a:solidFill>
            <a:prstDash val="solid"/>
          </a:ln>
        </p:spPr>
      </p:sp>
      <p:pic>
        <p:nvPicPr>
          <p:cNvPr id="6" name="Image 0" descr="icon">    </p:cNvPr>
          <p:cNvPicPr>
            <a:picLocks noChangeAspect="1"/>
          </p:cNvPicPr>
          <p:nvPr/>
        </p:nvPicPr>
        <p:blipFill>
          <a:blip r:embed="rId1"/>
          <a:stretch>
            <a:fillRect/>
          </a:stretch>
        </p:blipFill>
        <p:spPr>
          <a:xfrm>
            <a:off x="758952" y="1947672"/>
            <a:ext cx="237744" cy="237744"/>
          </a:xfrm>
          <a:prstGeom prst="rect">
            <a:avLst/>
          </a:prstGeom>
        </p:spPr>
      </p:pic>
      <p:sp>
        <p:nvSpPr>
          <p:cNvPr id="7" name="Text 4"/>
          <p:cNvSpPr txBox="1"/>
          <p:nvPr/>
        </p:nvSpPr>
        <p:spPr>
          <a:xfrm>
            <a:off x="1280160" y="1810512"/>
            <a:ext cx="2834640" cy="256032"/>
          </a:xfrm>
          <a:prstGeom prst="rect">
            <a:avLst/>
          </a:prstGeom>
          <a:noFill/>
          <a:ln/>
        </p:spPr>
        <p:txBody>
          <a:bodyPr wrap="square" lIns="0" tIns="0" rIns="0" bIns="0" rtlCol="0" anchor="ctr"/>
          <a:lstStyle/>
          <a:p>
            <a:pPr indent="0" marL="0">
              <a:buNone/>
            </a:pPr>
            <a:r>
              <a:rPr lang="en-US" sz="1400" b="1" dirty="0">
                <a:solidFill>
                  <a:schemeClr val="tx1"/>
                </a:solidFill>
              </a:rPr>
              <a:t>Discovery</a:t>
            </a:r>
            <a:endParaRPr lang="en-US" sz="1400" dirty="0"/>
          </a:p>
        </p:txBody>
      </p:sp>
      <p:sp>
        <p:nvSpPr>
          <p:cNvPr id="8" name="Text 5"/>
          <p:cNvSpPr txBox="1"/>
          <p:nvPr/>
        </p:nvSpPr>
        <p:spPr>
          <a:xfrm>
            <a:off x="1280160" y="2066544"/>
            <a:ext cx="2834640" cy="256032"/>
          </a:xfrm>
          <a:prstGeom prst="rect">
            <a:avLst/>
          </a:prstGeom>
          <a:noFill/>
          <a:ln/>
        </p:spPr>
        <p:txBody>
          <a:bodyPr wrap="square" lIns="0" tIns="0" rIns="0" bIns="0" rtlCol="0" anchor="ctr"/>
          <a:lstStyle/>
          <a:p>
            <a:pPr indent="0" marL="0">
              <a:buNone/>
            </a:pPr>
            <a:r>
              <a:rPr lang="en-US" sz="1200" dirty="0">
                <a:solidFill>
                  <a:schemeClr val="tx2"/>
                </a:solidFill>
              </a:rPr>
              <a:t>Find the real problem</a:t>
            </a:r>
            <a:endParaRPr lang="en-US" sz="1200" dirty="0"/>
          </a:p>
        </p:txBody>
      </p:sp>
      <p:sp>
        <p:nvSpPr>
          <p:cNvPr id="9" name="skill icon"/>
          <p:cNvSpPr/>
          <p:nvPr/>
        </p:nvSpPr>
        <p:spPr>
          <a:xfrm>
            <a:off x="640080" y="2487168"/>
            <a:ext cx="475488" cy="475488"/>
          </a:xfrm>
          <a:prstGeom prst="ellipse">
            <a:avLst/>
          </a:prstGeom>
          <a:solidFill>
            <a:schemeClr val="accent2"/>
          </a:solidFill>
          <a:ln w="12700">
            <a:solidFill>
              <a:schemeClr val="accent2"/>
            </a:solidFill>
            <a:prstDash val="solid"/>
          </a:ln>
        </p:spPr>
      </p:sp>
      <p:pic>
        <p:nvPicPr>
          <p:cNvPr id="10" name="Image 1" descr="icon">    </p:cNvPr>
          <p:cNvPicPr>
            <a:picLocks noChangeAspect="1"/>
          </p:cNvPicPr>
          <p:nvPr/>
        </p:nvPicPr>
        <p:blipFill>
          <a:blip r:embed="rId2"/>
          <a:stretch>
            <a:fillRect/>
          </a:stretch>
        </p:blipFill>
        <p:spPr>
          <a:xfrm>
            <a:off x="758952" y="2606040"/>
            <a:ext cx="237744" cy="237744"/>
          </a:xfrm>
          <a:prstGeom prst="rect">
            <a:avLst/>
          </a:prstGeom>
        </p:spPr>
      </p:pic>
      <p:sp>
        <p:nvSpPr>
          <p:cNvPr id="11" name="Text 7"/>
          <p:cNvSpPr txBox="1"/>
          <p:nvPr/>
        </p:nvSpPr>
        <p:spPr>
          <a:xfrm>
            <a:off x="1280160" y="2468880"/>
            <a:ext cx="2834640" cy="256032"/>
          </a:xfrm>
          <a:prstGeom prst="rect">
            <a:avLst/>
          </a:prstGeom>
          <a:noFill/>
          <a:ln/>
        </p:spPr>
        <p:txBody>
          <a:bodyPr wrap="square" lIns="0" tIns="0" rIns="0" bIns="0" rtlCol="0" anchor="ctr"/>
          <a:lstStyle/>
          <a:p>
            <a:pPr indent="0" marL="0">
              <a:buNone/>
            </a:pPr>
            <a:r>
              <a:rPr lang="en-US" sz="1400" b="1" dirty="0">
                <a:solidFill>
                  <a:schemeClr val="tx1"/>
                </a:solidFill>
              </a:rPr>
              <a:t>Communication</a:t>
            </a:r>
            <a:endParaRPr lang="en-US" sz="1400" dirty="0"/>
          </a:p>
        </p:txBody>
      </p:sp>
      <p:sp>
        <p:nvSpPr>
          <p:cNvPr id="12" name="Text 8"/>
          <p:cNvSpPr txBox="1"/>
          <p:nvPr/>
        </p:nvSpPr>
        <p:spPr>
          <a:xfrm>
            <a:off x="1280160" y="2724912"/>
            <a:ext cx="2834640" cy="256032"/>
          </a:xfrm>
          <a:prstGeom prst="rect">
            <a:avLst/>
          </a:prstGeom>
          <a:noFill/>
          <a:ln/>
        </p:spPr>
        <p:txBody>
          <a:bodyPr wrap="square" lIns="0" tIns="0" rIns="0" bIns="0" rtlCol="0" anchor="ctr"/>
          <a:lstStyle/>
          <a:p>
            <a:pPr indent="0" marL="0">
              <a:buNone/>
            </a:pPr>
            <a:r>
              <a:rPr lang="en-US" sz="1200" dirty="0">
                <a:solidFill>
                  <a:schemeClr val="tx2"/>
                </a:solidFill>
              </a:rPr>
              <a:t>Explain to executives</a:t>
            </a:r>
            <a:endParaRPr lang="en-US" sz="1200" dirty="0"/>
          </a:p>
        </p:txBody>
      </p:sp>
      <p:sp>
        <p:nvSpPr>
          <p:cNvPr id="13" name="skill icon"/>
          <p:cNvSpPr/>
          <p:nvPr/>
        </p:nvSpPr>
        <p:spPr>
          <a:xfrm>
            <a:off x="640080" y="3145536"/>
            <a:ext cx="475488" cy="475488"/>
          </a:xfrm>
          <a:prstGeom prst="ellipse">
            <a:avLst/>
          </a:prstGeom>
          <a:solidFill>
            <a:schemeClr val="accent2"/>
          </a:solidFill>
          <a:ln w="12700">
            <a:solidFill>
              <a:schemeClr val="accent2"/>
            </a:solidFill>
            <a:prstDash val="solid"/>
          </a:ln>
        </p:spPr>
      </p:sp>
      <p:pic>
        <p:nvPicPr>
          <p:cNvPr id="14" name="Image 2" descr="icon">    </p:cNvPr>
          <p:cNvPicPr>
            <a:picLocks noChangeAspect="1"/>
          </p:cNvPicPr>
          <p:nvPr/>
        </p:nvPicPr>
        <p:blipFill>
          <a:blip r:embed="rId3"/>
          <a:stretch>
            <a:fillRect/>
          </a:stretch>
        </p:blipFill>
        <p:spPr>
          <a:xfrm>
            <a:off x="758952" y="3264408"/>
            <a:ext cx="237744" cy="237744"/>
          </a:xfrm>
          <a:prstGeom prst="rect">
            <a:avLst/>
          </a:prstGeom>
        </p:spPr>
      </p:pic>
      <p:sp>
        <p:nvSpPr>
          <p:cNvPr id="15" name="Text 10"/>
          <p:cNvSpPr txBox="1"/>
          <p:nvPr/>
        </p:nvSpPr>
        <p:spPr>
          <a:xfrm>
            <a:off x="1280160" y="3127248"/>
            <a:ext cx="2834640" cy="256032"/>
          </a:xfrm>
          <a:prstGeom prst="rect">
            <a:avLst/>
          </a:prstGeom>
          <a:noFill/>
          <a:ln/>
        </p:spPr>
        <p:txBody>
          <a:bodyPr wrap="square" lIns="0" tIns="0" rIns="0" bIns="0" rtlCol="0" anchor="ctr"/>
          <a:lstStyle/>
          <a:p>
            <a:pPr indent="0" marL="0">
              <a:buNone/>
            </a:pPr>
            <a:r>
              <a:rPr lang="en-US" sz="1400" b="1" dirty="0">
                <a:solidFill>
                  <a:schemeClr val="tx1"/>
                </a:solidFill>
              </a:rPr>
              <a:t>Presenting</a:t>
            </a:r>
            <a:endParaRPr lang="en-US" sz="1400" dirty="0"/>
          </a:p>
        </p:txBody>
      </p:sp>
      <p:sp>
        <p:nvSpPr>
          <p:cNvPr id="16" name="Text 11"/>
          <p:cNvSpPr txBox="1"/>
          <p:nvPr/>
        </p:nvSpPr>
        <p:spPr>
          <a:xfrm>
            <a:off x="1280160" y="3383280"/>
            <a:ext cx="2834640" cy="256032"/>
          </a:xfrm>
          <a:prstGeom prst="rect">
            <a:avLst/>
          </a:prstGeom>
          <a:noFill/>
          <a:ln/>
        </p:spPr>
        <p:txBody>
          <a:bodyPr wrap="square" lIns="0" tIns="0" rIns="0" bIns="0" rtlCol="0" anchor="ctr"/>
          <a:lstStyle/>
          <a:p>
            <a:pPr indent="0" marL="0">
              <a:buNone/>
            </a:pPr>
            <a:r>
              <a:rPr lang="en-US" sz="1200" dirty="0">
                <a:solidFill>
                  <a:schemeClr val="tx2"/>
                </a:solidFill>
              </a:rPr>
              <a:t>Show the business outcome</a:t>
            </a:r>
            <a:endParaRPr lang="en-US" sz="1200" dirty="0"/>
          </a:p>
        </p:txBody>
      </p:sp>
      <p:sp>
        <p:nvSpPr>
          <p:cNvPr id="17" name="skill icon"/>
          <p:cNvSpPr/>
          <p:nvPr/>
        </p:nvSpPr>
        <p:spPr>
          <a:xfrm>
            <a:off x="640080" y="3803904"/>
            <a:ext cx="475488" cy="475488"/>
          </a:xfrm>
          <a:prstGeom prst="ellipse">
            <a:avLst/>
          </a:prstGeom>
          <a:solidFill>
            <a:schemeClr val="accent2"/>
          </a:solidFill>
          <a:ln w="12700">
            <a:solidFill>
              <a:schemeClr val="accent2"/>
            </a:solidFill>
            <a:prstDash val="solid"/>
          </a:ln>
        </p:spPr>
      </p:sp>
      <p:pic>
        <p:nvPicPr>
          <p:cNvPr id="18" name="Image 3" descr="icon">    </p:cNvPr>
          <p:cNvPicPr>
            <a:picLocks noChangeAspect="1"/>
          </p:cNvPicPr>
          <p:nvPr/>
        </p:nvPicPr>
        <p:blipFill>
          <a:blip r:embed="rId4"/>
          <a:stretch>
            <a:fillRect/>
          </a:stretch>
        </p:blipFill>
        <p:spPr>
          <a:xfrm>
            <a:off x="758952" y="3922776"/>
            <a:ext cx="237744" cy="237744"/>
          </a:xfrm>
          <a:prstGeom prst="rect">
            <a:avLst/>
          </a:prstGeom>
        </p:spPr>
      </p:pic>
      <p:sp>
        <p:nvSpPr>
          <p:cNvPr id="19" name="Text 13"/>
          <p:cNvSpPr txBox="1"/>
          <p:nvPr/>
        </p:nvSpPr>
        <p:spPr>
          <a:xfrm>
            <a:off x="1280160" y="3785616"/>
            <a:ext cx="2834640" cy="256032"/>
          </a:xfrm>
          <a:prstGeom prst="rect">
            <a:avLst/>
          </a:prstGeom>
          <a:noFill/>
          <a:ln/>
        </p:spPr>
        <p:txBody>
          <a:bodyPr wrap="square" lIns="0" tIns="0" rIns="0" bIns="0" rtlCol="0" anchor="ctr"/>
          <a:lstStyle/>
          <a:p>
            <a:pPr indent="0" marL="0">
              <a:buNone/>
            </a:pPr>
            <a:r>
              <a:rPr lang="en-US" sz="1400" b="1" dirty="0">
                <a:solidFill>
                  <a:schemeClr val="tx1"/>
                </a:solidFill>
              </a:rPr>
              <a:t>Documentation</a:t>
            </a:r>
            <a:endParaRPr lang="en-US" sz="1400" dirty="0"/>
          </a:p>
        </p:txBody>
      </p:sp>
      <p:sp>
        <p:nvSpPr>
          <p:cNvPr id="20" name="Text 14"/>
          <p:cNvSpPr txBox="1"/>
          <p:nvPr/>
        </p:nvSpPr>
        <p:spPr>
          <a:xfrm>
            <a:off x="1280160" y="4041648"/>
            <a:ext cx="2834640" cy="256032"/>
          </a:xfrm>
          <a:prstGeom prst="rect">
            <a:avLst/>
          </a:prstGeom>
          <a:noFill/>
          <a:ln/>
        </p:spPr>
        <p:txBody>
          <a:bodyPr wrap="square" lIns="0" tIns="0" rIns="0" bIns="0" rtlCol="0" anchor="ctr"/>
          <a:lstStyle/>
          <a:p>
            <a:pPr indent="0" marL="0">
              <a:buNone/>
            </a:pPr>
            <a:r>
              <a:rPr lang="en-US" sz="1200" dirty="0">
                <a:solidFill>
                  <a:schemeClr val="tx2"/>
                </a:solidFill>
              </a:rPr>
              <a:t>Runbooks others can follow</a:t>
            </a:r>
            <a:endParaRPr lang="en-US" sz="1200" dirty="0"/>
          </a:p>
        </p:txBody>
      </p:sp>
      <p:sp>
        <p:nvSpPr>
          <p:cNvPr id="21" name="Text 15"/>
          <p:cNvSpPr txBox="1"/>
          <p:nvPr/>
        </p:nvSpPr>
        <p:spPr>
          <a:xfrm>
            <a:off x="4572000" y="128016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How an engagement runs</a:t>
            </a:r>
            <a:endParaRPr lang="en-US" sz="1600" dirty="0"/>
          </a:p>
        </p:txBody>
      </p:sp>
      <p:sp>
        <p:nvSpPr>
          <p:cNvPr id="22" name="step number"/>
          <p:cNvSpPr/>
          <p:nvPr/>
        </p:nvSpPr>
        <p:spPr>
          <a:xfrm>
            <a:off x="4572000" y="1737360"/>
            <a:ext cx="365760" cy="365760"/>
          </a:xfrm>
          <a:prstGeom prst="ellipse">
            <a:avLst/>
          </a:prstGeom>
          <a:solidFill>
            <a:schemeClr val="accent1"/>
          </a:solidFill>
          <a:ln w="12700">
            <a:solidFill>
              <a:schemeClr val="accent1"/>
            </a:solidFill>
            <a:prstDash val="solid"/>
          </a:ln>
        </p:spPr>
      </p:sp>
      <p:sp>
        <p:nvSpPr>
          <p:cNvPr id="23" name="Text 17"/>
          <p:cNvSpPr txBox="1"/>
          <p:nvPr/>
        </p:nvSpPr>
        <p:spPr>
          <a:xfrm>
            <a:off x="4572000" y="173736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4" name="Text 18"/>
          <p:cNvSpPr txBox="1"/>
          <p:nvPr/>
        </p:nvSpPr>
        <p:spPr>
          <a:xfrm>
            <a:off x="5074920" y="1737360"/>
            <a:ext cx="3566160" cy="365760"/>
          </a:xfrm>
          <a:prstGeom prst="rect">
            <a:avLst/>
          </a:prstGeom>
          <a:noFill/>
          <a:ln/>
        </p:spPr>
        <p:txBody>
          <a:bodyPr wrap="square" lIns="0" tIns="0" rIns="0" bIns="0" rtlCol="0" anchor="ctr"/>
          <a:lstStyle/>
          <a:p>
            <a:pPr indent="0" marL="0">
              <a:buNone/>
            </a:pPr>
            <a:r>
              <a:rPr lang="en-US" sz="1600" dirty="0">
                <a:solidFill>
                  <a:schemeClr val="tx1"/>
                </a:solidFill>
              </a:rPr>
              <a:t>Discover and scope</a:t>
            </a:r>
            <a:endParaRPr lang="en-US" sz="1600" dirty="0"/>
          </a:p>
        </p:txBody>
      </p:sp>
      <p:sp>
        <p:nvSpPr>
          <p:cNvPr id="25" name="connector"/>
          <p:cNvSpPr/>
          <p:nvPr/>
        </p:nvSpPr>
        <p:spPr>
          <a:xfrm>
            <a:off x="4754880" y="2103120"/>
            <a:ext cx="0" cy="109728"/>
          </a:xfrm>
          <a:prstGeom prst="line">
            <a:avLst/>
          </a:prstGeom>
          <a:noFill/>
          <a:ln w="19050">
            <a:solidFill>
              <a:schemeClr val="accent1"/>
            </a:solidFill>
            <a:prstDash val="solid"/>
          </a:ln>
        </p:spPr>
      </p:sp>
      <p:sp>
        <p:nvSpPr>
          <p:cNvPr id="26" name="step number"/>
          <p:cNvSpPr/>
          <p:nvPr/>
        </p:nvSpPr>
        <p:spPr>
          <a:xfrm>
            <a:off x="4572000" y="2212848"/>
            <a:ext cx="365760" cy="365760"/>
          </a:xfrm>
          <a:prstGeom prst="ellipse">
            <a:avLst/>
          </a:prstGeom>
          <a:solidFill>
            <a:schemeClr val="accent1"/>
          </a:solidFill>
          <a:ln w="12700">
            <a:solidFill>
              <a:schemeClr val="accent1"/>
            </a:solidFill>
            <a:prstDash val="solid"/>
          </a:ln>
        </p:spPr>
      </p:sp>
      <p:sp>
        <p:nvSpPr>
          <p:cNvPr id="27" name="Text 21"/>
          <p:cNvSpPr txBox="1"/>
          <p:nvPr/>
        </p:nvSpPr>
        <p:spPr>
          <a:xfrm>
            <a:off x="4572000" y="221284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8" name="Text 22"/>
          <p:cNvSpPr txBox="1"/>
          <p:nvPr/>
        </p:nvSpPr>
        <p:spPr>
          <a:xfrm>
            <a:off x="5074920" y="2212848"/>
            <a:ext cx="3566160" cy="365760"/>
          </a:xfrm>
          <a:prstGeom prst="rect">
            <a:avLst/>
          </a:prstGeom>
          <a:noFill/>
          <a:ln/>
        </p:spPr>
        <p:txBody>
          <a:bodyPr wrap="square" lIns="0" tIns="0" rIns="0" bIns="0" rtlCol="0" anchor="ctr"/>
          <a:lstStyle/>
          <a:p>
            <a:pPr indent="0" marL="0">
              <a:buNone/>
            </a:pPr>
            <a:r>
              <a:rPr lang="en-US" sz="1600" dirty="0">
                <a:solidFill>
                  <a:schemeClr val="tx1"/>
                </a:solidFill>
              </a:rPr>
              <a:t>Architecture and design</a:t>
            </a:r>
            <a:endParaRPr lang="en-US" sz="1600" dirty="0"/>
          </a:p>
        </p:txBody>
      </p:sp>
      <p:sp>
        <p:nvSpPr>
          <p:cNvPr id="29" name="connector"/>
          <p:cNvSpPr/>
          <p:nvPr/>
        </p:nvSpPr>
        <p:spPr>
          <a:xfrm>
            <a:off x="4754880" y="2578608"/>
            <a:ext cx="0" cy="109728"/>
          </a:xfrm>
          <a:prstGeom prst="line">
            <a:avLst/>
          </a:prstGeom>
          <a:noFill/>
          <a:ln w="19050">
            <a:solidFill>
              <a:schemeClr val="accent1"/>
            </a:solidFill>
            <a:prstDash val="solid"/>
          </a:ln>
        </p:spPr>
      </p:sp>
      <p:sp>
        <p:nvSpPr>
          <p:cNvPr id="30" name="step number"/>
          <p:cNvSpPr/>
          <p:nvPr/>
        </p:nvSpPr>
        <p:spPr>
          <a:xfrm>
            <a:off x="4572000" y="2688336"/>
            <a:ext cx="365760" cy="365760"/>
          </a:xfrm>
          <a:prstGeom prst="ellipse">
            <a:avLst/>
          </a:prstGeom>
          <a:solidFill>
            <a:schemeClr val="accent1"/>
          </a:solidFill>
          <a:ln w="12700">
            <a:solidFill>
              <a:schemeClr val="accent1"/>
            </a:solidFill>
            <a:prstDash val="solid"/>
          </a:ln>
        </p:spPr>
      </p:sp>
      <p:sp>
        <p:nvSpPr>
          <p:cNvPr id="31" name="Text 25"/>
          <p:cNvSpPr txBox="1"/>
          <p:nvPr/>
        </p:nvSpPr>
        <p:spPr>
          <a:xfrm>
            <a:off x="4572000" y="2688336"/>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2" name="Text 26"/>
          <p:cNvSpPr txBox="1"/>
          <p:nvPr/>
        </p:nvSpPr>
        <p:spPr>
          <a:xfrm>
            <a:off x="5074920" y="2688336"/>
            <a:ext cx="3566160" cy="365760"/>
          </a:xfrm>
          <a:prstGeom prst="rect">
            <a:avLst/>
          </a:prstGeom>
          <a:noFill/>
          <a:ln/>
        </p:spPr>
        <p:txBody>
          <a:bodyPr wrap="square" lIns="0" tIns="0" rIns="0" bIns="0" rtlCol="0" anchor="ctr"/>
          <a:lstStyle/>
          <a:p>
            <a:pPr indent="0" marL="0">
              <a:buNone/>
            </a:pPr>
            <a:r>
              <a:rPr lang="en-US" sz="1600" dirty="0">
                <a:solidFill>
                  <a:schemeClr val="tx1"/>
                </a:solidFill>
              </a:rPr>
              <a:t>Build and integrate</a:t>
            </a:r>
            <a:endParaRPr lang="en-US" sz="1600" dirty="0"/>
          </a:p>
        </p:txBody>
      </p:sp>
      <p:sp>
        <p:nvSpPr>
          <p:cNvPr id="33" name="connector"/>
          <p:cNvSpPr/>
          <p:nvPr/>
        </p:nvSpPr>
        <p:spPr>
          <a:xfrm>
            <a:off x="4754880" y="3054096"/>
            <a:ext cx="0" cy="109728"/>
          </a:xfrm>
          <a:prstGeom prst="line">
            <a:avLst/>
          </a:prstGeom>
          <a:noFill/>
          <a:ln w="19050">
            <a:solidFill>
              <a:schemeClr val="accent1"/>
            </a:solidFill>
            <a:prstDash val="solid"/>
          </a:ln>
        </p:spPr>
      </p:sp>
      <p:sp>
        <p:nvSpPr>
          <p:cNvPr id="34" name="step number"/>
          <p:cNvSpPr/>
          <p:nvPr/>
        </p:nvSpPr>
        <p:spPr>
          <a:xfrm>
            <a:off x="4572000" y="3163824"/>
            <a:ext cx="365760" cy="365760"/>
          </a:xfrm>
          <a:prstGeom prst="ellipse">
            <a:avLst/>
          </a:prstGeom>
          <a:solidFill>
            <a:schemeClr val="accent1"/>
          </a:solidFill>
          <a:ln w="12700">
            <a:solidFill>
              <a:schemeClr val="accent1"/>
            </a:solidFill>
            <a:prstDash val="solid"/>
          </a:ln>
        </p:spPr>
      </p:sp>
      <p:sp>
        <p:nvSpPr>
          <p:cNvPr id="35" name="Text 29"/>
          <p:cNvSpPr txBox="1"/>
          <p:nvPr/>
        </p:nvSpPr>
        <p:spPr>
          <a:xfrm>
            <a:off x="4572000" y="3163824"/>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6" name="Text 30"/>
          <p:cNvSpPr txBox="1"/>
          <p:nvPr/>
        </p:nvSpPr>
        <p:spPr>
          <a:xfrm>
            <a:off x="5074920" y="3163824"/>
            <a:ext cx="3566160" cy="365760"/>
          </a:xfrm>
          <a:prstGeom prst="rect">
            <a:avLst/>
          </a:prstGeom>
          <a:noFill/>
          <a:ln/>
        </p:spPr>
        <p:txBody>
          <a:bodyPr wrap="square" lIns="0" tIns="0" rIns="0" bIns="0" rtlCol="0" anchor="ctr"/>
          <a:lstStyle/>
          <a:p>
            <a:pPr indent="0" marL="0">
              <a:buNone/>
            </a:pPr>
            <a:r>
              <a:rPr lang="en-US" sz="1600" dirty="0">
                <a:solidFill>
                  <a:schemeClr val="tx1"/>
                </a:solidFill>
              </a:rPr>
              <a:t>Validate and deploy</a:t>
            </a:r>
            <a:endParaRPr lang="en-US" sz="1600" dirty="0"/>
          </a:p>
        </p:txBody>
      </p:sp>
      <p:sp>
        <p:nvSpPr>
          <p:cNvPr id="37" name="connector"/>
          <p:cNvSpPr/>
          <p:nvPr/>
        </p:nvSpPr>
        <p:spPr>
          <a:xfrm>
            <a:off x="4754880" y="3529584"/>
            <a:ext cx="0" cy="109728"/>
          </a:xfrm>
          <a:prstGeom prst="line">
            <a:avLst/>
          </a:prstGeom>
          <a:noFill/>
          <a:ln w="19050">
            <a:solidFill>
              <a:schemeClr val="accent1"/>
            </a:solidFill>
            <a:prstDash val="solid"/>
          </a:ln>
        </p:spPr>
      </p:sp>
      <p:sp>
        <p:nvSpPr>
          <p:cNvPr id="38" name="step number"/>
          <p:cNvSpPr/>
          <p:nvPr/>
        </p:nvSpPr>
        <p:spPr>
          <a:xfrm>
            <a:off x="4572000" y="3639312"/>
            <a:ext cx="365760" cy="365760"/>
          </a:xfrm>
          <a:prstGeom prst="ellipse">
            <a:avLst/>
          </a:prstGeom>
          <a:solidFill>
            <a:schemeClr val="accent1"/>
          </a:solidFill>
          <a:ln w="12700">
            <a:solidFill>
              <a:schemeClr val="accent1"/>
            </a:solidFill>
            <a:prstDash val="solid"/>
          </a:ln>
        </p:spPr>
      </p:sp>
      <p:sp>
        <p:nvSpPr>
          <p:cNvPr id="39" name="Text 33"/>
          <p:cNvSpPr txBox="1"/>
          <p:nvPr/>
        </p:nvSpPr>
        <p:spPr>
          <a:xfrm>
            <a:off x="4572000" y="363931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0" name="Text 34"/>
          <p:cNvSpPr txBox="1"/>
          <p:nvPr/>
        </p:nvSpPr>
        <p:spPr>
          <a:xfrm>
            <a:off x="5074920" y="3639312"/>
            <a:ext cx="3566160" cy="365760"/>
          </a:xfrm>
          <a:prstGeom prst="rect">
            <a:avLst/>
          </a:prstGeom>
          <a:noFill/>
          <a:ln/>
        </p:spPr>
        <p:txBody>
          <a:bodyPr wrap="square" lIns="0" tIns="0" rIns="0" bIns="0" rtlCol="0" anchor="ctr"/>
          <a:lstStyle/>
          <a:p>
            <a:pPr indent="0" marL="0">
              <a:buNone/>
            </a:pPr>
            <a:r>
              <a:rPr lang="en-US" sz="1600" dirty="0">
                <a:solidFill>
                  <a:schemeClr val="tx1"/>
                </a:solidFill>
              </a:rPr>
              <a:t>Monitor and iterate</a:t>
            </a:r>
            <a:endParaRPr lang="en-US" sz="1600" dirty="0"/>
          </a:p>
        </p:txBody>
      </p:sp>
      <p:sp>
        <p:nvSpPr>
          <p:cNvPr id="41" name="connector"/>
          <p:cNvSpPr/>
          <p:nvPr/>
        </p:nvSpPr>
        <p:spPr>
          <a:xfrm>
            <a:off x="4754880" y="4005072"/>
            <a:ext cx="0" cy="109728"/>
          </a:xfrm>
          <a:prstGeom prst="line">
            <a:avLst/>
          </a:prstGeom>
          <a:noFill/>
          <a:ln w="19050">
            <a:solidFill>
              <a:schemeClr val="accent1"/>
            </a:solidFill>
            <a:prstDash val="solid"/>
          </a:ln>
        </p:spPr>
      </p:sp>
      <p:sp>
        <p:nvSpPr>
          <p:cNvPr id="42" name="step number"/>
          <p:cNvSpPr/>
          <p:nvPr/>
        </p:nvSpPr>
        <p:spPr>
          <a:xfrm>
            <a:off x="4572000" y="4114800"/>
            <a:ext cx="365760" cy="365760"/>
          </a:xfrm>
          <a:prstGeom prst="ellipse">
            <a:avLst/>
          </a:prstGeom>
          <a:solidFill>
            <a:schemeClr val="accent2"/>
          </a:solidFill>
          <a:ln w="12700">
            <a:solidFill>
              <a:schemeClr val="accent2"/>
            </a:solidFill>
            <a:prstDash val="solid"/>
          </a:ln>
        </p:spPr>
      </p:sp>
      <p:sp>
        <p:nvSpPr>
          <p:cNvPr id="43" name="Text 37"/>
          <p:cNvSpPr txBox="1"/>
          <p:nvPr/>
        </p:nvSpPr>
        <p:spPr>
          <a:xfrm>
            <a:off x="4572000" y="4114800"/>
            <a:ext cx="365760" cy="36576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44" name="Text 38"/>
          <p:cNvSpPr txBox="1"/>
          <p:nvPr/>
        </p:nvSpPr>
        <p:spPr>
          <a:xfrm>
            <a:off x="5074920" y="411480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Scale and hand over</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FDE toolbox</a:t>
            </a:r>
            <a:endParaRPr lang="en-US" sz="3400" dirty="0"/>
          </a:p>
        </p:txBody>
      </p:sp>
      <p:sp>
        <p:nvSpPr>
          <p:cNvPr id="3" name="card"/>
          <p:cNvSpPr/>
          <p:nvPr/>
        </p:nvSpPr>
        <p:spPr>
          <a:xfrm>
            <a:off x="457200" y="123444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tack icon"/>
          <p:cNvSpPr/>
          <p:nvPr/>
        </p:nvSpPr>
        <p:spPr>
          <a:xfrm>
            <a:off x="640080" y="1463040"/>
            <a:ext cx="502920" cy="50292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65810" y="1588770"/>
            <a:ext cx="251460" cy="251460"/>
          </a:xfrm>
          <a:prstGeom prst="rect">
            <a:avLst/>
          </a:prstGeom>
        </p:spPr>
      </p:pic>
      <p:sp>
        <p:nvSpPr>
          <p:cNvPr id="6" name="Text 3"/>
          <p:cNvSpPr txBox="1"/>
          <p:nvPr/>
        </p:nvSpPr>
        <p:spPr>
          <a:xfrm>
            <a:off x="1325880" y="138988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Languages</a:t>
            </a:r>
            <a:endParaRPr lang="en-US" sz="1400" dirty="0"/>
          </a:p>
        </p:txBody>
      </p:sp>
      <p:sp>
        <p:nvSpPr>
          <p:cNvPr id="7" name="Text 4"/>
          <p:cNvSpPr txBox="1"/>
          <p:nvPr/>
        </p:nvSpPr>
        <p:spPr>
          <a:xfrm>
            <a:off x="1325880" y="1691640"/>
            <a:ext cx="1600200" cy="457200"/>
          </a:xfrm>
          <a:prstGeom prst="rect">
            <a:avLst/>
          </a:prstGeom>
          <a:noFill/>
          <a:ln/>
        </p:spPr>
        <p:txBody>
          <a:bodyPr wrap="square" lIns="0" tIns="0" rIns="0" bIns="0" rtlCol="0" anchor="t"/>
          <a:lstStyle/>
          <a:p>
            <a:pPr indent="0" marL="0">
              <a:buNone/>
            </a:pPr>
            <a:r>
              <a:rPr lang="en-US" sz="1200" dirty="0">
                <a:solidFill>
                  <a:schemeClr val="tx2"/>
                </a:solidFill>
              </a:rPr>
              <a:t>Python, TypeScript, Java, Go</a:t>
            </a:r>
            <a:endParaRPr lang="en-US" sz="1200" dirty="0"/>
          </a:p>
        </p:txBody>
      </p:sp>
      <p:sp>
        <p:nvSpPr>
          <p:cNvPr id="8" name="card"/>
          <p:cNvSpPr/>
          <p:nvPr/>
        </p:nvSpPr>
        <p:spPr>
          <a:xfrm>
            <a:off x="3291840" y="123444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stack icon"/>
          <p:cNvSpPr/>
          <p:nvPr/>
        </p:nvSpPr>
        <p:spPr>
          <a:xfrm>
            <a:off x="3474720" y="1463040"/>
            <a:ext cx="502920" cy="502920"/>
          </a:xfrm>
          <a:prstGeom prst="ellipse">
            <a:avLst/>
          </a:prstGeom>
          <a:solidFill>
            <a:schemeClr val="accent5"/>
          </a:solidFill>
          <a:ln w="12700">
            <a:solidFill>
              <a:schemeClr val="accent5"/>
            </a:solidFill>
            <a:prstDash val="solid"/>
          </a:ln>
        </p:spPr>
      </p:sp>
      <p:pic>
        <p:nvPicPr>
          <p:cNvPr id="10" name="Image 1" descr="icon">    </p:cNvPr>
          <p:cNvPicPr>
            <a:picLocks noChangeAspect="1"/>
          </p:cNvPicPr>
          <p:nvPr/>
        </p:nvPicPr>
        <p:blipFill>
          <a:blip r:embed="rId2"/>
          <a:stretch>
            <a:fillRect/>
          </a:stretch>
        </p:blipFill>
        <p:spPr>
          <a:xfrm>
            <a:off x="3600450" y="1588770"/>
            <a:ext cx="251460" cy="251460"/>
          </a:xfrm>
          <a:prstGeom prst="rect">
            <a:avLst/>
          </a:prstGeom>
        </p:spPr>
      </p:pic>
      <p:sp>
        <p:nvSpPr>
          <p:cNvPr id="11" name="Text 7"/>
          <p:cNvSpPr txBox="1"/>
          <p:nvPr/>
        </p:nvSpPr>
        <p:spPr>
          <a:xfrm>
            <a:off x="4160520" y="138988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APIs</a:t>
            </a:r>
            <a:endParaRPr lang="en-US" sz="1400" dirty="0"/>
          </a:p>
        </p:txBody>
      </p:sp>
      <p:sp>
        <p:nvSpPr>
          <p:cNvPr id="12" name="Text 8"/>
          <p:cNvSpPr txBox="1"/>
          <p:nvPr/>
        </p:nvSpPr>
        <p:spPr>
          <a:xfrm>
            <a:off x="4160520" y="1691640"/>
            <a:ext cx="1600200" cy="457200"/>
          </a:xfrm>
          <a:prstGeom prst="rect">
            <a:avLst/>
          </a:prstGeom>
          <a:noFill/>
          <a:ln/>
        </p:spPr>
        <p:txBody>
          <a:bodyPr wrap="square" lIns="0" tIns="0" rIns="0" bIns="0" rtlCol="0" anchor="t"/>
          <a:lstStyle/>
          <a:p>
            <a:pPr indent="0" marL="0">
              <a:buNone/>
            </a:pPr>
            <a:r>
              <a:rPr lang="en-US" sz="1200" dirty="0">
                <a:solidFill>
                  <a:schemeClr val="tx2"/>
                </a:solidFill>
              </a:rPr>
              <a:t>REST, GraphQL, webhooks</a:t>
            </a:r>
            <a:endParaRPr lang="en-US" sz="1200" dirty="0"/>
          </a:p>
        </p:txBody>
      </p:sp>
      <p:sp>
        <p:nvSpPr>
          <p:cNvPr id="13" name="card"/>
          <p:cNvSpPr/>
          <p:nvPr/>
        </p:nvSpPr>
        <p:spPr>
          <a:xfrm>
            <a:off x="6126480" y="123444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tack icon"/>
          <p:cNvSpPr/>
          <p:nvPr/>
        </p:nvSpPr>
        <p:spPr>
          <a:xfrm>
            <a:off x="6309360" y="1463040"/>
            <a:ext cx="502920" cy="502920"/>
          </a:xfrm>
          <a:prstGeom prst="ellipse">
            <a:avLst/>
          </a:prstGeom>
          <a:solidFill>
            <a:schemeClr val="accent5"/>
          </a:solidFill>
          <a:ln w="12700">
            <a:solidFill>
              <a:schemeClr val="accent5"/>
            </a:solidFill>
            <a:prstDash val="solid"/>
          </a:ln>
        </p:spPr>
      </p:sp>
      <p:pic>
        <p:nvPicPr>
          <p:cNvPr id="15" name="Image 2" descr="icon">    </p:cNvPr>
          <p:cNvPicPr>
            <a:picLocks noChangeAspect="1"/>
          </p:cNvPicPr>
          <p:nvPr/>
        </p:nvPicPr>
        <p:blipFill>
          <a:blip r:embed="rId3"/>
          <a:stretch>
            <a:fillRect/>
          </a:stretch>
        </p:blipFill>
        <p:spPr>
          <a:xfrm>
            <a:off x="6435090" y="1588770"/>
            <a:ext cx="251460" cy="251460"/>
          </a:xfrm>
          <a:prstGeom prst="rect">
            <a:avLst/>
          </a:prstGeom>
        </p:spPr>
      </p:pic>
      <p:sp>
        <p:nvSpPr>
          <p:cNvPr id="16" name="Text 11"/>
          <p:cNvSpPr txBox="1"/>
          <p:nvPr/>
        </p:nvSpPr>
        <p:spPr>
          <a:xfrm>
            <a:off x="6995160" y="138988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Cloud</a:t>
            </a:r>
            <a:endParaRPr lang="en-US" sz="1400" dirty="0"/>
          </a:p>
        </p:txBody>
      </p:sp>
      <p:sp>
        <p:nvSpPr>
          <p:cNvPr id="17" name="Text 12"/>
          <p:cNvSpPr txBox="1"/>
          <p:nvPr/>
        </p:nvSpPr>
        <p:spPr>
          <a:xfrm>
            <a:off x="6995160" y="1691640"/>
            <a:ext cx="1600200" cy="457200"/>
          </a:xfrm>
          <a:prstGeom prst="rect">
            <a:avLst/>
          </a:prstGeom>
          <a:noFill/>
          <a:ln/>
        </p:spPr>
        <p:txBody>
          <a:bodyPr wrap="square" lIns="0" tIns="0" rIns="0" bIns="0" rtlCol="0" anchor="t"/>
          <a:lstStyle/>
          <a:p>
            <a:pPr indent="0" marL="0">
              <a:buNone/>
            </a:pPr>
            <a:r>
              <a:rPr lang="en-US" sz="1200" dirty="0">
                <a:solidFill>
                  <a:schemeClr val="tx2"/>
                </a:solidFill>
              </a:rPr>
              <a:t>AWS, Azure, Google Cloud</a:t>
            </a:r>
            <a:endParaRPr lang="en-US" sz="1200" dirty="0"/>
          </a:p>
        </p:txBody>
      </p:sp>
      <p:sp>
        <p:nvSpPr>
          <p:cNvPr id="18" name="card"/>
          <p:cNvSpPr/>
          <p:nvPr/>
        </p:nvSpPr>
        <p:spPr>
          <a:xfrm>
            <a:off x="457200" y="233172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stack icon"/>
          <p:cNvSpPr/>
          <p:nvPr/>
        </p:nvSpPr>
        <p:spPr>
          <a:xfrm>
            <a:off x="640080" y="2560320"/>
            <a:ext cx="502920" cy="502920"/>
          </a:xfrm>
          <a:prstGeom prst="ellipse">
            <a:avLst/>
          </a:prstGeom>
          <a:solidFill>
            <a:schemeClr val="accent1"/>
          </a:solidFill>
          <a:ln w="12700">
            <a:solidFill>
              <a:schemeClr val="accent1"/>
            </a:solidFill>
            <a:prstDash val="solid"/>
          </a:ln>
        </p:spPr>
      </p:sp>
      <p:pic>
        <p:nvPicPr>
          <p:cNvPr id="20" name="Image 3" descr="icon">    </p:cNvPr>
          <p:cNvPicPr>
            <a:picLocks noChangeAspect="1"/>
          </p:cNvPicPr>
          <p:nvPr/>
        </p:nvPicPr>
        <p:blipFill>
          <a:blip r:embed="rId4"/>
          <a:stretch>
            <a:fillRect/>
          </a:stretch>
        </p:blipFill>
        <p:spPr>
          <a:xfrm>
            <a:off x="765810" y="2686050"/>
            <a:ext cx="251460" cy="251460"/>
          </a:xfrm>
          <a:prstGeom prst="rect">
            <a:avLst/>
          </a:prstGeom>
        </p:spPr>
      </p:pic>
      <p:sp>
        <p:nvSpPr>
          <p:cNvPr id="21" name="Text 15"/>
          <p:cNvSpPr txBox="1"/>
          <p:nvPr/>
        </p:nvSpPr>
        <p:spPr>
          <a:xfrm>
            <a:off x="1325880" y="248716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Containers</a:t>
            </a:r>
            <a:endParaRPr lang="en-US" sz="1400" dirty="0"/>
          </a:p>
        </p:txBody>
      </p:sp>
      <p:sp>
        <p:nvSpPr>
          <p:cNvPr id="22" name="Text 16"/>
          <p:cNvSpPr txBox="1"/>
          <p:nvPr/>
        </p:nvSpPr>
        <p:spPr>
          <a:xfrm>
            <a:off x="1325880" y="2788920"/>
            <a:ext cx="1600200" cy="457200"/>
          </a:xfrm>
          <a:prstGeom prst="rect">
            <a:avLst/>
          </a:prstGeom>
          <a:noFill/>
          <a:ln/>
        </p:spPr>
        <p:txBody>
          <a:bodyPr wrap="square" lIns="0" tIns="0" rIns="0" bIns="0" rtlCol="0" anchor="t"/>
          <a:lstStyle/>
          <a:p>
            <a:pPr indent="0" marL="0">
              <a:buNone/>
            </a:pPr>
            <a:r>
              <a:rPr lang="en-US" sz="1200" dirty="0">
                <a:solidFill>
                  <a:schemeClr val="tx2"/>
                </a:solidFill>
              </a:rPr>
              <a:t>Docker, Kubernetes</a:t>
            </a:r>
            <a:endParaRPr lang="en-US" sz="1200" dirty="0"/>
          </a:p>
        </p:txBody>
      </p:sp>
      <p:sp>
        <p:nvSpPr>
          <p:cNvPr id="23" name="card"/>
          <p:cNvSpPr/>
          <p:nvPr/>
        </p:nvSpPr>
        <p:spPr>
          <a:xfrm>
            <a:off x="3291840" y="233172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stack icon"/>
          <p:cNvSpPr/>
          <p:nvPr/>
        </p:nvSpPr>
        <p:spPr>
          <a:xfrm>
            <a:off x="3474720" y="2560320"/>
            <a:ext cx="502920" cy="502920"/>
          </a:xfrm>
          <a:prstGeom prst="ellipse">
            <a:avLst/>
          </a:prstGeom>
          <a:solidFill>
            <a:schemeClr val="accent1"/>
          </a:solidFill>
          <a:ln w="12700">
            <a:solidFill>
              <a:schemeClr val="accent1"/>
            </a:solidFill>
            <a:prstDash val="solid"/>
          </a:ln>
        </p:spPr>
      </p:sp>
      <p:pic>
        <p:nvPicPr>
          <p:cNvPr id="25" name="Image 4" descr="icon">    </p:cNvPr>
          <p:cNvPicPr>
            <a:picLocks noChangeAspect="1"/>
          </p:cNvPicPr>
          <p:nvPr/>
        </p:nvPicPr>
        <p:blipFill>
          <a:blip r:embed="rId5"/>
          <a:stretch>
            <a:fillRect/>
          </a:stretch>
        </p:blipFill>
        <p:spPr>
          <a:xfrm>
            <a:off x="3600450" y="2686050"/>
            <a:ext cx="251460" cy="251460"/>
          </a:xfrm>
          <a:prstGeom prst="rect">
            <a:avLst/>
          </a:prstGeom>
        </p:spPr>
      </p:pic>
      <p:sp>
        <p:nvSpPr>
          <p:cNvPr id="26" name="Text 19"/>
          <p:cNvSpPr txBox="1"/>
          <p:nvPr/>
        </p:nvSpPr>
        <p:spPr>
          <a:xfrm>
            <a:off x="4160520" y="248716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Data</a:t>
            </a:r>
            <a:endParaRPr lang="en-US" sz="1400" dirty="0"/>
          </a:p>
        </p:txBody>
      </p:sp>
      <p:sp>
        <p:nvSpPr>
          <p:cNvPr id="27" name="Text 20"/>
          <p:cNvSpPr txBox="1"/>
          <p:nvPr/>
        </p:nvSpPr>
        <p:spPr>
          <a:xfrm>
            <a:off x="4160520" y="2788920"/>
            <a:ext cx="1600200" cy="457200"/>
          </a:xfrm>
          <a:prstGeom prst="rect">
            <a:avLst/>
          </a:prstGeom>
          <a:noFill/>
          <a:ln/>
        </p:spPr>
        <p:txBody>
          <a:bodyPr wrap="square" lIns="0" tIns="0" rIns="0" bIns="0" rtlCol="0" anchor="t"/>
          <a:lstStyle/>
          <a:p>
            <a:pPr indent="0" marL="0">
              <a:buNone/>
            </a:pPr>
            <a:r>
              <a:rPr lang="en-US" sz="1200" dirty="0">
                <a:solidFill>
                  <a:schemeClr val="tx2"/>
                </a:solidFill>
              </a:rPr>
              <a:t>PostgreSQL, Snowflake, Databricks</a:t>
            </a:r>
            <a:endParaRPr lang="en-US" sz="1200" dirty="0"/>
          </a:p>
        </p:txBody>
      </p:sp>
      <p:sp>
        <p:nvSpPr>
          <p:cNvPr id="28" name="card"/>
          <p:cNvSpPr/>
          <p:nvPr/>
        </p:nvSpPr>
        <p:spPr>
          <a:xfrm>
            <a:off x="6126480" y="233172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stack icon"/>
          <p:cNvSpPr/>
          <p:nvPr/>
        </p:nvSpPr>
        <p:spPr>
          <a:xfrm>
            <a:off x="6309360" y="2560320"/>
            <a:ext cx="502920" cy="502920"/>
          </a:xfrm>
          <a:prstGeom prst="ellipse">
            <a:avLst/>
          </a:prstGeom>
          <a:solidFill>
            <a:schemeClr val="accent4"/>
          </a:solidFill>
          <a:ln w="12700">
            <a:solidFill>
              <a:schemeClr val="accent4"/>
            </a:solidFill>
            <a:prstDash val="solid"/>
          </a:ln>
        </p:spPr>
      </p:sp>
      <p:pic>
        <p:nvPicPr>
          <p:cNvPr id="30" name="Image 5" descr="icon">    </p:cNvPr>
          <p:cNvPicPr>
            <a:picLocks noChangeAspect="1"/>
          </p:cNvPicPr>
          <p:nvPr/>
        </p:nvPicPr>
        <p:blipFill>
          <a:blip r:embed="rId6"/>
          <a:stretch>
            <a:fillRect/>
          </a:stretch>
        </p:blipFill>
        <p:spPr>
          <a:xfrm>
            <a:off x="6435090" y="2686050"/>
            <a:ext cx="251460" cy="251460"/>
          </a:xfrm>
          <a:prstGeom prst="rect">
            <a:avLst/>
          </a:prstGeom>
        </p:spPr>
      </p:pic>
      <p:sp>
        <p:nvSpPr>
          <p:cNvPr id="31" name="Text 23"/>
          <p:cNvSpPr txBox="1"/>
          <p:nvPr/>
        </p:nvSpPr>
        <p:spPr>
          <a:xfrm>
            <a:off x="6995160" y="248716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AI</a:t>
            </a:r>
            <a:endParaRPr lang="en-US" sz="1400" dirty="0"/>
          </a:p>
        </p:txBody>
      </p:sp>
      <p:sp>
        <p:nvSpPr>
          <p:cNvPr id="32" name="Text 24"/>
          <p:cNvSpPr txBox="1"/>
          <p:nvPr/>
        </p:nvSpPr>
        <p:spPr>
          <a:xfrm>
            <a:off x="6995160" y="2788920"/>
            <a:ext cx="1600200" cy="457200"/>
          </a:xfrm>
          <a:prstGeom prst="rect">
            <a:avLst/>
          </a:prstGeom>
          <a:noFill/>
          <a:ln/>
        </p:spPr>
        <p:txBody>
          <a:bodyPr wrap="square" lIns="0" tIns="0" rIns="0" bIns="0" rtlCol="0" anchor="t"/>
          <a:lstStyle/>
          <a:p>
            <a:pPr indent="0" marL="0">
              <a:buNone/>
            </a:pPr>
            <a:r>
              <a:rPr lang="en-US" sz="1200" dirty="0">
                <a:solidFill>
                  <a:schemeClr val="tx2"/>
                </a:solidFill>
              </a:rPr>
              <a:t>LLMs, embeddings, RAG, vector DBs</a:t>
            </a:r>
            <a:endParaRPr lang="en-US" sz="1200" dirty="0"/>
          </a:p>
        </p:txBody>
      </p:sp>
      <p:sp>
        <p:nvSpPr>
          <p:cNvPr id="33" name="card"/>
          <p:cNvSpPr/>
          <p:nvPr/>
        </p:nvSpPr>
        <p:spPr>
          <a:xfrm>
            <a:off x="457200" y="342900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4" name="stack icon"/>
          <p:cNvSpPr/>
          <p:nvPr/>
        </p:nvSpPr>
        <p:spPr>
          <a:xfrm>
            <a:off x="640080" y="3657600"/>
            <a:ext cx="502920" cy="502920"/>
          </a:xfrm>
          <a:prstGeom prst="ellipse">
            <a:avLst/>
          </a:prstGeom>
          <a:solidFill>
            <a:schemeClr val="accent4"/>
          </a:solidFill>
          <a:ln w="12700">
            <a:solidFill>
              <a:schemeClr val="accent4"/>
            </a:solidFill>
            <a:prstDash val="solid"/>
          </a:ln>
        </p:spPr>
      </p:sp>
      <p:pic>
        <p:nvPicPr>
          <p:cNvPr id="35" name="Image 6" descr="icon">    </p:cNvPr>
          <p:cNvPicPr>
            <a:picLocks noChangeAspect="1"/>
          </p:cNvPicPr>
          <p:nvPr/>
        </p:nvPicPr>
        <p:blipFill>
          <a:blip r:embed="rId7"/>
          <a:stretch>
            <a:fillRect/>
          </a:stretch>
        </p:blipFill>
        <p:spPr>
          <a:xfrm>
            <a:off x="765810" y="3783330"/>
            <a:ext cx="251460" cy="251460"/>
          </a:xfrm>
          <a:prstGeom prst="rect">
            <a:avLst/>
          </a:prstGeom>
        </p:spPr>
      </p:pic>
      <p:sp>
        <p:nvSpPr>
          <p:cNvPr id="36" name="Text 27"/>
          <p:cNvSpPr txBox="1"/>
          <p:nvPr/>
        </p:nvSpPr>
        <p:spPr>
          <a:xfrm>
            <a:off x="1325880" y="358444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Orchestration</a:t>
            </a:r>
            <a:endParaRPr lang="en-US" sz="1400" dirty="0"/>
          </a:p>
        </p:txBody>
      </p:sp>
      <p:sp>
        <p:nvSpPr>
          <p:cNvPr id="37" name="Text 28"/>
          <p:cNvSpPr txBox="1"/>
          <p:nvPr/>
        </p:nvSpPr>
        <p:spPr>
          <a:xfrm>
            <a:off x="1325880" y="3886200"/>
            <a:ext cx="1600200" cy="457200"/>
          </a:xfrm>
          <a:prstGeom prst="rect">
            <a:avLst/>
          </a:prstGeom>
          <a:noFill/>
          <a:ln/>
        </p:spPr>
        <p:txBody>
          <a:bodyPr wrap="square" lIns="0" tIns="0" rIns="0" bIns="0" rtlCol="0" anchor="t"/>
          <a:lstStyle/>
          <a:p>
            <a:pPr indent="0" marL="0">
              <a:buNone/>
            </a:pPr>
            <a:r>
              <a:rPr lang="en-US" sz="1200" dirty="0">
                <a:solidFill>
                  <a:schemeClr val="tx2"/>
                </a:solidFill>
              </a:rPr>
              <a:t>LangChain, LangGraph</a:t>
            </a:r>
            <a:endParaRPr lang="en-US" sz="1200" dirty="0"/>
          </a:p>
        </p:txBody>
      </p:sp>
      <p:sp>
        <p:nvSpPr>
          <p:cNvPr id="38" name="card"/>
          <p:cNvSpPr/>
          <p:nvPr/>
        </p:nvSpPr>
        <p:spPr>
          <a:xfrm>
            <a:off x="3291840" y="342900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9" name="stack icon"/>
          <p:cNvSpPr/>
          <p:nvPr/>
        </p:nvSpPr>
        <p:spPr>
          <a:xfrm>
            <a:off x="3474720" y="3657600"/>
            <a:ext cx="502920" cy="502920"/>
          </a:xfrm>
          <a:prstGeom prst="ellipse">
            <a:avLst/>
          </a:prstGeom>
          <a:solidFill>
            <a:schemeClr val="accent4"/>
          </a:solidFill>
          <a:ln w="12700">
            <a:solidFill>
              <a:schemeClr val="accent4"/>
            </a:solidFill>
            <a:prstDash val="solid"/>
          </a:ln>
        </p:spPr>
      </p:sp>
      <p:pic>
        <p:nvPicPr>
          <p:cNvPr id="40" name="Image 7" descr="icon">    </p:cNvPr>
          <p:cNvPicPr>
            <a:picLocks noChangeAspect="1"/>
          </p:cNvPicPr>
          <p:nvPr/>
        </p:nvPicPr>
        <p:blipFill>
          <a:blip r:embed="rId8"/>
          <a:stretch>
            <a:fillRect/>
          </a:stretch>
        </p:blipFill>
        <p:spPr>
          <a:xfrm>
            <a:off x="3600450" y="3783330"/>
            <a:ext cx="251460" cy="251460"/>
          </a:xfrm>
          <a:prstGeom prst="rect">
            <a:avLst/>
          </a:prstGeom>
        </p:spPr>
      </p:pic>
      <p:sp>
        <p:nvSpPr>
          <p:cNvPr id="41" name="Text 31"/>
          <p:cNvSpPr txBox="1"/>
          <p:nvPr/>
        </p:nvSpPr>
        <p:spPr>
          <a:xfrm>
            <a:off x="4160520" y="358444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Agents</a:t>
            </a:r>
            <a:endParaRPr lang="en-US" sz="1400" dirty="0"/>
          </a:p>
        </p:txBody>
      </p:sp>
      <p:sp>
        <p:nvSpPr>
          <p:cNvPr id="42" name="Text 32"/>
          <p:cNvSpPr txBox="1"/>
          <p:nvPr/>
        </p:nvSpPr>
        <p:spPr>
          <a:xfrm>
            <a:off x="4160520" y="3886200"/>
            <a:ext cx="1600200" cy="457200"/>
          </a:xfrm>
          <a:prstGeom prst="rect">
            <a:avLst/>
          </a:prstGeom>
          <a:noFill/>
          <a:ln/>
        </p:spPr>
        <p:txBody>
          <a:bodyPr wrap="square" lIns="0" tIns="0" rIns="0" bIns="0" rtlCol="0" anchor="t"/>
          <a:lstStyle/>
          <a:p>
            <a:pPr indent="0" marL="0">
              <a:buNone/>
            </a:pPr>
            <a:r>
              <a:rPr lang="en-US" sz="1200" dirty="0">
                <a:solidFill>
                  <a:schemeClr val="tx2"/>
                </a:solidFill>
              </a:rPr>
              <a:t>Tool calling, MCP</a:t>
            </a:r>
            <a:endParaRPr lang="en-US" sz="1200" dirty="0"/>
          </a:p>
        </p:txBody>
      </p:sp>
      <p:sp>
        <p:nvSpPr>
          <p:cNvPr id="43" name="card"/>
          <p:cNvSpPr/>
          <p:nvPr/>
        </p:nvSpPr>
        <p:spPr>
          <a:xfrm>
            <a:off x="6126480" y="3429000"/>
            <a:ext cx="256032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4" name="stack icon"/>
          <p:cNvSpPr/>
          <p:nvPr/>
        </p:nvSpPr>
        <p:spPr>
          <a:xfrm>
            <a:off x="6309360" y="3657600"/>
            <a:ext cx="502920" cy="502920"/>
          </a:xfrm>
          <a:prstGeom prst="ellipse">
            <a:avLst/>
          </a:prstGeom>
          <a:solidFill>
            <a:schemeClr val="accent2"/>
          </a:solidFill>
          <a:ln w="12700">
            <a:solidFill>
              <a:schemeClr val="accent2"/>
            </a:solidFill>
            <a:prstDash val="solid"/>
          </a:ln>
        </p:spPr>
      </p:sp>
      <p:pic>
        <p:nvPicPr>
          <p:cNvPr id="45" name="Image 8" descr="icon">    </p:cNvPr>
          <p:cNvPicPr>
            <a:picLocks noChangeAspect="1"/>
          </p:cNvPicPr>
          <p:nvPr/>
        </p:nvPicPr>
        <p:blipFill>
          <a:blip r:embed="rId9"/>
          <a:stretch>
            <a:fillRect/>
          </a:stretch>
        </p:blipFill>
        <p:spPr>
          <a:xfrm>
            <a:off x="6435090" y="3783330"/>
            <a:ext cx="251460" cy="251460"/>
          </a:xfrm>
          <a:prstGeom prst="rect">
            <a:avLst/>
          </a:prstGeom>
        </p:spPr>
      </p:pic>
      <p:sp>
        <p:nvSpPr>
          <p:cNvPr id="46" name="Text 35"/>
          <p:cNvSpPr txBox="1"/>
          <p:nvPr/>
        </p:nvSpPr>
        <p:spPr>
          <a:xfrm>
            <a:off x="6995160" y="3584448"/>
            <a:ext cx="1600200" cy="274320"/>
          </a:xfrm>
          <a:prstGeom prst="rect">
            <a:avLst/>
          </a:prstGeom>
          <a:noFill/>
          <a:ln/>
        </p:spPr>
        <p:txBody>
          <a:bodyPr wrap="square" lIns="0" tIns="0" rIns="0" bIns="0" rtlCol="0" anchor="ctr"/>
          <a:lstStyle/>
          <a:p>
            <a:pPr indent="0" marL="0">
              <a:buNone/>
            </a:pPr>
            <a:r>
              <a:rPr lang="en-US" sz="1400" b="1" dirty="0">
                <a:solidFill>
                  <a:schemeClr val="tx1"/>
                </a:solidFill>
              </a:rPr>
              <a:t>Operations</a:t>
            </a:r>
            <a:endParaRPr lang="en-US" sz="1400" dirty="0"/>
          </a:p>
        </p:txBody>
      </p:sp>
      <p:sp>
        <p:nvSpPr>
          <p:cNvPr id="47" name="Text 36"/>
          <p:cNvSpPr txBox="1"/>
          <p:nvPr/>
        </p:nvSpPr>
        <p:spPr>
          <a:xfrm>
            <a:off x="6995160" y="3886200"/>
            <a:ext cx="1600200" cy="457200"/>
          </a:xfrm>
          <a:prstGeom prst="rect">
            <a:avLst/>
          </a:prstGeom>
          <a:noFill/>
          <a:ln/>
        </p:spPr>
        <p:txBody>
          <a:bodyPr wrap="square" lIns="0" tIns="0" rIns="0" bIns="0" rtlCol="0" anchor="t"/>
          <a:lstStyle/>
          <a:p>
            <a:pPr indent="0" marL="0">
              <a:buNone/>
            </a:pPr>
            <a:r>
              <a:rPr lang="en-US" sz="1200" dirty="0">
                <a:solidFill>
                  <a:schemeClr val="tx2"/>
                </a:solidFill>
              </a:rPr>
              <a:t>CI/CD, logs, tracing, monitoring</a:t>
            </a:r>
            <a:endParaRPr lang="en-US" sz="1200" dirty="0"/>
          </a:p>
        </p:txBody>
      </p:sp>
      <p:sp>
        <p:nvSpPr>
          <p:cNvPr id="48" name="Text 37"/>
          <p:cNvSpPr txBox="1"/>
          <p:nvPr/>
        </p:nvSpPr>
        <p:spPr>
          <a:xfrm>
            <a:off x="457200" y="4553712"/>
            <a:ext cx="7680960" cy="274320"/>
          </a:xfrm>
          <a:prstGeom prst="rect">
            <a:avLst/>
          </a:prstGeom>
          <a:noFill/>
          <a:ln/>
        </p:spPr>
        <p:txBody>
          <a:bodyPr wrap="square" lIns="0" tIns="0" rIns="0" bIns="0" rtlCol="0" anchor="ctr"/>
          <a:lstStyle/>
          <a:p>
            <a:pPr indent="0" marL="0">
              <a:buNone/>
            </a:pPr>
            <a:r>
              <a:rPr lang="en-US" sz="1200" i="1" dirty="0">
                <a:solidFill>
                  <a:schemeClr val="tx2"/>
                </a:solidFill>
              </a:rPr>
              <a:t>No single mandatory stack: learn the concepts first, then adapt to the customer's environment.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How long will it take?</a:t>
            </a:r>
            <a:endParaRPr lang="en-US" sz="3400" dirty="0"/>
          </a:p>
        </p:txBody>
      </p:sp>
      <p:sp>
        <p:nvSpPr>
          <p:cNvPr id="3" name="Text 1"/>
          <p:cNvSpPr txBox="1"/>
          <p:nvPr/>
        </p:nvSpPr>
        <p:spPr>
          <a:xfrm>
            <a:off x="457200" y="1234440"/>
            <a:ext cx="2377440" cy="320040"/>
          </a:xfrm>
          <a:prstGeom prst="rect">
            <a:avLst/>
          </a:prstGeom>
          <a:noFill/>
          <a:ln/>
        </p:spPr>
        <p:txBody>
          <a:bodyPr wrap="square" lIns="0" tIns="0" rIns="0" bIns="0" rtlCol="0" anchor="ctr"/>
          <a:lstStyle/>
          <a:p>
            <a:pPr indent="0" marL="0">
              <a:buNone/>
            </a:pPr>
            <a:r>
              <a:rPr lang="en-US" sz="1600" b="1" dirty="0">
                <a:solidFill>
                  <a:schemeClr val="tx1"/>
                </a:solidFill>
              </a:rPr>
              <a:t>Starting from zero</a:t>
            </a:r>
            <a:endParaRPr lang="en-US" sz="1600" dirty="0"/>
          </a:p>
        </p:txBody>
      </p:sp>
      <p:sp>
        <p:nvSpPr>
          <p:cNvPr id="4" name="Text 2"/>
          <p:cNvSpPr txBox="1"/>
          <p:nvPr/>
        </p:nvSpPr>
        <p:spPr>
          <a:xfrm>
            <a:off x="457200" y="1554480"/>
            <a:ext cx="2377440" cy="274320"/>
          </a:xfrm>
          <a:prstGeom prst="rect">
            <a:avLst/>
          </a:prstGeom>
          <a:noFill/>
          <a:ln/>
        </p:spPr>
        <p:txBody>
          <a:bodyPr wrap="square" lIns="0" tIns="0" rIns="0" bIns="0" rtlCol="0" anchor="ctr"/>
          <a:lstStyle/>
          <a:p>
            <a:pPr indent="0" marL="0">
              <a:buNone/>
            </a:pPr>
            <a:r>
              <a:rPr lang="en-US" sz="1200" dirty="0">
                <a:solidFill>
                  <a:schemeClr val="tx2"/>
                </a:solidFill>
              </a:rPr>
              <a:t>No coding background</a:t>
            </a:r>
            <a:endParaRPr lang="en-US" sz="1200" dirty="0"/>
          </a:p>
        </p:txBody>
      </p:sp>
      <p:sp>
        <p:nvSpPr>
          <p:cNvPr id="5" name="duration bar"/>
          <p:cNvSpPr/>
          <p:nvPr/>
        </p:nvSpPr>
        <p:spPr>
          <a:xfrm>
            <a:off x="2926080" y="1280160"/>
            <a:ext cx="3511296" cy="502920"/>
          </a:xfrm>
          <a:prstGeom prst="roundRect">
            <a:avLst>
              <a:gd name="adj" fmla="val 18182"/>
            </a:avLst>
          </a:prstGeom>
          <a:solidFill>
            <a:schemeClr val="accent3"/>
          </a:solidFill>
          <a:ln w="12700">
            <a:solidFill>
              <a:schemeClr val="accent3"/>
            </a:solidFill>
            <a:prstDash val="solid"/>
          </a:ln>
        </p:spPr>
      </p:sp>
      <p:sp>
        <p:nvSpPr>
          <p:cNvPr id="6" name="Text 4"/>
          <p:cNvSpPr txBox="1"/>
          <p:nvPr/>
        </p:nvSpPr>
        <p:spPr>
          <a:xfrm>
            <a:off x="6574536" y="1280160"/>
            <a:ext cx="2011680" cy="502920"/>
          </a:xfrm>
          <a:prstGeom prst="rect">
            <a:avLst/>
          </a:prstGeom>
          <a:noFill/>
          <a:ln/>
        </p:spPr>
        <p:txBody>
          <a:bodyPr wrap="square" lIns="0" tIns="0" rIns="0" bIns="0" rtlCol="0" anchor="ctr"/>
          <a:lstStyle/>
          <a:p>
            <a:pPr indent="0" marL="0">
              <a:buNone/>
            </a:pPr>
            <a:r>
              <a:rPr lang="en-US" sz="1600" b="1" dirty="0">
                <a:solidFill>
                  <a:schemeClr val="tx1"/>
                </a:solidFill>
              </a:rPr>
              <a:t>12 to 24 months</a:t>
            </a:r>
            <a:endParaRPr lang="en-US" sz="1600" dirty="0"/>
          </a:p>
        </p:txBody>
      </p:sp>
      <p:sp>
        <p:nvSpPr>
          <p:cNvPr id="7" name="Text 5"/>
          <p:cNvSpPr txBox="1"/>
          <p:nvPr/>
        </p:nvSpPr>
        <p:spPr>
          <a:xfrm>
            <a:off x="457200" y="1938528"/>
            <a:ext cx="2377440" cy="320040"/>
          </a:xfrm>
          <a:prstGeom prst="rect">
            <a:avLst/>
          </a:prstGeom>
          <a:noFill/>
          <a:ln/>
        </p:spPr>
        <p:txBody>
          <a:bodyPr wrap="square" lIns="0" tIns="0" rIns="0" bIns="0" rtlCol="0" anchor="ctr"/>
          <a:lstStyle/>
          <a:p>
            <a:pPr indent="0" marL="0">
              <a:buNone/>
            </a:pPr>
            <a:r>
              <a:rPr lang="en-US" sz="1600" b="1" dirty="0">
                <a:solidFill>
                  <a:schemeClr val="tx1"/>
                </a:solidFill>
              </a:rPr>
              <a:t>Software engineer</a:t>
            </a:r>
            <a:endParaRPr lang="en-US" sz="1600" dirty="0"/>
          </a:p>
        </p:txBody>
      </p:sp>
      <p:sp>
        <p:nvSpPr>
          <p:cNvPr id="8" name="Text 6"/>
          <p:cNvSpPr txBox="1"/>
          <p:nvPr/>
        </p:nvSpPr>
        <p:spPr>
          <a:xfrm>
            <a:off x="457200" y="2258568"/>
            <a:ext cx="2377440" cy="274320"/>
          </a:xfrm>
          <a:prstGeom prst="rect">
            <a:avLst/>
          </a:prstGeom>
          <a:noFill/>
          <a:ln/>
        </p:spPr>
        <p:txBody>
          <a:bodyPr wrap="square" lIns="0" tIns="0" rIns="0" bIns="0" rtlCol="0" anchor="ctr"/>
          <a:lstStyle/>
          <a:p>
            <a:pPr indent="0" marL="0">
              <a:buNone/>
            </a:pPr>
            <a:r>
              <a:rPr lang="en-US" sz="1200" dirty="0">
                <a:solidFill>
                  <a:schemeClr val="tx2"/>
                </a:solidFill>
              </a:rPr>
              <a:t>1 to 3 years experience</a:t>
            </a:r>
            <a:endParaRPr lang="en-US" sz="1200" dirty="0"/>
          </a:p>
        </p:txBody>
      </p:sp>
      <p:sp>
        <p:nvSpPr>
          <p:cNvPr id="9" name="duration bar"/>
          <p:cNvSpPr/>
          <p:nvPr/>
        </p:nvSpPr>
        <p:spPr>
          <a:xfrm>
            <a:off x="2926080" y="1984248"/>
            <a:ext cx="877824" cy="502920"/>
          </a:xfrm>
          <a:prstGeom prst="roundRect">
            <a:avLst>
              <a:gd name="adj" fmla="val 18182"/>
            </a:avLst>
          </a:prstGeom>
          <a:solidFill>
            <a:schemeClr val="accent4"/>
          </a:solidFill>
          <a:ln w="12700">
            <a:solidFill>
              <a:schemeClr val="accent4"/>
            </a:solidFill>
            <a:prstDash val="solid"/>
          </a:ln>
        </p:spPr>
      </p:sp>
      <p:sp>
        <p:nvSpPr>
          <p:cNvPr id="10" name="Text 8"/>
          <p:cNvSpPr txBox="1"/>
          <p:nvPr/>
        </p:nvSpPr>
        <p:spPr>
          <a:xfrm>
            <a:off x="3941064" y="1984248"/>
            <a:ext cx="2011680" cy="502920"/>
          </a:xfrm>
          <a:prstGeom prst="rect">
            <a:avLst/>
          </a:prstGeom>
          <a:noFill/>
          <a:ln/>
        </p:spPr>
        <p:txBody>
          <a:bodyPr wrap="square" lIns="0" tIns="0" rIns="0" bIns="0" rtlCol="0" anchor="ctr"/>
          <a:lstStyle/>
          <a:p>
            <a:pPr indent="0" marL="0">
              <a:buNone/>
            </a:pPr>
            <a:r>
              <a:rPr lang="en-US" sz="1600" b="1" dirty="0">
                <a:solidFill>
                  <a:schemeClr val="tx1"/>
                </a:solidFill>
              </a:rPr>
              <a:t>4 to 6 months</a:t>
            </a:r>
            <a:endParaRPr lang="en-US" sz="1600" dirty="0"/>
          </a:p>
        </p:txBody>
      </p:sp>
      <p:sp>
        <p:nvSpPr>
          <p:cNvPr id="11" name="Text 9"/>
          <p:cNvSpPr txBox="1"/>
          <p:nvPr/>
        </p:nvSpPr>
        <p:spPr>
          <a:xfrm>
            <a:off x="457200" y="2642616"/>
            <a:ext cx="2377440" cy="320040"/>
          </a:xfrm>
          <a:prstGeom prst="rect">
            <a:avLst/>
          </a:prstGeom>
          <a:noFill/>
          <a:ln/>
        </p:spPr>
        <p:txBody>
          <a:bodyPr wrap="square" lIns="0" tIns="0" rIns="0" bIns="0" rtlCol="0" anchor="ctr"/>
          <a:lstStyle/>
          <a:p>
            <a:pPr indent="0" marL="0">
              <a:buNone/>
            </a:pPr>
            <a:r>
              <a:rPr lang="en-US" sz="1600" b="1" dirty="0">
                <a:solidFill>
                  <a:schemeClr val="tx1"/>
                </a:solidFill>
              </a:rPr>
              <a:t>Senior engineer</a:t>
            </a:r>
            <a:endParaRPr lang="en-US" sz="1600" dirty="0"/>
          </a:p>
        </p:txBody>
      </p:sp>
      <p:sp>
        <p:nvSpPr>
          <p:cNvPr id="12" name="Text 10"/>
          <p:cNvSpPr txBox="1"/>
          <p:nvPr/>
        </p:nvSpPr>
        <p:spPr>
          <a:xfrm>
            <a:off x="457200" y="2962656"/>
            <a:ext cx="2377440" cy="274320"/>
          </a:xfrm>
          <a:prstGeom prst="rect">
            <a:avLst/>
          </a:prstGeom>
          <a:noFill/>
          <a:ln/>
        </p:spPr>
        <p:txBody>
          <a:bodyPr wrap="square" lIns="0" tIns="0" rIns="0" bIns="0" rtlCol="0" anchor="ctr"/>
          <a:lstStyle/>
          <a:p>
            <a:pPr indent="0" marL="0">
              <a:buNone/>
            </a:pPr>
            <a:r>
              <a:rPr lang="en-US" sz="1200" dirty="0">
                <a:solidFill>
                  <a:schemeClr val="tx2"/>
                </a:solidFill>
              </a:rPr>
              <a:t>Tech lead level</a:t>
            </a:r>
            <a:endParaRPr lang="en-US" sz="1200" dirty="0"/>
          </a:p>
        </p:txBody>
      </p:sp>
      <p:sp>
        <p:nvSpPr>
          <p:cNvPr id="13" name="duration bar"/>
          <p:cNvSpPr/>
          <p:nvPr/>
        </p:nvSpPr>
        <p:spPr>
          <a:xfrm>
            <a:off x="2926080" y="2688336"/>
            <a:ext cx="438912" cy="502920"/>
          </a:xfrm>
          <a:prstGeom prst="roundRect">
            <a:avLst>
              <a:gd name="adj" fmla="val 20833"/>
            </a:avLst>
          </a:prstGeom>
          <a:solidFill>
            <a:schemeClr val="accent1"/>
          </a:solidFill>
          <a:ln w="12700">
            <a:solidFill>
              <a:schemeClr val="accent1"/>
            </a:solidFill>
            <a:prstDash val="solid"/>
          </a:ln>
        </p:spPr>
      </p:sp>
      <p:sp>
        <p:nvSpPr>
          <p:cNvPr id="14" name="Text 12"/>
          <p:cNvSpPr txBox="1"/>
          <p:nvPr/>
        </p:nvSpPr>
        <p:spPr>
          <a:xfrm>
            <a:off x="3502152" y="2688336"/>
            <a:ext cx="2011680" cy="502920"/>
          </a:xfrm>
          <a:prstGeom prst="rect">
            <a:avLst/>
          </a:prstGeom>
          <a:noFill/>
          <a:ln/>
        </p:spPr>
        <p:txBody>
          <a:bodyPr wrap="square" lIns="0" tIns="0" rIns="0" bIns="0" rtlCol="0" anchor="ctr"/>
          <a:lstStyle/>
          <a:p>
            <a:pPr indent="0" marL="0">
              <a:buNone/>
            </a:pPr>
            <a:r>
              <a:rPr lang="en-US" sz="1600" b="1" dirty="0">
                <a:solidFill>
                  <a:schemeClr val="tx1"/>
                </a:solidFill>
              </a:rPr>
              <a:t>2 to 3 months</a:t>
            </a:r>
            <a:endParaRPr lang="en-US" sz="1600" dirty="0"/>
          </a:p>
        </p:txBody>
      </p:sp>
      <p:sp>
        <p:nvSpPr>
          <p:cNvPr id="15" name="Text 13"/>
          <p:cNvSpPr txBox="1"/>
          <p:nvPr/>
        </p:nvSpPr>
        <p:spPr>
          <a:xfrm>
            <a:off x="457200" y="3346704"/>
            <a:ext cx="2377440" cy="320040"/>
          </a:xfrm>
          <a:prstGeom prst="rect">
            <a:avLst/>
          </a:prstGeom>
          <a:noFill/>
          <a:ln/>
        </p:spPr>
        <p:txBody>
          <a:bodyPr wrap="square" lIns="0" tIns="0" rIns="0" bIns="0" rtlCol="0" anchor="ctr"/>
          <a:lstStyle/>
          <a:p>
            <a:pPr indent="0" marL="0">
              <a:buNone/>
            </a:pPr>
            <a:r>
              <a:rPr lang="en-US" sz="1600" b="1" dirty="0">
                <a:solidFill>
                  <a:schemeClr val="tx1"/>
                </a:solidFill>
              </a:rPr>
              <a:t>Already coding</a:t>
            </a:r>
            <a:endParaRPr lang="en-US" sz="1600" dirty="0"/>
          </a:p>
        </p:txBody>
      </p:sp>
      <p:sp>
        <p:nvSpPr>
          <p:cNvPr id="16" name="Text 14"/>
          <p:cNvSpPr txBox="1"/>
          <p:nvPr/>
        </p:nvSpPr>
        <p:spPr>
          <a:xfrm>
            <a:off x="457200" y="3666744"/>
            <a:ext cx="2377440" cy="274320"/>
          </a:xfrm>
          <a:prstGeom prst="rect">
            <a:avLst/>
          </a:prstGeom>
          <a:noFill/>
          <a:ln/>
        </p:spPr>
        <p:txBody>
          <a:bodyPr wrap="square" lIns="0" tIns="0" rIns="0" bIns="0" rtlCol="0" anchor="ctr"/>
          <a:lstStyle/>
          <a:p>
            <a:pPr indent="0" marL="0">
              <a:buNone/>
            </a:pPr>
            <a:r>
              <a:rPr lang="en-US" sz="1200" dirty="0">
                <a:solidFill>
                  <a:schemeClr val="tx2"/>
                </a:solidFill>
              </a:rPr>
              <a:t>Focused 45-day sprint</a:t>
            </a:r>
            <a:endParaRPr lang="en-US" sz="1200" dirty="0"/>
          </a:p>
        </p:txBody>
      </p:sp>
      <p:sp>
        <p:nvSpPr>
          <p:cNvPr id="17" name="duration bar"/>
          <p:cNvSpPr/>
          <p:nvPr/>
        </p:nvSpPr>
        <p:spPr>
          <a:xfrm>
            <a:off x="2926080" y="3392424"/>
            <a:ext cx="320040" cy="502920"/>
          </a:xfrm>
          <a:prstGeom prst="roundRect">
            <a:avLst>
              <a:gd name="adj" fmla="val 28571"/>
            </a:avLst>
          </a:prstGeom>
          <a:solidFill>
            <a:schemeClr val="accent2"/>
          </a:solidFill>
          <a:ln w="12700">
            <a:solidFill>
              <a:schemeClr val="accent2"/>
            </a:solidFill>
            <a:prstDash val="solid"/>
          </a:ln>
        </p:spPr>
      </p:sp>
      <p:sp>
        <p:nvSpPr>
          <p:cNvPr id="18" name="Text 16"/>
          <p:cNvSpPr txBox="1"/>
          <p:nvPr/>
        </p:nvSpPr>
        <p:spPr>
          <a:xfrm>
            <a:off x="3383280" y="3392424"/>
            <a:ext cx="2011680" cy="502920"/>
          </a:xfrm>
          <a:prstGeom prst="rect">
            <a:avLst/>
          </a:prstGeom>
          <a:noFill/>
          <a:ln/>
        </p:spPr>
        <p:txBody>
          <a:bodyPr wrap="square" lIns="0" tIns="0" rIns="0" bIns="0" rtlCol="0" anchor="ctr"/>
          <a:lstStyle/>
          <a:p>
            <a:pPr indent="0" marL="0">
              <a:buNone/>
            </a:pPr>
            <a:r>
              <a:rPr lang="en-US" sz="1600" b="1" dirty="0">
                <a:solidFill>
                  <a:schemeClr val="tx1"/>
                </a:solidFill>
              </a:rPr>
              <a:t>45 days</a:t>
            </a:r>
            <a:endParaRPr lang="en-US" sz="1600" dirty="0"/>
          </a:p>
        </p:txBody>
      </p:sp>
      <p:sp>
        <p:nvSpPr>
          <p:cNvPr id="19" name="card"/>
          <p:cNvSpPr/>
          <p:nvPr/>
        </p:nvSpPr>
        <p:spPr>
          <a:xfrm>
            <a:off x="457200" y="4114800"/>
            <a:ext cx="8229600" cy="457200"/>
          </a:xfrm>
          <a:prstGeom prst="roundRect">
            <a:avLst>
              <a:gd name="adj" fmla="val 24000"/>
            </a:avLst>
          </a:prstGeom>
          <a:solidFill>
            <a:schemeClr val="bg2"/>
          </a:solidFill>
          <a:ln w="12700">
            <a:solidFill>
              <a:schemeClr val="bg2"/>
            </a:solidFill>
            <a:prstDash val="solid"/>
          </a:ln>
        </p:spPr>
      </p:sp>
      <p:sp>
        <p:nvSpPr>
          <p:cNvPr id="20" name="Text 18"/>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400" b="1" dirty="0">
                <a:solidFill>
                  <a:schemeClr val="tx1"/>
                </a:solidFill>
              </a:rPr>
              <a:t>Advance when you can show a working result at each stage, not when you finish a tutorial.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Prove it with projects</a:t>
            </a:r>
            <a:endParaRPr lang="en-US" sz="3400" dirty="0"/>
          </a:p>
        </p:txBody>
      </p:sp>
      <p:sp>
        <p:nvSpPr>
          <p:cNvPr id="3" name="card"/>
          <p:cNvSpPr/>
          <p:nvPr/>
        </p:nvSpPr>
        <p:spPr>
          <a:xfrm>
            <a:off x="457200" y="1234440"/>
            <a:ext cx="4389120" cy="566928"/>
          </a:xfrm>
          <a:prstGeom prst="roundRect">
            <a:avLst>
              <a:gd name="adj" fmla="val 193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project icon"/>
          <p:cNvSpPr/>
          <p:nvPr/>
        </p:nvSpPr>
        <p:spPr>
          <a:xfrm>
            <a:off x="594360" y="1298448"/>
            <a:ext cx="438912" cy="438912"/>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04088" y="1408176"/>
            <a:ext cx="219456" cy="219456"/>
          </a:xfrm>
          <a:prstGeom prst="rect">
            <a:avLst/>
          </a:prstGeom>
        </p:spPr>
      </p:pic>
      <p:sp>
        <p:nvSpPr>
          <p:cNvPr id="6" name="Text 3"/>
          <p:cNvSpPr txBox="1"/>
          <p:nvPr/>
        </p:nvSpPr>
        <p:spPr>
          <a:xfrm>
            <a:off x="1188720" y="1271016"/>
            <a:ext cx="3566160" cy="274320"/>
          </a:xfrm>
          <a:prstGeom prst="rect">
            <a:avLst/>
          </a:prstGeom>
          <a:noFill/>
          <a:ln/>
        </p:spPr>
        <p:txBody>
          <a:bodyPr wrap="square" lIns="0" tIns="0" rIns="0" bIns="0" rtlCol="0" anchor="ctr"/>
          <a:lstStyle/>
          <a:p>
            <a:pPr indent="0" marL="0">
              <a:buNone/>
            </a:pPr>
            <a:r>
              <a:rPr lang="en-US" sz="1400" b="1" dirty="0">
                <a:solidFill>
                  <a:schemeClr val="tx1"/>
                </a:solidFill>
              </a:rPr>
              <a:t>Enterprise RAG app</a:t>
            </a:r>
            <a:endParaRPr lang="en-US" sz="1400" dirty="0"/>
          </a:p>
        </p:txBody>
      </p:sp>
      <p:sp>
        <p:nvSpPr>
          <p:cNvPr id="7" name="Text 4"/>
          <p:cNvSpPr txBox="1"/>
          <p:nvPr/>
        </p:nvSpPr>
        <p:spPr>
          <a:xfrm>
            <a:off x="1188720" y="1536192"/>
            <a:ext cx="3566160" cy="228600"/>
          </a:xfrm>
          <a:prstGeom prst="rect">
            <a:avLst/>
          </a:prstGeom>
          <a:noFill/>
          <a:ln/>
        </p:spPr>
        <p:txBody>
          <a:bodyPr wrap="square" lIns="0" tIns="0" rIns="0" bIns="0" rtlCol="0" anchor="ctr"/>
          <a:lstStyle/>
          <a:p>
            <a:pPr indent="0" marL="0">
              <a:buNone/>
            </a:pPr>
            <a:r>
              <a:rPr lang="en-US" sz="1200" dirty="0">
                <a:solidFill>
                  <a:schemeClr val="tx2"/>
                </a:solidFill>
              </a:rPr>
              <a:t>Ingestion, citations, evaluation</a:t>
            </a:r>
            <a:endParaRPr lang="en-US" sz="1200" dirty="0"/>
          </a:p>
        </p:txBody>
      </p:sp>
      <p:sp>
        <p:nvSpPr>
          <p:cNvPr id="8" name="card"/>
          <p:cNvSpPr/>
          <p:nvPr/>
        </p:nvSpPr>
        <p:spPr>
          <a:xfrm>
            <a:off x="457200" y="1892808"/>
            <a:ext cx="4389120" cy="566928"/>
          </a:xfrm>
          <a:prstGeom prst="roundRect">
            <a:avLst>
              <a:gd name="adj" fmla="val 193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project icon"/>
          <p:cNvSpPr/>
          <p:nvPr/>
        </p:nvSpPr>
        <p:spPr>
          <a:xfrm>
            <a:off x="594360" y="1956816"/>
            <a:ext cx="438912" cy="438912"/>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704088" y="2066544"/>
            <a:ext cx="219456" cy="219456"/>
          </a:xfrm>
          <a:prstGeom prst="rect">
            <a:avLst/>
          </a:prstGeom>
        </p:spPr>
      </p:pic>
      <p:sp>
        <p:nvSpPr>
          <p:cNvPr id="11" name="Text 7"/>
          <p:cNvSpPr txBox="1"/>
          <p:nvPr/>
        </p:nvSpPr>
        <p:spPr>
          <a:xfrm>
            <a:off x="1188720" y="1929384"/>
            <a:ext cx="3566160" cy="274320"/>
          </a:xfrm>
          <a:prstGeom prst="rect">
            <a:avLst/>
          </a:prstGeom>
          <a:noFill/>
          <a:ln/>
        </p:spPr>
        <p:txBody>
          <a:bodyPr wrap="square" lIns="0" tIns="0" rIns="0" bIns="0" rtlCol="0" anchor="ctr"/>
          <a:lstStyle/>
          <a:p>
            <a:pPr indent="0" marL="0">
              <a:buNone/>
            </a:pPr>
            <a:r>
              <a:rPr lang="en-US" sz="1400" b="1" dirty="0">
                <a:solidFill>
                  <a:schemeClr val="tx1"/>
                </a:solidFill>
              </a:rPr>
              <a:t>AI agent</a:t>
            </a:r>
            <a:endParaRPr lang="en-US" sz="1400" dirty="0"/>
          </a:p>
        </p:txBody>
      </p:sp>
      <p:sp>
        <p:nvSpPr>
          <p:cNvPr id="12" name="Text 8"/>
          <p:cNvSpPr txBox="1"/>
          <p:nvPr/>
        </p:nvSpPr>
        <p:spPr>
          <a:xfrm>
            <a:off x="1188720" y="2194560"/>
            <a:ext cx="3566160" cy="228600"/>
          </a:xfrm>
          <a:prstGeom prst="rect">
            <a:avLst/>
          </a:prstGeom>
          <a:noFill/>
          <a:ln/>
        </p:spPr>
        <p:txBody>
          <a:bodyPr wrap="square" lIns="0" tIns="0" rIns="0" bIns="0" rtlCol="0" anchor="ctr"/>
          <a:lstStyle/>
          <a:p>
            <a:pPr indent="0" marL="0">
              <a:buNone/>
            </a:pPr>
            <a:r>
              <a:rPr lang="en-US" sz="1200" dirty="0">
                <a:solidFill>
                  <a:schemeClr val="tx2"/>
                </a:solidFill>
              </a:rPr>
              <a:t>Tools, workflow state, safe failures</a:t>
            </a:r>
            <a:endParaRPr lang="en-US" sz="1200" dirty="0"/>
          </a:p>
        </p:txBody>
      </p:sp>
      <p:sp>
        <p:nvSpPr>
          <p:cNvPr id="13" name="card"/>
          <p:cNvSpPr/>
          <p:nvPr/>
        </p:nvSpPr>
        <p:spPr>
          <a:xfrm>
            <a:off x="457200" y="2551176"/>
            <a:ext cx="4389120" cy="566928"/>
          </a:xfrm>
          <a:prstGeom prst="roundRect">
            <a:avLst>
              <a:gd name="adj" fmla="val 193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project icon"/>
          <p:cNvSpPr/>
          <p:nvPr/>
        </p:nvSpPr>
        <p:spPr>
          <a:xfrm>
            <a:off x="594360" y="2615184"/>
            <a:ext cx="438912" cy="438912"/>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704088" y="2724912"/>
            <a:ext cx="219456" cy="219456"/>
          </a:xfrm>
          <a:prstGeom prst="rect">
            <a:avLst/>
          </a:prstGeom>
        </p:spPr>
      </p:pic>
      <p:sp>
        <p:nvSpPr>
          <p:cNvPr id="16" name="Text 11"/>
          <p:cNvSpPr txBox="1"/>
          <p:nvPr/>
        </p:nvSpPr>
        <p:spPr>
          <a:xfrm>
            <a:off x="1188720" y="2587752"/>
            <a:ext cx="3566160" cy="274320"/>
          </a:xfrm>
          <a:prstGeom prst="rect">
            <a:avLst/>
          </a:prstGeom>
          <a:noFill/>
          <a:ln/>
        </p:spPr>
        <p:txBody>
          <a:bodyPr wrap="square" lIns="0" tIns="0" rIns="0" bIns="0" rtlCol="0" anchor="ctr"/>
          <a:lstStyle/>
          <a:p>
            <a:pPr indent="0" marL="0">
              <a:buNone/>
            </a:pPr>
            <a:r>
              <a:rPr lang="en-US" sz="1400" b="1" dirty="0">
                <a:solidFill>
                  <a:schemeClr val="tx1"/>
                </a:solidFill>
              </a:rPr>
              <a:t>API integration</a:t>
            </a:r>
            <a:endParaRPr lang="en-US" sz="1400" dirty="0"/>
          </a:p>
        </p:txBody>
      </p:sp>
      <p:sp>
        <p:nvSpPr>
          <p:cNvPr id="17" name="Text 12"/>
          <p:cNvSpPr txBox="1"/>
          <p:nvPr/>
        </p:nvSpPr>
        <p:spPr>
          <a:xfrm>
            <a:off x="1188720" y="2852928"/>
            <a:ext cx="3566160" cy="228600"/>
          </a:xfrm>
          <a:prstGeom prst="rect">
            <a:avLst/>
          </a:prstGeom>
          <a:noFill/>
          <a:ln/>
        </p:spPr>
        <p:txBody>
          <a:bodyPr wrap="square" lIns="0" tIns="0" rIns="0" bIns="0" rtlCol="0" anchor="ctr"/>
          <a:lstStyle/>
          <a:p>
            <a:pPr indent="0" marL="0">
              <a:buNone/>
            </a:pPr>
            <a:r>
              <a:rPr lang="en-US" sz="1200" dirty="0">
                <a:solidFill>
                  <a:schemeClr val="tx2"/>
                </a:solidFill>
              </a:rPr>
              <a:t>Auth, retries, logging, validation</a:t>
            </a:r>
            <a:endParaRPr lang="en-US" sz="1200" dirty="0"/>
          </a:p>
        </p:txBody>
      </p:sp>
      <p:sp>
        <p:nvSpPr>
          <p:cNvPr id="18" name="card"/>
          <p:cNvSpPr/>
          <p:nvPr/>
        </p:nvSpPr>
        <p:spPr>
          <a:xfrm>
            <a:off x="457200" y="3209544"/>
            <a:ext cx="4389120" cy="566928"/>
          </a:xfrm>
          <a:prstGeom prst="roundRect">
            <a:avLst>
              <a:gd name="adj" fmla="val 193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project icon"/>
          <p:cNvSpPr/>
          <p:nvPr/>
        </p:nvSpPr>
        <p:spPr>
          <a:xfrm>
            <a:off x="594360" y="3273552"/>
            <a:ext cx="438912" cy="438912"/>
          </a:xfrm>
          <a:prstGeom prst="ellipse">
            <a:avLst/>
          </a:prstGeom>
          <a:solidFill>
            <a:schemeClr val="accent1"/>
          </a:solidFill>
          <a:ln w="12700">
            <a:solidFill>
              <a:schemeClr val="accent1"/>
            </a:solidFill>
            <a:prstDash val="solid"/>
          </a:ln>
        </p:spPr>
      </p:sp>
      <p:pic>
        <p:nvPicPr>
          <p:cNvPr id="20" name="Image 3" descr="icon">    </p:cNvPr>
          <p:cNvPicPr>
            <a:picLocks noChangeAspect="1"/>
          </p:cNvPicPr>
          <p:nvPr/>
        </p:nvPicPr>
        <p:blipFill>
          <a:blip r:embed="rId4"/>
          <a:stretch>
            <a:fillRect/>
          </a:stretch>
        </p:blipFill>
        <p:spPr>
          <a:xfrm>
            <a:off x="704088" y="3383280"/>
            <a:ext cx="219456" cy="219456"/>
          </a:xfrm>
          <a:prstGeom prst="rect">
            <a:avLst/>
          </a:prstGeom>
        </p:spPr>
      </p:pic>
      <p:sp>
        <p:nvSpPr>
          <p:cNvPr id="21" name="Text 15"/>
          <p:cNvSpPr txBox="1"/>
          <p:nvPr/>
        </p:nvSpPr>
        <p:spPr>
          <a:xfrm>
            <a:off x="1188720" y="3246120"/>
            <a:ext cx="3566160" cy="274320"/>
          </a:xfrm>
          <a:prstGeom prst="rect">
            <a:avLst/>
          </a:prstGeom>
          <a:noFill/>
          <a:ln/>
        </p:spPr>
        <p:txBody>
          <a:bodyPr wrap="square" lIns="0" tIns="0" rIns="0" bIns="0" rtlCol="0" anchor="ctr"/>
          <a:lstStyle/>
          <a:p>
            <a:pPr indent="0" marL="0">
              <a:buNone/>
            </a:pPr>
            <a:r>
              <a:rPr lang="en-US" sz="1400" b="1" dirty="0">
                <a:solidFill>
                  <a:schemeClr val="tx1"/>
                </a:solidFill>
              </a:rPr>
              <a:t>Production AI deployment</a:t>
            </a:r>
            <a:endParaRPr lang="en-US" sz="1400" dirty="0"/>
          </a:p>
        </p:txBody>
      </p:sp>
      <p:sp>
        <p:nvSpPr>
          <p:cNvPr id="22" name="Text 16"/>
          <p:cNvSpPr txBox="1"/>
          <p:nvPr/>
        </p:nvSpPr>
        <p:spPr>
          <a:xfrm>
            <a:off x="1188720" y="3511296"/>
            <a:ext cx="3566160" cy="228600"/>
          </a:xfrm>
          <a:prstGeom prst="rect">
            <a:avLst/>
          </a:prstGeom>
          <a:noFill/>
          <a:ln/>
        </p:spPr>
        <p:txBody>
          <a:bodyPr wrap="square" lIns="0" tIns="0" rIns="0" bIns="0" rtlCol="0" anchor="ctr"/>
          <a:lstStyle/>
          <a:p>
            <a:pPr indent="0" marL="0">
              <a:buNone/>
            </a:pPr>
            <a:r>
              <a:rPr lang="en-US" sz="1200" dirty="0">
                <a:solidFill>
                  <a:schemeClr val="tx2"/>
                </a:solidFill>
              </a:rPr>
              <a:t>Docker, cloud, monitoring</a:t>
            </a:r>
            <a:endParaRPr lang="en-US" sz="1200" dirty="0"/>
          </a:p>
        </p:txBody>
      </p:sp>
      <p:sp>
        <p:nvSpPr>
          <p:cNvPr id="23" name="card"/>
          <p:cNvSpPr/>
          <p:nvPr/>
        </p:nvSpPr>
        <p:spPr>
          <a:xfrm>
            <a:off x="457200" y="3867912"/>
            <a:ext cx="4389120" cy="566928"/>
          </a:xfrm>
          <a:prstGeom prst="roundRect">
            <a:avLst>
              <a:gd name="adj" fmla="val 193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project icon"/>
          <p:cNvSpPr/>
          <p:nvPr/>
        </p:nvSpPr>
        <p:spPr>
          <a:xfrm>
            <a:off x="594360" y="3931920"/>
            <a:ext cx="438912" cy="438912"/>
          </a:xfrm>
          <a:prstGeom prst="ellipse">
            <a:avLst/>
          </a:prstGeom>
          <a:solidFill>
            <a:schemeClr val="accent1"/>
          </a:solidFill>
          <a:ln w="12700">
            <a:solidFill>
              <a:schemeClr val="accent1"/>
            </a:solidFill>
            <a:prstDash val="solid"/>
          </a:ln>
        </p:spPr>
      </p:sp>
      <p:pic>
        <p:nvPicPr>
          <p:cNvPr id="25" name="Image 4" descr="icon">    </p:cNvPr>
          <p:cNvPicPr>
            <a:picLocks noChangeAspect="1"/>
          </p:cNvPicPr>
          <p:nvPr/>
        </p:nvPicPr>
        <p:blipFill>
          <a:blip r:embed="rId5"/>
          <a:stretch>
            <a:fillRect/>
          </a:stretch>
        </p:blipFill>
        <p:spPr>
          <a:xfrm>
            <a:off x="704088" y="4041648"/>
            <a:ext cx="219456" cy="219456"/>
          </a:xfrm>
          <a:prstGeom prst="rect">
            <a:avLst/>
          </a:prstGeom>
        </p:spPr>
      </p:pic>
      <p:sp>
        <p:nvSpPr>
          <p:cNvPr id="26" name="Text 19"/>
          <p:cNvSpPr txBox="1"/>
          <p:nvPr/>
        </p:nvSpPr>
        <p:spPr>
          <a:xfrm>
            <a:off x="1188720" y="3904488"/>
            <a:ext cx="3566160" cy="274320"/>
          </a:xfrm>
          <a:prstGeom prst="rect">
            <a:avLst/>
          </a:prstGeom>
          <a:noFill/>
          <a:ln/>
        </p:spPr>
        <p:txBody>
          <a:bodyPr wrap="square" lIns="0" tIns="0" rIns="0" bIns="0" rtlCol="0" anchor="ctr"/>
          <a:lstStyle/>
          <a:p>
            <a:pPr indent="0" marL="0">
              <a:buNone/>
            </a:pPr>
            <a:r>
              <a:rPr lang="en-US" sz="1400" b="1" dirty="0">
                <a:solidFill>
                  <a:schemeClr val="tx1"/>
                </a:solidFill>
              </a:rPr>
              <a:t>Workflow automation</a:t>
            </a:r>
            <a:endParaRPr lang="en-US" sz="1400" dirty="0"/>
          </a:p>
        </p:txBody>
      </p:sp>
      <p:sp>
        <p:nvSpPr>
          <p:cNvPr id="27" name="Text 20"/>
          <p:cNvSpPr txBox="1"/>
          <p:nvPr/>
        </p:nvSpPr>
        <p:spPr>
          <a:xfrm>
            <a:off x="1188720" y="4169664"/>
            <a:ext cx="3566160" cy="228600"/>
          </a:xfrm>
          <a:prstGeom prst="rect">
            <a:avLst/>
          </a:prstGeom>
          <a:noFill/>
          <a:ln/>
        </p:spPr>
        <p:txBody>
          <a:bodyPr wrap="square" lIns="0" tIns="0" rIns="0" bIns="0" rtlCol="0" anchor="ctr"/>
          <a:lstStyle/>
          <a:p>
            <a:pPr indent="0" marL="0">
              <a:buNone/>
            </a:pPr>
            <a:r>
              <a:rPr lang="en-US" sz="1200" dirty="0">
                <a:solidFill>
                  <a:schemeClr val="tx2"/>
                </a:solidFill>
              </a:rPr>
              <a:t>Before and after, measured outcome</a:t>
            </a:r>
            <a:endParaRPr lang="en-US" sz="1200" dirty="0"/>
          </a:p>
        </p:txBody>
      </p:sp>
      <p:sp>
        <p:nvSpPr>
          <p:cNvPr id="28" name="card"/>
          <p:cNvSpPr/>
          <p:nvPr/>
        </p:nvSpPr>
        <p:spPr>
          <a:xfrm>
            <a:off x="5120640" y="1234440"/>
            <a:ext cx="3566160" cy="3200400"/>
          </a:xfrm>
          <a:prstGeom prst="roundRect">
            <a:avLst>
              <a:gd name="adj" fmla="val 3429"/>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29" name="Text 22"/>
          <p:cNvSpPr txBox="1"/>
          <p:nvPr/>
        </p:nvSpPr>
        <p:spPr>
          <a:xfrm>
            <a:off x="5349240" y="1371600"/>
            <a:ext cx="3108960" cy="320040"/>
          </a:xfrm>
          <a:prstGeom prst="rect">
            <a:avLst/>
          </a:prstGeom>
          <a:noFill/>
          <a:ln/>
        </p:spPr>
        <p:txBody>
          <a:bodyPr wrap="square" lIns="0" tIns="0" rIns="0" bIns="0" rtlCol="0" anchor="ctr"/>
          <a:lstStyle/>
          <a:p>
            <a:pPr indent="0" marL="0">
              <a:buNone/>
            </a:pPr>
            <a:r>
              <a:rPr lang="en-US" sz="1600" b="1" dirty="0">
                <a:solidFill>
                  <a:schemeClr val="accent2"/>
                </a:solidFill>
              </a:rPr>
              <a:t>Or: one evolving capstone</a:t>
            </a:r>
            <a:endParaRPr lang="en-US" sz="1600" dirty="0"/>
          </a:p>
        </p:txBody>
      </p:sp>
      <p:sp>
        <p:nvSpPr>
          <p:cNvPr id="30" name="Text 23"/>
          <p:cNvSpPr txBox="1"/>
          <p:nvPr/>
        </p:nvSpPr>
        <p:spPr>
          <a:xfrm>
            <a:off x="5349240" y="1719072"/>
            <a:ext cx="3108960" cy="502920"/>
          </a:xfrm>
          <a:prstGeom prst="rect">
            <a:avLst/>
          </a:prstGeom>
          <a:noFill/>
          <a:ln/>
        </p:spPr>
        <p:txBody>
          <a:bodyPr wrap="square" lIns="0" tIns="0" rIns="0" bIns="0" rtlCol="0" anchor="t"/>
          <a:lstStyle/>
          <a:p>
            <a:pPr indent="0" marL="0">
              <a:buNone/>
            </a:pPr>
            <a:r>
              <a:rPr lang="en-US" sz="1400" dirty="0">
                <a:solidFill>
                  <a:schemeClr val="bg2"/>
                </a:solidFill>
              </a:rPr>
              <a:t>An AI-assisted support-ticket system, built in six steps</a:t>
            </a:r>
            <a:endParaRPr lang="en-US" sz="1400" dirty="0"/>
          </a:p>
        </p:txBody>
      </p:sp>
      <p:sp>
        <p:nvSpPr>
          <p:cNvPr id="31" name="step number"/>
          <p:cNvSpPr/>
          <p:nvPr/>
        </p:nvSpPr>
        <p:spPr>
          <a:xfrm>
            <a:off x="5349240" y="2331720"/>
            <a:ext cx="274320" cy="274320"/>
          </a:xfrm>
          <a:prstGeom prst="ellipse">
            <a:avLst/>
          </a:prstGeom>
          <a:solidFill>
            <a:schemeClr val="accent1"/>
          </a:solidFill>
          <a:ln w="12700">
            <a:solidFill>
              <a:schemeClr val="accent1"/>
            </a:solidFill>
            <a:prstDash val="solid"/>
          </a:ln>
        </p:spPr>
      </p:sp>
      <p:sp>
        <p:nvSpPr>
          <p:cNvPr id="32" name="Text 25"/>
          <p:cNvSpPr txBox="1"/>
          <p:nvPr/>
        </p:nvSpPr>
        <p:spPr>
          <a:xfrm>
            <a:off x="5349240" y="2331720"/>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3" name="Text 26"/>
          <p:cNvSpPr txBox="1"/>
          <p:nvPr/>
        </p:nvSpPr>
        <p:spPr>
          <a:xfrm>
            <a:off x="5760720" y="2331720"/>
            <a:ext cx="2743200" cy="274320"/>
          </a:xfrm>
          <a:prstGeom prst="rect">
            <a:avLst/>
          </a:prstGeom>
          <a:noFill/>
          <a:ln/>
        </p:spPr>
        <p:txBody>
          <a:bodyPr wrap="square" lIns="0" tIns="0" rIns="0" bIns="0" rtlCol="0" anchor="ctr"/>
          <a:lstStyle/>
          <a:p>
            <a:pPr indent="0" marL="0">
              <a:buNone/>
            </a:pPr>
            <a:r>
              <a:rPr lang="en-US" sz="1400" dirty="0">
                <a:solidFill>
                  <a:schemeClr val="bg1"/>
                </a:solidFill>
              </a:rPr>
              <a:t>API and database</a:t>
            </a:r>
            <a:endParaRPr lang="en-US" sz="1400" dirty="0"/>
          </a:p>
        </p:txBody>
      </p:sp>
      <p:sp>
        <p:nvSpPr>
          <p:cNvPr id="34" name="step number"/>
          <p:cNvSpPr/>
          <p:nvPr/>
        </p:nvSpPr>
        <p:spPr>
          <a:xfrm>
            <a:off x="5349240" y="2670048"/>
            <a:ext cx="274320" cy="274320"/>
          </a:xfrm>
          <a:prstGeom prst="ellipse">
            <a:avLst/>
          </a:prstGeom>
          <a:solidFill>
            <a:schemeClr val="accent1"/>
          </a:solidFill>
          <a:ln w="12700">
            <a:solidFill>
              <a:schemeClr val="accent1"/>
            </a:solidFill>
            <a:prstDash val="solid"/>
          </a:ln>
        </p:spPr>
      </p:sp>
      <p:sp>
        <p:nvSpPr>
          <p:cNvPr id="35" name="Text 28"/>
          <p:cNvSpPr txBox="1"/>
          <p:nvPr/>
        </p:nvSpPr>
        <p:spPr>
          <a:xfrm>
            <a:off x="5349240" y="2670048"/>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6" name="Text 29"/>
          <p:cNvSpPr txBox="1"/>
          <p:nvPr/>
        </p:nvSpPr>
        <p:spPr>
          <a:xfrm>
            <a:off x="5760720" y="2670048"/>
            <a:ext cx="2743200" cy="274320"/>
          </a:xfrm>
          <a:prstGeom prst="rect">
            <a:avLst/>
          </a:prstGeom>
          <a:noFill/>
          <a:ln/>
        </p:spPr>
        <p:txBody>
          <a:bodyPr wrap="square" lIns="0" tIns="0" rIns="0" bIns="0" rtlCol="0" anchor="ctr"/>
          <a:lstStyle/>
          <a:p>
            <a:pPr indent="0" marL="0">
              <a:buNone/>
            </a:pPr>
            <a:r>
              <a:rPr lang="en-US" sz="1400" dirty="0">
                <a:solidFill>
                  <a:schemeClr val="bg1"/>
                </a:solidFill>
              </a:rPr>
              <a:t>Discovery</a:t>
            </a:r>
            <a:endParaRPr lang="en-US" sz="1400" dirty="0"/>
          </a:p>
        </p:txBody>
      </p:sp>
      <p:sp>
        <p:nvSpPr>
          <p:cNvPr id="37" name="step number"/>
          <p:cNvSpPr/>
          <p:nvPr/>
        </p:nvSpPr>
        <p:spPr>
          <a:xfrm>
            <a:off x="5349240" y="3008376"/>
            <a:ext cx="274320" cy="274320"/>
          </a:xfrm>
          <a:prstGeom prst="ellipse">
            <a:avLst/>
          </a:prstGeom>
          <a:solidFill>
            <a:schemeClr val="accent1"/>
          </a:solidFill>
          <a:ln w="12700">
            <a:solidFill>
              <a:schemeClr val="accent1"/>
            </a:solidFill>
            <a:prstDash val="solid"/>
          </a:ln>
        </p:spPr>
      </p:sp>
      <p:sp>
        <p:nvSpPr>
          <p:cNvPr id="38" name="Text 31"/>
          <p:cNvSpPr txBox="1"/>
          <p:nvPr/>
        </p:nvSpPr>
        <p:spPr>
          <a:xfrm>
            <a:off x="5349240" y="3008376"/>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9" name="Text 32"/>
          <p:cNvSpPr txBox="1"/>
          <p:nvPr/>
        </p:nvSpPr>
        <p:spPr>
          <a:xfrm>
            <a:off x="5760720" y="3008376"/>
            <a:ext cx="2743200" cy="274320"/>
          </a:xfrm>
          <a:prstGeom prst="rect">
            <a:avLst/>
          </a:prstGeom>
          <a:noFill/>
          <a:ln/>
        </p:spPr>
        <p:txBody>
          <a:bodyPr wrap="square" lIns="0" tIns="0" rIns="0" bIns="0" rtlCol="0" anchor="ctr"/>
          <a:lstStyle/>
          <a:p>
            <a:pPr indent="0" marL="0">
              <a:buNone/>
            </a:pPr>
            <a:r>
              <a:rPr lang="en-US" sz="1400" dirty="0">
                <a:solidFill>
                  <a:schemeClr val="bg1"/>
                </a:solidFill>
              </a:rPr>
              <a:t>Integration</a:t>
            </a:r>
            <a:endParaRPr lang="en-US" sz="1400" dirty="0"/>
          </a:p>
        </p:txBody>
      </p:sp>
      <p:sp>
        <p:nvSpPr>
          <p:cNvPr id="40" name="step number"/>
          <p:cNvSpPr/>
          <p:nvPr/>
        </p:nvSpPr>
        <p:spPr>
          <a:xfrm>
            <a:off x="5349240" y="3346704"/>
            <a:ext cx="274320" cy="274320"/>
          </a:xfrm>
          <a:prstGeom prst="ellipse">
            <a:avLst/>
          </a:prstGeom>
          <a:solidFill>
            <a:schemeClr val="accent1"/>
          </a:solidFill>
          <a:ln w="12700">
            <a:solidFill>
              <a:schemeClr val="accent1"/>
            </a:solidFill>
            <a:prstDash val="solid"/>
          </a:ln>
        </p:spPr>
      </p:sp>
      <p:sp>
        <p:nvSpPr>
          <p:cNvPr id="41" name="Text 34"/>
          <p:cNvSpPr txBox="1"/>
          <p:nvPr/>
        </p:nvSpPr>
        <p:spPr>
          <a:xfrm>
            <a:off x="5349240" y="3346704"/>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2" name="Text 35"/>
          <p:cNvSpPr txBox="1"/>
          <p:nvPr/>
        </p:nvSpPr>
        <p:spPr>
          <a:xfrm>
            <a:off x="5760720" y="3346704"/>
            <a:ext cx="2743200" cy="274320"/>
          </a:xfrm>
          <a:prstGeom prst="rect">
            <a:avLst/>
          </a:prstGeom>
          <a:noFill/>
          <a:ln/>
        </p:spPr>
        <p:txBody>
          <a:bodyPr wrap="square" lIns="0" tIns="0" rIns="0" bIns="0" rtlCol="0" anchor="ctr"/>
          <a:lstStyle/>
          <a:p>
            <a:pPr indent="0" marL="0">
              <a:buNone/>
            </a:pPr>
            <a:r>
              <a:rPr lang="en-US" sz="1400" dirty="0">
                <a:solidFill>
                  <a:schemeClr val="bg1"/>
                </a:solidFill>
              </a:rPr>
              <a:t>AI and evaluation</a:t>
            </a:r>
            <a:endParaRPr lang="en-US" sz="1400" dirty="0"/>
          </a:p>
        </p:txBody>
      </p:sp>
      <p:sp>
        <p:nvSpPr>
          <p:cNvPr id="43" name="step number"/>
          <p:cNvSpPr/>
          <p:nvPr/>
        </p:nvSpPr>
        <p:spPr>
          <a:xfrm>
            <a:off x="5349240" y="3685032"/>
            <a:ext cx="274320" cy="274320"/>
          </a:xfrm>
          <a:prstGeom prst="ellipse">
            <a:avLst/>
          </a:prstGeom>
          <a:solidFill>
            <a:schemeClr val="accent1"/>
          </a:solidFill>
          <a:ln w="12700">
            <a:solidFill>
              <a:schemeClr val="accent1"/>
            </a:solidFill>
            <a:prstDash val="solid"/>
          </a:ln>
        </p:spPr>
      </p:sp>
      <p:sp>
        <p:nvSpPr>
          <p:cNvPr id="44" name="Text 37"/>
          <p:cNvSpPr txBox="1"/>
          <p:nvPr/>
        </p:nvSpPr>
        <p:spPr>
          <a:xfrm>
            <a:off x="5349240" y="3685032"/>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5" name="Text 38"/>
          <p:cNvSpPr txBox="1"/>
          <p:nvPr/>
        </p:nvSpPr>
        <p:spPr>
          <a:xfrm>
            <a:off x="5760720" y="3685032"/>
            <a:ext cx="2743200" cy="274320"/>
          </a:xfrm>
          <a:prstGeom prst="rect">
            <a:avLst/>
          </a:prstGeom>
          <a:noFill/>
          <a:ln/>
        </p:spPr>
        <p:txBody>
          <a:bodyPr wrap="square" lIns="0" tIns="0" rIns="0" bIns="0" rtlCol="0" anchor="ctr"/>
          <a:lstStyle/>
          <a:p>
            <a:pPr indent="0" marL="0">
              <a:buNone/>
            </a:pPr>
            <a:r>
              <a:rPr lang="en-US" sz="1400" dirty="0">
                <a:solidFill>
                  <a:schemeClr val="bg1"/>
                </a:solidFill>
              </a:rPr>
              <a:t>Deploy</a:t>
            </a:r>
            <a:endParaRPr lang="en-US" sz="1400" dirty="0"/>
          </a:p>
        </p:txBody>
      </p:sp>
      <p:sp>
        <p:nvSpPr>
          <p:cNvPr id="46" name="step number"/>
          <p:cNvSpPr/>
          <p:nvPr/>
        </p:nvSpPr>
        <p:spPr>
          <a:xfrm>
            <a:off x="5349240" y="4023360"/>
            <a:ext cx="274320" cy="274320"/>
          </a:xfrm>
          <a:prstGeom prst="ellipse">
            <a:avLst/>
          </a:prstGeom>
          <a:solidFill>
            <a:schemeClr val="accent1"/>
          </a:solidFill>
          <a:ln w="12700">
            <a:solidFill>
              <a:schemeClr val="accent1"/>
            </a:solidFill>
            <a:prstDash val="solid"/>
          </a:ln>
        </p:spPr>
      </p:sp>
      <p:sp>
        <p:nvSpPr>
          <p:cNvPr id="47" name="Text 40"/>
          <p:cNvSpPr txBox="1"/>
          <p:nvPr/>
        </p:nvSpPr>
        <p:spPr>
          <a:xfrm>
            <a:off x="5349240" y="4023360"/>
            <a:ext cx="274320" cy="2743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48" name="Text 41"/>
          <p:cNvSpPr txBox="1"/>
          <p:nvPr/>
        </p:nvSpPr>
        <p:spPr>
          <a:xfrm>
            <a:off x="5760720" y="4023360"/>
            <a:ext cx="2743200" cy="274320"/>
          </a:xfrm>
          <a:prstGeom prst="rect">
            <a:avLst/>
          </a:prstGeom>
          <a:noFill/>
          <a:ln/>
        </p:spPr>
        <p:txBody>
          <a:bodyPr wrap="square" lIns="0" tIns="0" rIns="0" bIns="0" rtlCol="0" anchor="ctr"/>
          <a:lstStyle/>
          <a:p>
            <a:pPr indent="0" marL="0">
              <a:buNone/>
            </a:pPr>
            <a:r>
              <a:rPr lang="en-US" sz="1400" dirty="0">
                <a:solidFill>
                  <a:schemeClr val="bg1"/>
                </a:solidFill>
              </a:rPr>
              <a:t>Handoff</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interviews look like</a:t>
            </a:r>
            <a:endParaRPr lang="en-US" sz="3400" dirty="0"/>
          </a:p>
        </p:txBody>
      </p:sp>
      <p:sp>
        <p:nvSpPr>
          <p:cNvPr id="3" name="card"/>
          <p:cNvSpPr/>
          <p:nvPr/>
        </p:nvSpPr>
        <p:spPr>
          <a:xfrm>
            <a:off x="457200" y="123444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nterview icon"/>
          <p:cNvSpPr/>
          <p:nvPr/>
        </p:nvSpPr>
        <p:spPr>
          <a:xfrm>
            <a:off x="640080" y="1417320"/>
            <a:ext cx="502920" cy="50292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65810" y="1543050"/>
            <a:ext cx="251460" cy="251460"/>
          </a:xfrm>
          <a:prstGeom prst="rect">
            <a:avLst/>
          </a:prstGeom>
        </p:spPr>
      </p:pic>
      <p:sp>
        <p:nvSpPr>
          <p:cNvPr id="6" name="Text 3"/>
          <p:cNvSpPr txBox="1"/>
          <p:nvPr/>
        </p:nvSpPr>
        <p:spPr>
          <a:xfrm>
            <a:off x="1280160" y="141732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Pair coding</a:t>
            </a:r>
            <a:endParaRPr lang="en-US" sz="1400" dirty="0"/>
          </a:p>
        </p:txBody>
      </p:sp>
      <p:sp>
        <p:nvSpPr>
          <p:cNvPr id="7" name="Text 4"/>
          <p:cNvSpPr txBox="1"/>
          <p:nvPr/>
        </p:nvSpPr>
        <p:spPr>
          <a:xfrm>
            <a:off x="640080" y="2011680"/>
            <a:ext cx="2240280" cy="365760"/>
          </a:xfrm>
          <a:prstGeom prst="rect">
            <a:avLst/>
          </a:prstGeom>
          <a:noFill/>
          <a:ln/>
        </p:spPr>
        <p:txBody>
          <a:bodyPr wrap="square" lIns="0" tIns="0" rIns="0" bIns="0" rtlCol="0" anchor="t"/>
          <a:lstStyle/>
          <a:p>
            <a:pPr indent="0" marL="0">
              <a:buNone/>
            </a:pPr>
            <a:r>
              <a:rPr lang="en-US" sz="1200" dirty="0">
                <a:solidFill>
                  <a:schemeClr val="tx2"/>
                </a:solidFill>
              </a:rPr>
              <a:t>Working code with tests</a:t>
            </a:r>
            <a:endParaRPr lang="en-US" sz="1200" dirty="0"/>
          </a:p>
        </p:txBody>
      </p:sp>
      <p:sp>
        <p:nvSpPr>
          <p:cNvPr id="8" name="card"/>
          <p:cNvSpPr/>
          <p:nvPr/>
        </p:nvSpPr>
        <p:spPr>
          <a:xfrm>
            <a:off x="3291840" y="123444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nterview icon"/>
          <p:cNvSpPr/>
          <p:nvPr/>
        </p:nvSpPr>
        <p:spPr>
          <a:xfrm>
            <a:off x="3474720" y="1417320"/>
            <a:ext cx="502920" cy="502920"/>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3600450" y="1543050"/>
            <a:ext cx="251460" cy="251460"/>
          </a:xfrm>
          <a:prstGeom prst="rect">
            <a:avLst/>
          </a:prstGeom>
        </p:spPr>
      </p:pic>
      <p:sp>
        <p:nvSpPr>
          <p:cNvPr id="11" name="Text 7"/>
          <p:cNvSpPr txBox="1"/>
          <p:nvPr/>
        </p:nvSpPr>
        <p:spPr>
          <a:xfrm>
            <a:off x="4114800" y="141732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Full-stack build</a:t>
            </a:r>
            <a:endParaRPr lang="en-US" sz="1400" dirty="0"/>
          </a:p>
        </p:txBody>
      </p:sp>
      <p:sp>
        <p:nvSpPr>
          <p:cNvPr id="12" name="Text 8"/>
          <p:cNvSpPr txBox="1"/>
          <p:nvPr/>
        </p:nvSpPr>
        <p:spPr>
          <a:xfrm>
            <a:off x="3474720" y="2011680"/>
            <a:ext cx="2240280" cy="365760"/>
          </a:xfrm>
          <a:prstGeom prst="rect">
            <a:avLst/>
          </a:prstGeom>
          <a:noFill/>
          <a:ln/>
        </p:spPr>
        <p:txBody>
          <a:bodyPr wrap="square" lIns="0" tIns="0" rIns="0" bIns="0" rtlCol="0" anchor="t"/>
          <a:lstStyle/>
          <a:p>
            <a:pPr indent="0" marL="0">
              <a:buNone/>
            </a:pPr>
            <a:r>
              <a:rPr lang="en-US" sz="1200" dirty="0">
                <a:solidFill>
                  <a:schemeClr val="tx2"/>
                </a:solidFill>
              </a:rPr>
              <a:t>Auth, APIs, data modelling</a:t>
            </a:r>
            <a:endParaRPr lang="en-US" sz="1200" dirty="0"/>
          </a:p>
        </p:txBody>
      </p:sp>
      <p:sp>
        <p:nvSpPr>
          <p:cNvPr id="13" name="card"/>
          <p:cNvSpPr/>
          <p:nvPr/>
        </p:nvSpPr>
        <p:spPr>
          <a:xfrm>
            <a:off x="6126480" y="123444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nterview icon"/>
          <p:cNvSpPr/>
          <p:nvPr/>
        </p:nvSpPr>
        <p:spPr>
          <a:xfrm>
            <a:off x="6309360" y="1417320"/>
            <a:ext cx="502920" cy="502920"/>
          </a:xfrm>
          <a:prstGeom prst="ellipse">
            <a:avLst/>
          </a:prstGeom>
          <a:solidFill>
            <a:schemeClr val="accent5"/>
          </a:solidFill>
          <a:ln w="12700">
            <a:solidFill>
              <a:schemeClr val="accent5"/>
            </a:solidFill>
            <a:prstDash val="solid"/>
          </a:ln>
        </p:spPr>
      </p:sp>
      <p:pic>
        <p:nvPicPr>
          <p:cNvPr id="15" name="Image 2" descr="icon">    </p:cNvPr>
          <p:cNvPicPr>
            <a:picLocks noChangeAspect="1"/>
          </p:cNvPicPr>
          <p:nvPr/>
        </p:nvPicPr>
        <p:blipFill>
          <a:blip r:embed="rId3"/>
          <a:stretch>
            <a:fillRect/>
          </a:stretch>
        </p:blipFill>
        <p:spPr>
          <a:xfrm>
            <a:off x="6435090" y="1543050"/>
            <a:ext cx="251460" cy="251460"/>
          </a:xfrm>
          <a:prstGeom prst="rect">
            <a:avLst/>
          </a:prstGeom>
        </p:spPr>
      </p:pic>
      <p:sp>
        <p:nvSpPr>
          <p:cNvPr id="16" name="Text 11"/>
          <p:cNvSpPr txBox="1"/>
          <p:nvPr/>
        </p:nvSpPr>
        <p:spPr>
          <a:xfrm>
            <a:off x="6949440" y="141732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System design</a:t>
            </a:r>
            <a:endParaRPr lang="en-US" sz="1400" dirty="0"/>
          </a:p>
        </p:txBody>
      </p:sp>
      <p:sp>
        <p:nvSpPr>
          <p:cNvPr id="17" name="Text 12"/>
          <p:cNvSpPr txBox="1"/>
          <p:nvPr/>
        </p:nvSpPr>
        <p:spPr>
          <a:xfrm>
            <a:off x="6309360" y="2011680"/>
            <a:ext cx="2240280" cy="365760"/>
          </a:xfrm>
          <a:prstGeom prst="rect">
            <a:avLst/>
          </a:prstGeom>
          <a:noFill/>
          <a:ln/>
        </p:spPr>
        <p:txBody>
          <a:bodyPr wrap="square" lIns="0" tIns="0" rIns="0" bIns="0" rtlCol="0" anchor="t"/>
          <a:lstStyle/>
          <a:p>
            <a:pPr indent="0" marL="0">
              <a:buNone/>
            </a:pPr>
            <a:r>
              <a:rPr lang="en-US" sz="1200" dirty="0">
                <a:solidFill>
                  <a:schemeClr val="tx2"/>
                </a:solidFill>
              </a:rPr>
              <a:t>Trade-offs with customer limits</a:t>
            </a:r>
            <a:endParaRPr lang="en-US" sz="1200" dirty="0"/>
          </a:p>
        </p:txBody>
      </p:sp>
      <p:sp>
        <p:nvSpPr>
          <p:cNvPr id="18" name="card"/>
          <p:cNvSpPr/>
          <p:nvPr/>
        </p:nvSpPr>
        <p:spPr>
          <a:xfrm>
            <a:off x="457200" y="265176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nterview icon"/>
          <p:cNvSpPr/>
          <p:nvPr/>
        </p:nvSpPr>
        <p:spPr>
          <a:xfrm>
            <a:off x="640080" y="2834640"/>
            <a:ext cx="502920" cy="502920"/>
          </a:xfrm>
          <a:prstGeom prst="ellipse">
            <a:avLst/>
          </a:prstGeom>
          <a:solidFill>
            <a:schemeClr val="accent5"/>
          </a:solidFill>
          <a:ln w="12700">
            <a:solidFill>
              <a:schemeClr val="accent5"/>
            </a:solidFill>
            <a:prstDash val="solid"/>
          </a:ln>
        </p:spPr>
      </p:sp>
      <p:pic>
        <p:nvPicPr>
          <p:cNvPr id="20" name="Image 3" descr="icon">    </p:cNvPr>
          <p:cNvPicPr>
            <a:picLocks noChangeAspect="1"/>
          </p:cNvPicPr>
          <p:nvPr/>
        </p:nvPicPr>
        <p:blipFill>
          <a:blip r:embed="rId4"/>
          <a:stretch>
            <a:fillRect/>
          </a:stretch>
        </p:blipFill>
        <p:spPr>
          <a:xfrm>
            <a:off x="765810" y="2960370"/>
            <a:ext cx="251460" cy="251460"/>
          </a:xfrm>
          <a:prstGeom prst="rect">
            <a:avLst/>
          </a:prstGeom>
        </p:spPr>
      </p:pic>
      <p:sp>
        <p:nvSpPr>
          <p:cNvPr id="21" name="Text 15"/>
          <p:cNvSpPr txBox="1"/>
          <p:nvPr/>
        </p:nvSpPr>
        <p:spPr>
          <a:xfrm>
            <a:off x="1280160" y="283464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Discovery case</a:t>
            </a:r>
            <a:endParaRPr lang="en-US" sz="1400" dirty="0"/>
          </a:p>
        </p:txBody>
      </p:sp>
      <p:sp>
        <p:nvSpPr>
          <p:cNvPr id="22" name="Text 16"/>
          <p:cNvSpPr txBox="1"/>
          <p:nvPr/>
        </p:nvSpPr>
        <p:spPr>
          <a:xfrm>
            <a:off x="640080" y="3429000"/>
            <a:ext cx="2240280" cy="365760"/>
          </a:xfrm>
          <a:prstGeom prst="rect">
            <a:avLst/>
          </a:prstGeom>
          <a:noFill/>
          <a:ln/>
        </p:spPr>
        <p:txBody>
          <a:bodyPr wrap="square" lIns="0" tIns="0" rIns="0" bIns="0" rtlCol="0" anchor="t"/>
          <a:lstStyle/>
          <a:p>
            <a:pPr indent="0" marL="0">
              <a:buNone/>
            </a:pPr>
            <a:r>
              <a:rPr lang="en-US" sz="1200" dirty="0">
                <a:solidFill>
                  <a:schemeClr val="tx2"/>
                </a:solidFill>
              </a:rPr>
              <a:t>Turn a messy problem into a scope</a:t>
            </a:r>
            <a:endParaRPr lang="en-US" sz="1200" dirty="0"/>
          </a:p>
        </p:txBody>
      </p:sp>
      <p:sp>
        <p:nvSpPr>
          <p:cNvPr id="23" name="card"/>
          <p:cNvSpPr/>
          <p:nvPr/>
        </p:nvSpPr>
        <p:spPr>
          <a:xfrm>
            <a:off x="3291840" y="265176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nterview icon"/>
          <p:cNvSpPr/>
          <p:nvPr/>
        </p:nvSpPr>
        <p:spPr>
          <a:xfrm>
            <a:off x="3474720" y="2834640"/>
            <a:ext cx="502920" cy="502920"/>
          </a:xfrm>
          <a:prstGeom prst="ellipse">
            <a:avLst/>
          </a:prstGeom>
          <a:solidFill>
            <a:schemeClr val="accent4"/>
          </a:solidFill>
          <a:ln w="12700">
            <a:solidFill>
              <a:schemeClr val="accent4"/>
            </a:solidFill>
            <a:prstDash val="solid"/>
          </a:ln>
        </p:spPr>
      </p:sp>
      <p:pic>
        <p:nvPicPr>
          <p:cNvPr id="25" name="Image 4" descr="icon">    </p:cNvPr>
          <p:cNvPicPr>
            <a:picLocks noChangeAspect="1"/>
          </p:cNvPicPr>
          <p:nvPr/>
        </p:nvPicPr>
        <p:blipFill>
          <a:blip r:embed="rId5"/>
          <a:stretch>
            <a:fillRect/>
          </a:stretch>
        </p:blipFill>
        <p:spPr>
          <a:xfrm>
            <a:off x="3600450" y="2960370"/>
            <a:ext cx="251460" cy="251460"/>
          </a:xfrm>
          <a:prstGeom prst="rect">
            <a:avLst/>
          </a:prstGeom>
        </p:spPr>
      </p:pic>
      <p:sp>
        <p:nvSpPr>
          <p:cNvPr id="26" name="Text 19"/>
          <p:cNvSpPr txBox="1"/>
          <p:nvPr/>
        </p:nvSpPr>
        <p:spPr>
          <a:xfrm>
            <a:off x="4114800" y="283464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AI deployment case</a:t>
            </a:r>
            <a:endParaRPr lang="en-US" sz="1400" dirty="0"/>
          </a:p>
        </p:txBody>
      </p:sp>
      <p:sp>
        <p:nvSpPr>
          <p:cNvPr id="27" name="Text 20"/>
          <p:cNvSpPr txBox="1"/>
          <p:nvPr/>
        </p:nvSpPr>
        <p:spPr>
          <a:xfrm>
            <a:off x="3474720" y="3429000"/>
            <a:ext cx="2240280" cy="365760"/>
          </a:xfrm>
          <a:prstGeom prst="rect">
            <a:avLst/>
          </a:prstGeom>
          <a:noFill/>
          <a:ln/>
        </p:spPr>
        <p:txBody>
          <a:bodyPr wrap="square" lIns="0" tIns="0" rIns="0" bIns="0" rtlCol="0" anchor="t"/>
          <a:lstStyle/>
          <a:p>
            <a:pPr indent="0" marL="0">
              <a:buNone/>
            </a:pPr>
            <a:r>
              <a:rPr lang="en-US" sz="1200" dirty="0">
                <a:solidFill>
                  <a:schemeClr val="tx2"/>
                </a:solidFill>
              </a:rPr>
              <a:t>RAG, evaluation, safety</a:t>
            </a:r>
            <a:endParaRPr lang="en-US" sz="1200" dirty="0"/>
          </a:p>
        </p:txBody>
      </p:sp>
      <p:sp>
        <p:nvSpPr>
          <p:cNvPr id="28" name="card"/>
          <p:cNvSpPr/>
          <p:nvPr/>
        </p:nvSpPr>
        <p:spPr>
          <a:xfrm>
            <a:off x="6126480" y="2651760"/>
            <a:ext cx="256032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nterview icon"/>
          <p:cNvSpPr/>
          <p:nvPr/>
        </p:nvSpPr>
        <p:spPr>
          <a:xfrm>
            <a:off x="6309360" y="2834640"/>
            <a:ext cx="502920" cy="502920"/>
          </a:xfrm>
          <a:prstGeom prst="ellipse">
            <a:avLst/>
          </a:prstGeom>
          <a:solidFill>
            <a:schemeClr val="accent2"/>
          </a:solidFill>
          <a:ln w="12700">
            <a:solidFill>
              <a:schemeClr val="accent2"/>
            </a:solidFill>
            <a:prstDash val="solid"/>
          </a:ln>
        </p:spPr>
      </p:sp>
      <p:pic>
        <p:nvPicPr>
          <p:cNvPr id="30" name="Image 5" descr="icon">    </p:cNvPr>
          <p:cNvPicPr>
            <a:picLocks noChangeAspect="1"/>
          </p:cNvPicPr>
          <p:nvPr/>
        </p:nvPicPr>
        <p:blipFill>
          <a:blip r:embed="rId6"/>
          <a:stretch>
            <a:fillRect/>
          </a:stretch>
        </p:blipFill>
        <p:spPr>
          <a:xfrm>
            <a:off x="6435090" y="2960370"/>
            <a:ext cx="251460" cy="251460"/>
          </a:xfrm>
          <a:prstGeom prst="rect">
            <a:avLst/>
          </a:prstGeom>
        </p:spPr>
      </p:pic>
      <p:sp>
        <p:nvSpPr>
          <p:cNvPr id="31" name="Text 23"/>
          <p:cNvSpPr txBox="1"/>
          <p:nvPr/>
        </p:nvSpPr>
        <p:spPr>
          <a:xfrm>
            <a:off x="6949440" y="2834640"/>
            <a:ext cx="1645920" cy="502920"/>
          </a:xfrm>
          <a:prstGeom prst="rect">
            <a:avLst/>
          </a:prstGeom>
          <a:noFill/>
          <a:ln/>
        </p:spPr>
        <p:txBody>
          <a:bodyPr wrap="square" lIns="0" tIns="0" rIns="0" bIns="0" rtlCol="0" anchor="ctr"/>
          <a:lstStyle/>
          <a:p>
            <a:pPr indent="0" marL="0">
              <a:buNone/>
            </a:pPr>
            <a:r>
              <a:rPr lang="en-US" sz="1400" b="1" dirty="0">
                <a:solidFill>
                  <a:schemeClr val="tx1"/>
                </a:solidFill>
              </a:rPr>
              <a:t>Behavioural</a:t>
            </a:r>
            <a:endParaRPr lang="en-US" sz="1400" dirty="0"/>
          </a:p>
        </p:txBody>
      </p:sp>
      <p:sp>
        <p:nvSpPr>
          <p:cNvPr id="32" name="Text 24"/>
          <p:cNvSpPr txBox="1"/>
          <p:nvPr/>
        </p:nvSpPr>
        <p:spPr>
          <a:xfrm>
            <a:off x="6309360" y="3429000"/>
            <a:ext cx="2240280" cy="365760"/>
          </a:xfrm>
          <a:prstGeom prst="rect">
            <a:avLst/>
          </a:prstGeom>
          <a:noFill/>
          <a:ln/>
        </p:spPr>
        <p:txBody>
          <a:bodyPr wrap="square" lIns="0" tIns="0" rIns="0" bIns="0" rtlCol="0" anchor="t"/>
          <a:lstStyle/>
          <a:p>
            <a:pPr indent="0" marL="0">
              <a:buNone/>
            </a:pPr>
            <a:r>
              <a:rPr lang="en-US" sz="1200" dirty="0">
                <a:solidFill>
                  <a:schemeClr val="tx2"/>
                </a:solidFill>
              </a:rPr>
              <a:t>Ownership under ambiguity</a:t>
            </a:r>
            <a:endParaRPr lang="en-US" sz="1200" dirty="0"/>
          </a:p>
        </p:txBody>
      </p:sp>
      <p:sp>
        <p:nvSpPr>
          <p:cNvPr id="33" name="Text 25"/>
          <p:cNvSpPr txBox="1"/>
          <p:nvPr/>
        </p:nvSpPr>
        <p:spPr>
          <a:xfrm>
            <a:off x="457200" y="4160520"/>
            <a:ext cx="8046720" cy="365760"/>
          </a:xfrm>
          <a:prstGeom prst="rect">
            <a:avLst/>
          </a:prstGeom>
          <a:noFill/>
          <a:ln/>
        </p:spPr>
        <p:txBody>
          <a:bodyPr wrap="square" lIns="0" tIns="0" rIns="0" bIns="0" rtlCol="0" anchor="ctr"/>
          <a:lstStyle/>
          <a:p>
            <a:pPr indent="0" marL="0">
              <a:buNone/>
            </a:pPr>
            <a:r>
              <a:rPr lang="en-US" sz="1400" b="1" dirty="0">
                <a:solidFill>
                  <a:schemeClr val="tx1"/>
                </a:solidFill>
              </a:rPr>
              <a:t>Practice: write working code with tests, explain trade-offs out loud, and keep a story bank.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Pay and demand</a:t>
            </a:r>
            <a:endParaRPr lang="en-US" sz="3400" dirty="0"/>
          </a:p>
        </p:txBody>
      </p:sp>
      <p:sp>
        <p:nvSpPr>
          <p:cNvPr id="3" name="stat card"/>
          <p:cNvSpPr/>
          <p:nvPr/>
        </p:nvSpPr>
        <p:spPr>
          <a:xfrm>
            <a:off x="457200" y="1234440"/>
            <a:ext cx="2560320" cy="1600200"/>
          </a:xfrm>
          <a:prstGeom prst="roundRect">
            <a:avLst>
              <a:gd name="adj" fmla="val 6857"/>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548640" y="1325880"/>
            <a:ext cx="2377440" cy="731520"/>
          </a:xfrm>
          <a:prstGeom prst="rect">
            <a:avLst/>
          </a:prstGeom>
          <a:noFill/>
          <a:ln/>
        </p:spPr>
        <p:txBody>
          <a:bodyPr wrap="square" lIns="0" tIns="0" rIns="0" bIns="0" rtlCol="0" anchor="ctr"/>
          <a:lstStyle/>
          <a:p>
            <a:pPr algn="ctr" indent="0" marL="0">
              <a:buNone/>
            </a:pPr>
            <a:r>
              <a:rPr lang="en-US" sz="3800" b="1" dirty="0">
                <a:solidFill>
                  <a:schemeClr val="bg1"/>
                </a:solidFill>
              </a:rPr>
              <a:t>$220K</a:t>
            </a:r>
            <a:endParaRPr lang="en-US" sz="3800" dirty="0"/>
          </a:p>
        </p:txBody>
      </p:sp>
      <p:sp>
        <p:nvSpPr>
          <p:cNvPr id="5" name="Text 3"/>
          <p:cNvSpPr txBox="1"/>
          <p:nvPr/>
        </p:nvSpPr>
        <p:spPr>
          <a:xfrm>
            <a:off x="594360" y="2103120"/>
            <a:ext cx="2286000" cy="365760"/>
          </a:xfrm>
          <a:prstGeom prst="rect">
            <a:avLst/>
          </a:prstGeom>
          <a:noFill/>
          <a:ln/>
        </p:spPr>
        <p:txBody>
          <a:bodyPr wrap="square" lIns="0" tIns="0" rIns="0" bIns="0" rtlCol="0" anchor="t"/>
          <a:lstStyle/>
          <a:p>
            <a:pPr algn="ctr" indent="0" marL="0">
              <a:buNone/>
            </a:pPr>
            <a:r>
              <a:rPr lang="en-US" sz="1400" b="1" dirty="0">
                <a:solidFill>
                  <a:schemeClr val="bg1"/>
                </a:solidFill>
              </a:rPr>
              <a:t>Median US total compensation</a:t>
            </a:r>
            <a:endParaRPr lang="en-US" sz="1400" dirty="0"/>
          </a:p>
        </p:txBody>
      </p:sp>
      <p:sp>
        <p:nvSpPr>
          <p:cNvPr id="6" name="Text 4"/>
          <p:cNvSpPr txBox="1"/>
          <p:nvPr/>
        </p:nvSpPr>
        <p:spPr>
          <a:xfrm>
            <a:off x="594360" y="2514600"/>
            <a:ext cx="2286000" cy="228600"/>
          </a:xfrm>
          <a:prstGeom prst="rect">
            <a:avLst/>
          </a:prstGeom>
          <a:noFill/>
          <a:ln/>
        </p:spPr>
        <p:txBody>
          <a:bodyPr wrap="square" lIns="0" tIns="0" rIns="0" bIns="0" rtlCol="0" anchor="ctr"/>
          <a:lstStyle/>
          <a:p>
            <a:pPr algn="ctr" indent="0" marL="0">
              <a:buNone/>
            </a:pPr>
            <a:r>
              <a:rPr lang="en-US" sz="1100" dirty="0">
                <a:solidFill>
                  <a:schemeClr val="bg1"/>
                </a:solidFill>
              </a:rPr>
              <a:t>Levels.fyi, Oct 2026</a:t>
            </a:r>
            <a:endParaRPr lang="en-US" sz="1100" dirty="0"/>
          </a:p>
        </p:txBody>
      </p:sp>
      <p:sp>
        <p:nvSpPr>
          <p:cNvPr id="7" name="stat card"/>
          <p:cNvSpPr/>
          <p:nvPr/>
        </p:nvSpPr>
        <p:spPr>
          <a:xfrm>
            <a:off x="3291840" y="1234440"/>
            <a:ext cx="2560320" cy="1600200"/>
          </a:xfrm>
          <a:prstGeom prst="roundRect">
            <a:avLst>
              <a:gd name="adj" fmla="val 6857"/>
            </a:avLst>
          </a:prstGeom>
          <a:solidFill>
            <a:schemeClr val="accent4"/>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3383280" y="1325880"/>
            <a:ext cx="2377440" cy="731520"/>
          </a:xfrm>
          <a:prstGeom prst="rect">
            <a:avLst/>
          </a:prstGeom>
          <a:noFill/>
          <a:ln/>
        </p:spPr>
        <p:txBody>
          <a:bodyPr wrap="square" lIns="0" tIns="0" rIns="0" bIns="0" rtlCol="0" anchor="ctr"/>
          <a:lstStyle/>
          <a:p>
            <a:pPr algn="ctr" indent="0" marL="0">
              <a:buNone/>
            </a:pPr>
            <a:r>
              <a:rPr lang="en-US" sz="2600" b="1" dirty="0">
                <a:solidFill>
                  <a:schemeClr val="bg1"/>
                </a:solidFill>
              </a:rPr>
              <a:t>$175K-300K</a:t>
            </a:r>
            <a:endParaRPr lang="en-US" sz="2600" dirty="0"/>
          </a:p>
        </p:txBody>
      </p:sp>
      <p:sp>
        <p:nvSpPr>
          <p:cNvPr id="9" name="Text 7"/>
          <p:cNvSpPr txBox="1"/>
          <p:nvPr/>
        </p:nvSpPr>
        <p:spPr>
          <a:xfrm>
            <a:off x="3429000" y="2103120"/>
            <a:ext cx="2286000" cy="365760"/>
          </a:xfrm>
          <a:prstGeom prst="rect">
            <a:avLst/>
          </a:prstGeom>
          <a:noFill/>
          <a:ln/>
        </p:spPr>
        <p:txBody>
          <a:bodyPr wrap="square" lIns="0" tIns="0" rIns="0" bIns="0" rtlCol="0" anchor="t"/>
          <a:lstStyle/>
          <a:p>
            <a:pPr algn="ctr" indent="0" marL="0">
              <a:buNone/>
            </a:pPr>
            <a:r>
              <a:rPr lang="en-US" sz="1400" b="1" dirty="0">
                <a:solidFill>
                  <a:schemeClr val="bg1"/>
                </a:solidFill>
              </a:rPr>
              <a:t>25th to 75th percentile</a:t>
            </a:r>
            <a:endParaRPr lang="en-US" sz="1400" dirty="0"/>
          </a:p>
        </p:txBody>
      </p:sp>
      <p:sp>
        <p:nvSpPr>
          <p:cNvPr id="10" name="Text 8"/>
          <p:cNvSpPr txBox="1"/>
          <p:nvPr/>
        </p:nvSpPr>
        <p:spPr>
          <a:xfrm>
            <a:off x="3429000" y="2514600"/>
            <a:ext cx="2286000" cy="228600"/>
          </a:xfrm>
          <a:prstGeom prst="rect">
            <a:avLst/>
          </a:prstGeom>
          <a:noFill/>
          <a:ln/>
        </p:spPr>
        <p:txBody>
          <a:bodyPr wrap="square" lIns="0" tIns="0" rIns="0" bIns="0" rtlCol="0" anchor="ctr"/>
          <a:lstStyle/>
          <a:p>
            <a:pPr algn="ctr" indent="0" marL="0">
              <a:buNone/>
            </a:pPr>
            <a:r>
              <a:rPr lang="en-US" sz="1100" dirty="0">
                <a:solidFill>
                  <a:schemeClr val="bg1"/>
                </a:solidFill>
              </a:rPr>
              <a:t>Levels.fyi, Oct 2026</a:t>
            </a:r>
            <a:endParaRPr lang="en-US" sz="1100" dirty="0"/>
          </a:p>
        </p:txBody>
      </p:sp>
      <p:sp>
        <p:nvSpPr>
          <p:cNvPr id="11" name="stat card"/>
          <p:cNvSpPr/>
          <p:nvPr/>
        </p:nvSpPr>
        <p:spPr>
          <a:xfrm>
            <a:off x="6126480" y="1234440"/>
            <a:ext cx="2560320" cy="1600200"/>
          </a:xfrm>
          <a:prstGeom prst="roundRect">
            <a:avLst>
              <a:gd name="adj" fmla="val 6857"/>
            </a:avLst>
          </a:prstGeom>
          <a:solidFill>
            <a:schemeClr val="accent2"/>
          </a:solidFill>
          <a:ln w="12700">
            <a:solidFill>
              <a:schemeClr val="accent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6217920" y="1325880"/>
            <a:ext cx="2377440" cy="731520"/>
          </a:xfrm>
          <a:prstGeom prst="rect">
            <a:avLst/>
          </a:prstGeom>
          <a:noFill/>
          <a:ln/>
        </p:spPr>
        <p:txBody>
          <a:bodyPr wrap="square" lIns="0" tIns="0" rIns="0" bIns="0" rtlCol="0" anchor="ctr"/>
          <a:lstStyle/>
          <a:p>
            <a:pPr algn="ctr" indent="0" marL="0">
              <a:buNone/>
            </a:pPr>
            <a:r>
              <a:rPr lang="en-US" sz="2600" b="1" dirty="0">
                <a:solidFill>
                  <a:schemeClr val="tx1"/>
                </a:solidFill>
              </a:rPr>
              <a:t>₹10.5L-16.7L</a:t>
            </a:r>
            <a:endParaRPr lang="en-US" sz="2600" dirty="0"/>
          </a:p>
        </p:txBody>
      </p:sp>
      <p:sp>
        <p:nvSpPr>
          <p:cNvPr id="13" name="Text 11"/>
          <p:cNvSpPr txBox="1"/>
          <p:nvPr/>
        </p:nvSpPr>
        <p:spPr>
          <a:xfrm>
            <a:off x="6263640" y="2103120"/>
            <a:ext cx="2286000" cy="365760"/>
          </a:xfrm>
          <a:prstGeom prst="rect">
            <a:avLst/>
          </a:prstGeom>
          <a:noFill/>
          <a:ln/>
        </p:spPr>
        <p:txBody>
          <a:bodyPr wrap="square" lIns="0" tIns="0" rIns="0" bIns="0" rtlCol="0" anchor="t"/>
          <a:lstStyle/>
          <a:p>
            <a:pPr algn="ctr" indent="0" marL="0">
              <a:buNone/>
            </a:pPr>
            <a:r>
              <a:rPr lang="en-US" sz="1400" b="1" dirty="0">
                <a:solidFill>
                  <a:schemeClr val="tx1"/>
                </a:solidFill>
              </a:rPr>
              <a:t>Typical range in India</a:t>
            </a:r>
            <a:endParaRPr lang="en-US" sz="1400" dirty="0"/>
          </a:p>
        </p:txBody>
      </p:sp>
      <p:sp>
        <p:nvSpPr>
          <p:cNvPr id="14" name="Text 12"/>
          <p:cNvSpPr txBox="1"/>
          <p:nvPr/>
        </p:nvSpPr>
        <p:spPr>
          <a:xfrm>
            <a:off x="6263640" y="2514600"/>
            <a:ext cx="2286000" cy="228600"/>
          </a:xfrm>
          <a:prstGeom prst="rect">
            <a:avLst/>
          </a:prstGeom>
          <a:noFill/>
          <a:ln/>
        </p:spPr>
        <p:txBody>
          <a:bodyPr wrap="square" lIns="0" tIns="0" rIns="0" bIns="0" rtlCol="0" anchor="ctr"/>
          <a:lstStyle/>
          <a:p>
            <a:pPr algn="ctr" indent="0" marL="0">
              <a:buNone/>
            </a:pPr>
            <a:r>
              <a:rPr lang="en-US" sz="1100" dirty="0">
                <a:solidFill>
                  <a:schemeClr val="tx1"/>
                </a:solidFill>
              </a:rPr>
              <a:t>Glassdoor snapshot</a:t>
            </a:r>
            <a:endParaRPr lang="en-US" sz="1100" dirty="0"/>
          </a:p>
        </p:txBody>
      </p:sp>
      <p:sp>
        <p:nvSpPr>
          <p:cNvPr id="15" name="demand icon"/>
          <p:cNvSpPr/>
          <p:nvPr/>
        </p:nvSpPr>
        <p:spPr>
          <a:xfrm>
            <a:off x="457200" y="3063240"/>
            <a:ext cx="365760" cy="365760"/>
          </a:xfrm>
          <a:prstGeom prst="ellipse">
            <a:avLst/>
          </a:prstGeom>
          <a:solidFill>
            <a:schemeClr val="accent1"/>
          </a:solidFill>
          <a:ln w="12700">
            <a:solidFill>
              <a:schemeClr val="accent1"/>
            </a:solidFill>
            <a:prstDash val="solid"/>
          </a:ln>
        </p:spPr>
      </p:sp>
      <p:pic>
        <p:nvPicPr>
          <p:cNvPr id="16" name="Image 0" descr="icon">    </p:cNvPr>
          <p:cNvPicPr>
            <a:picLocks noChangeAspect="1"/>
          </p:cNvPicPr>
          <p:nvPr/>
        </p:nvPicPr>
        <p:blipFill>
          <a:blip r:embed="rId1"/>
          <a:stretch>
            <a:fillRect/>
          </a:stretch>
        </p:blipFill>
        <p:spPr>
          <a:xfrm>
            <a:off x="548640" y="3154680"/>
            <a:ext cx="182880" cy="182880"/>
          </a:xfrm>
          <a:prstGeom prst="rect">
            <a:avLst/>
          </a:prstGeom>
        </p:spPr>
      </p:pic>
      <p:sp>
        <p:nvSpPr>
          <p:cNvPr id="17" name="Text 14"/>
          <p:cNvSpPr txBox="1"/>
          <p:nvPr/>
        </p:nvSpPr>
        <p:spPr>
          <a:xfrm>
            <a:off x="960120" y="3063240"/>
            <a:ext cx="7680960" cy="365760"/>
          </a:xfrm>
          <a:prstGeom prst="rect">
            <a:avLst/>
          </a:prstGeom>
          <a:noFill/>
          <a:ln/>
        </p:spPr>
        <p:txBody>
          <a:bodyPr wrap="square" lIns="0" tIns="0" rIns="0" bIns="0" rtlCol="0" anchor="ctr"/>
          <a:lstStyle/>
          <a:p>
            <a:pPr indent="0" marL="0">
              <a:buNone/>
            </a:pPr>
            <a:r>
              <a:rPr lang="en-US" sz="1400" dirty="0">
                <a:solidFill>
                  <a:schemeClr val="tx1"/>
                </a:solidFill>
              </a:rPr>
              <a:t>Palantir pioneered the role; OpenAI, Anthropic and Databricks now hire FDEs</a:t>
            </a:r>
            <a:endParaRPr lang="en-US" sz="1400" dirty="0"/>
          </a:p>
        </p:txBody>
      </p:sp>
      <p:sp>
        <p:nvSpPr>
          <p:cNvPr id="18" name="demand icon"/>
          <p:cNvSpPr/>
          <p:nvPr/>
        </p:nvSpPr>
        <p:spPr>
          <a:xfrm>
            <a:off x="457200" y="3520440"/>
            <a:ext cx="365760" cy="365760"/>
          </a:xfrm>
          <a:prstGeom prst="ellipse">
            <a:avLst/>
          </a:prstGeom>
          <a:solidFill>
            <a:schemeClr val="accent1"/>
          </a:solidFill>
          <a:ln w="12700">
            <a:solidFill>
              <a:schemeClr val="accent1"/>
            </a:solidFill>
            <a:prstDash val="solid"/>
          </a:ln>
        </p:spPr>
      </p:sp>
      <p:pic>
        <p:nvPicPr>
          <p:cNvPr id="19" name="Image 1" descr="icon">    </p:cNvPr>
          <p:cNvPicPr>
            <a:picLocks noChangeAspect="1"/>
          </p:cNvPicPr>
          <p:nvPr/>
        </p:nvPicPr>
        <p:blipFill>
          <a:blip r:embed="rId2"/>
          <a:stretch>
            <a:fillRect/>
          </a:stretch>
        </p:blipFill>
        <p:spPr>
          <a:xfrm>
            <a:off x="548640" y="3611880"/>
            <a:ext cx="182880" cy="182880"/>
          </a:xfrm>
          <a:prstGeom prst="rect">
            <a:avLst/>
          </a:prstGeom>
        </p:spPr>
      </p:pic>
      <p:sp>
        <p:nvSpPr>
          <p:cNvPr id="20" name="Text 16"/>
          <p:cNvSpPr txBox="1"/>
          <p:nvPr/>
        </p:nvSpPr>
        <p:spPr>
          <a:xfrm>
            <a:off x="960120" y="3520440"/>
            <a:ext cx="7680960" cy="365760"/>
          </a:xfrm>
          <a:prstGeom prst="rect">
            <a:avLst/>
          </a:prstGeom>
          <a:noFill/>
          <a:ln/>
        </p:spPr>
        <p:txBody>
          <a:bodyPr wrap="square" lIns="0" tIns="0" rIns="0" bIns="0" rtlCol="0" anchor="ctr"/>
          <a:lstStyle/>
          <a:p>
            <a:pPr indent="0" marL="0">
              <a:buNone/>
            </a:pPr>
            <a:r>
              <a:rPr lang="en-US" sz="1400" dirty="0">
                <a:solidFill>
                  <a:schemeClr val="tx1"/>
                </a:solidFill>
              </a:rPr>
              <a:t>AWS announced a $1 billion FDE investment in 2026 (per SCAI)</a:t>
            </a:r>
            <a:endParaRPr lang="en-US" sz="1400" dirty="0"/>
          </a:p>
        </p:txBody>
      </p:sp>
      <p:sp>
        <p:nvSpPr>
          <p:cNvPr id="21" name="demand icon"/>
          <p:cNvSpPr/>
          <p:nvPr/>
        </p:nvSpPr>
        <p:spPr>
          <a:xfrm>
            <a:off x="457200" y="3977640"/>
            <a:ext cx="365760" cy="365760"/>
          </a:xfrm>
          <a:prstGeom prst="ellipse">
            <a:avLst/>
          </a:prstGeom>
          <a:solidFill>
            <a:schemeClr val="accent1"/>
          </a:solidFill>
          <a:ln w="12700">
            <a:solidFill>
              <a:schemeClr val="accent1"/>
            </a:solidFill>
            <a:prstDash val="solid"/>
          </a:ln>
        </p:spPr>
      </p:sp>
      <p:pic>
        <p:nvPicPr>
          <p:cNvPr id="22" name="Image 2" descr="icon">    </p:cNvPr>
          <p:cNvPicPr>
            <a:picLocks noChangeAspect="1"/>
          </p:cNvPicPr>
          <p:nvPr/>
        </p:nvPicPr>
        <p:blipFill>
          <a:blip r:embed="rId3"/>
          <a:stretch>
            <a:fillRect/>
          </a:stretch>
        </p:blipFill>
        <p:spPr>
          <a:xfrm>
            <a:off x="548640" y="4069080"/>
            <a:ext cx="182880" cy="182880"/>
          </a:xfrm>
          <a:prstGeom prst="rect">
            <a:avLst/>
          </a:prstGeom>
        </p:spPr>
      </p:pic>
      <p:sp>
        <p:nvSpPr>
          <p:cNvPr id="23" name="Text 18"/>
          <p:cNvSpPr txBox="1"/>
          <p:nvPr/>
        </p:nvSpPr>
        <p:spPr>
          <a:xfrm>
            <a:off x="960120" y="3977640"/>
            <a:ext cx="7680960" cy="365760"/>
          </a:xfrm>
          <a:prstGeom prst="rect">
            <a:avLst/>
          </a:prstGeom>
          <a:noFill/>
          <a:ln/>
        </p:spPr>
        <p:txBody>
          <a:bodyPr wrap="square" lIns="0" tIns="0" rIns="0" bIns="0" rtlCol="0" anchor="ctr"/>
          <a:lstStyle/>
          <a:p>
            <a:pPr indent="0" marL="0">
              <a:buNone/>
            </a:pPr>
            <a:r>
              <a:rPr lang="en-US" sz="1400" dirty="0">
                <a:solidFill>
                  <a:schemeClr val="tx1"/>
                </a:solidFill>
              </a:rPr>
              <a:t>Travel and on-site time vary: from low to as much as 50 percent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Habits of strong FDEs</a:t>
            </a:r>
            <a:endParaRPr lang="en-US" sz="3400" dirty="0"/>
          </a:p>
        </p:txBody>
      </p:sp>
      <p:sp>
        <p:nvSpPr>
          <p:cNvPr id="3" name="card"/>
          <p:cNvSpPr/>
          <p:nvPr/>
        </p:nvSpPr>
        <p:spPr>
          <a:xfrm>
            <a:off x="457200" y="1234440"/>
            <a:ext cx="402336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header icon"/>
          <p:cNvSpPr/>
          <p:nvPr/>
        </p:nvSpPr>
        <p:spPr>
          <a:xfrm>
            <a:off x="685800" y="1371600"/>
            <a:ext cx="457200" cy="4572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37160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Do</a:t>
            </a:r>
            <a:endParaRPr lang="en-US" sz="2200" dirty="0"/>
          </a:p>
        </p:txBody>
      </p:sp>
      <p:sp>
        <p:nvSpPr>
          <p:cNvPr id="7" name="bullet dot"/>
          <p:cNvSpPr/>
          <p:nvPr/>
        </p:nvSpPr>
        <p:spPr>
          <a:xfrm>
            <a:off x="731520" y="2148840"/>
            <a:ext cx="128016" cy="128016"/>
          </a:xfrm>
          <a:prstGeom prst="ellipse">
            <a:avLst/>
          </a:prstGeom>
          <a:solidFill>
            <a:schemeClr val="accent1"/>
          </a:solidFill>
          <a:ln w="12700">
            <a:solidFill>
              <a:schemeClr val="accent1"/>
            </a:solidFill>
            <a:prstDash val="solid"/>
          </a:ln>
        </p:spPr>
      </p:sp>
      <p:sp>
        <p:nvSpPr>
          <p:cNvPr id="8" name="Text 5"/>
          <p:cNvSpPr txBox="1"/>
          <p:nvPr/>
        </p:nvSpPr>
        <p:spPr>
          <a:xfrm>
            <a:off x="1005840" y="2011680"/>
            <a:ext cx="3291840" cy="457200"/>
          </a:xfrm>
          <a:prstGeom prst="rect">
            <a:avLst/>
          </a:prstGeom>
          <a:noFill/>
          <a:ln/>
        </p:spPr>
        <p:txBody>
          <a:bodyPr wrap="square" lIns="0" tIns="0" rIns="0" bIns="0" rtlCol="0" anchor="ctr"/>
          <a:lstStyle/>
          <a:p>
            <a:pPr indent="0" marL="0">
              <a:buNone/>
            </a:pPr>
            <a:r>
              <a:rPr lang="en-US" sz="1400" dirty="0">
                <a:solidFill>
                  <a:schemeClr val="tx1"/>
                </a:solidFill>
              </a:rPr>
              <a:t>Add human approval before AI writes data</a:t>
            </a:r>
            <a:endParaRPr lang="en-US" sz="1400" dirty="0"/>
          </a:p>
        </p:txBody>
      </p:sp>
      <p:sp>
        <p:nvSpPr>
          <p:cNvPr id="9" name="bullet dot"/>
          <p:cNvSpPr/>
          <p:nvPr/>
        </p:nvSpPr>
        <p:spPr>
          <a:xfrm>
            <a:off x="731520" y="2770632"/>
            <a:ext cx="128016" cy="128016"/>
          </a:xfrm>
          <a:prstGeom prst="ellipse">
            <a:avLst/>
          </a:prstGeom>
          <a:solidFill>
            <a:schemeClr val="accent1"/>
          </a:solidFill>
          <a:ln w="12700">
            <a:solidFill>
              <a:schemeClr val="accent1"/>
            </a:solidFill>
            <a:prstDash val="solid"/>
          </a:ln>
        </p:spPr>
      </p:sp>
      <p:sp>
        <p:nvSpPr>
          <p:cNvPr id="10" name="Text 7"/>
          <p:cNvSpPr txBox="1"/>
          <p:nvPr/>
        </p:nvSpPr>
        <p:spPr>
          <a:xfrm>
            <a:off x="1005840" y="2633472"/>
            <a:ext cx="3291840" cy="457200"/>
          </a:xfrm>
          <a:prstGeom prst="rect">
            <a:avLst/>
          </a:prstGeom>
          <a:noFill/>
          <a:ln/>
        </p:spPr>
        <p:txBody>
          <a:bodyPr wrap="square" lIns="0" tIns="0" rIns="0" bIns="0" rtlCol="0" anchor="ctr"/>
          <a:lstStyle/>
          <a:p>
            <a:pPr indent="0" marL="0">
              <a:buNone/>
            </a:pPr>
            <a:r>
              <a:rPr lang="en-US" sz="1400" dirty="0">
                <a:solidFill>
                  <a:schemeClr val="tx1"/>
                </a:solidFill>
              </a:rPr>
              <a:t>Measure AI with a 30+ case evaluation set</a:t>
            </a:r>
            <a:endParaRPr lang="en-US" sz="1400" dirty="0"/>
          </a:p>
        </p:txBody>
      </p:sp>
      <p:sp>
        <p:nvSpPr>
          <p:cNvPr id="11" name="bullet dot"/>
          <p:cNvSpPr/>
          <p:nvPr/>
        </p:nvSpPr>
        <p:spPr>
          <a:xfrm>
            <a:off x="731520" y="3392424"/>
            <a:ext cx="128016" cy="128016"/>
          </a:xfrm>
          <a:prstGeom prst="ellipse">
            <a:avLst/>
          </a:prstGeom>
          <a:solidFill>
            <a:schemeClr val="accent1"/>
          </a:solidFill>
          <a:ln w="12700">
            <a:solidFill>
              <a:schemeClr val="accent1"/>
            </a:solidFill>
            <a:prstDash val="solid"/>
          </a:ln>
        </p:spPr>
      </p:sp>
      <p:sp>
        <p:nvSpPr>
          <p:cNvPr id="12" name="Text 9"/>
          <p:cNvSpPr txBox="1"/>
          <p:nvPr/>
        </p:nvSpPr>
        <p:spPr>
          <a:xfrm>
            <a:off x="1005840" y="3255264"/>
            <a:ext cx="3291840" cy="457200"/>
          </a:xfrm>
          <a:prstGeom prst="rect">
            <a:avLst/>
          </a:prstGeom>
          <a:noFill/>
          <a:ln/>
        </p:spPr>
        <p:txBody>
          <a:bodyPr wrap="square" lIns="0" tIns="0" rIns="0" bIns="0" rtlCol="0" anchor="ctr"/>
          <a:lstStyle/>
          <a:p>
            <a:pPr indent="0" marL="0">
              <a:buNone/>
            </a:pPr>
            <a:r>
              <a:rPr lang="en-US" sz="1400" dirty="0">
                <a:solidFill>
                  <a:schemeClr val="tx1"/>
                </a:solidFill>
              </a:rPr>
              <a:t>Design failure paths and rollback early</a:t>
            </a:r>
            <a:endParaRPr lang="en-US" sz="1400" dirty="0"/>
          </a:p>
        </p:txBody>
      </p:sp>
      <p:sp>
        <p:nvSpPr>
          <p:cNvPr id="13" name="bullet dot"/>
          <p:cNvSpPr/>
          <p:nvPr/>
        </p:nvSpPr>
        <p:spPr>
          <a:xfrm>
            <a:off x="731520" y="4014216"/>
            <a:ext cx="128016" cy="128016"/>
          </a:xfrm>
          <a:prstGeom prst="ellipse">
            <a:avLst/>
          </a:prstGeom>
          <a:solidFill>
            <a:schemeClr val="accent1"/>
          </a:solidFill>
          <a:ln w="12700">
            <a:solidFill>
              <a:schemeClr val="accent1"/>
            </a:solidFill>
            <a:prstDash val="solid"/>
          </a:ln>
        </p:spPr>
      </p:sp>
      <p:sp>
        <p:nvSpPr>
          <p:cNvPr id="14" name="Text 11"/>
          <p:cNvSpPr txBox="1"/>
          <p:nvPr/>
        </p:nvSpPr>
        <p:spPr>
          <a:xfrm>
            <a:off x="1005840" y="3877056"/>
            <a:ext cx="3291840" cy="457200"/>
          </a:xfrm>
          <a:prstGeom prst="rect">
            <a:avLst/>
          </a:prstGeom>
          <a:noFill/>
          <a:ln/>
        </p:spPr>
        <p:txBody>
          <a:bodyPr wrap="square" lIns="0" tIns="0" rIns="0" bIns="0" rtlCol="0" anchor="ctr"/>
          <a:lstStyle/>
          <a:p>
            <a:pPr indent="0" marL="0">
              <a:buNone/>
            </a:pPr>
            <a:r>
              <a:rPr lang="en-US" sz="1400" dirty="0">
                <a:solidFill>
                  <a:schemeClr val="tx1"/>
                </a:solidFill>
              </a:rPr>
              <a:t>Hand off docs a peer can operate</a:t>
            </a:r>
            <a:endParaRPr lang="en-US" sz="1400" dirty="0"/>
          </a:p>
        </p:txBody>
      </p:sp>
      <p:sp>
        <p:nvSpPr>
          <p:cNvPr id="15" name="card"/>
          <p:cNvSpPr/>
          <p:nvPr/>
        </p:nvSpPr>
        <p:spPr>
          <a:xfrm>
            <a:off x="4663440" y="1234440"/>
            <a:ext cx="402336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header icon"/>
          <p:cNvSpPr/>
          <p:nvPr/>
        </p:nvSpPr>
        <p:spPr>
          <a:xfrm>
            <a:off x="4892040" y="1371600"/>
            <a:ext cx="457200" cy="457200"/>
          </a:xfrm>
          <a:prstGeom prst="ellipse">
            <a:avLst/>
          </a:prstGeom>
          <a:solidFill>
            <a:schemeClr val="accent3"/>
          </a:solidFill>
          <a:ln w="12700">
            <a:solidFill>
              <a:schemeClr val="accent3"/>
            </a:solidFill>
            <a:prstDash val="solid"/>
          </a:ln>
        </p:spPr>
      </p:sp>
      <p:pic>
        <p:nvPicPr>
          <p:cNvPr id="17" name="Image 1" descr="icon">    </p:cNvPr>
          <p:cNvPicPr>
            <a:picLocks noChangeAspect="1"/>
          </p:cNvPicPr>
          <p:nvPr/>
        </p:nvPicPr>
        <p:blipFill>
          <a:blip r:embed="rId2"/>
          <a:stretch>
            <a:fillRect/>
          </a:stretch>
        </p:blipFill>
        <p:spPr>
          <a:xfrm>
            <a:off x="5006340" y="1485900"/>
            <a:ext cx="228600" cy="228600"/>
          </a:xfrm>
          <a:prstGeom prst="rect">
            <a:avLst/>
          </a:prstGeom>
        </p:spPr>
      </p:pic>
      <p:sp>
        <p:nvSpPr>
          <p:cNvPr id="18" name="Text 14"/>
          <p:cNvSpPr txBox="1"/>
          <p:nvPr/>
        </p:nvSpPr>
        <p:spPr>
          <a:xfrm>
            <a:off x="5486400" y="1371600"/>
            <a:ext cx="2743200" cy="457200"/>
          </a:xfrm>
          <a:prstGeom prst="rect">
            <a:avLst/>
          </a:prstGeom>
          <a:noFill/>
          <a:ln/>
        </p:spPr>
        <p:txBody>
          <a:bodyPr wrap="square" lIns="0" tIns="0" rIns="0" bIns="0" rtlCol="0" anchor="ctr"/>
          <a:lstStyle/>
          <a:p>
            <a:pPr indent="0" marL="0">
              <a:buNone/>
            </a:pPr>
            <a:r>
              <a:rPr lang="en-US" sz="2200" b="1" dirty="0">
                <a:solidFill>
                  <a:schemeClr val="tx1"/>
                </a:solidFill>
              </a:rPr>
              <a:t>Avoid</a:t>
            </a:r>
            <a:endParaRPr lang="en-US" sz="2200" dirty="0"/>
          </a:p>
        </p:txBody>
      </p:sp>
      <p:sp>
        <p:nvSpPr>
          <p:cNvPr id="19" name="bullet dot"/>
          <p:cNvSpPr/>
          <p:nvPr/>
        </p:nvSpPr>
        <p:spPr>
          <a:xfrm>
            <a:off x="4937760" y="2148840"/>
            <a:ext cx="128016" cy="128016"/>
          </a:xfrm>
          <a:prstGeom prst="ellipse">
            <a:avLst/>
          </a:prstGeom>
          <a:solidFill>
            <a:schemeClr val="accent3"/>
          </a:solidFill>
          <a:ln w="12700">
            <a:solidFill>
              <a:schemeClr val="accent3"/>
            </a:solidFill>
            <a:prstDash val="solid"/>
          </a:ln>
        </p:spPr>
      </p:sp>
      <p:sp>
        <p:nvSpPr>
          <p:cNvPr id="20" name="Text 16"/>
          <p:cNvSpPr txBox="1"/>
          <p:nvPr/>
        </p:nvSpPr>
        <p:spPr>
          <a:xfrm>
            <a:off x="5212080" y="2011680"/>
            <a:ext cx="3291840" cy="457200"/>
          </a:xfrm>
          <a:prstGeom prst="rect">
            <a:avLst/>
          </a:prstGeom>
          <a:noFill/>
          <a:ln/>
        </p:spPr>
        <p:txBody>
          <a:bodyPr wrap="square" lIns="0" tIns="0" rIns="0" bIns="0" rtlCol="0" anchor="ctr"/>
          <a:lstStyle/>
          <a:p>
            <a:pPr indent="0" marL="0">
              <a:buNone/>
            </a:pPr>
            <a:r>
              <a:rPr lang="en-US" sz="1400" dirty="0">
                <a:solidFill>
                  <a:schemeClr val="tx1"/>
                </a:solidFill>
              </a:rPr>
              <a:t>Using AI where SQL or if-else would do</a:t>
            </a:r>
            <a:endParaRPr lang="en-US" sz="1400" dirty="0"/>
          </a:p>
        </p:txBody>
      </p:sp>
      <p:sp>
        <p:nvSpPr>
          <p:cNvPr id="21" name="bullet dot"/>
          <p:cNvSpPr/>
          <p:nvPr/>
        </p:nvSpPr>
        <p:spPr>
          <a:xfrm>
            <a:off x="4937760" y="2770632"/>
            <a:ext cx="128016" cy="128016"/>
          </a:xfrm>
          <a:prstGeom prst="ellipse">
            <a:avLst/>
          </a:prstGeom>
          <a:solidFill>
            <a:schemeClr val="accent3"/>
          </a:solidFill>
          <a:ln w="12700">
            <a:solidFill>
              <a:schemeClr val="accent3"/>
            </a:solidFill>
            <a:prstDash val="solid"/>
          </a:ln>
        </p:spPr>
      </p:sp>
      <p:sp>
        <p:nvSpPr>
          <p:cNvPr id="22" name="Text 18"/>
          <p:cNvSpPr txBox="1"/>
          <p:nvPr/>
        </p:nvSpPr>
        <p:spPr>
          <a:xfrm>
            <a:off x="5212080" y="2633472"/>
            <a:ext cx="3291840" cy="457200"/>
          </a:xfrm>
          <a:prstGeom prst="rect">
            <a:avLst/>
          </a:prstGeom>
          <a:noFill/>
          <a:ln/>
        </p:spPr>
        <p:txBody>
          <a:bodyPr wrap="square" lIns="0" tIns="0" rIns="0" bIns="0" rtlCol="0" anchor="ctr"/>
          <a:lstStyle/>
          <a:p>
            <a:pPr indent="0" marL="0">
              <a:buNone/>
            </a:pPr>
            <a:r>
              <a:rPr lang="en-US" sz="1400" dirty="0">
                <a:solidFill>
                  <a:schemeClr val="tx1"/>
                </a:solidFill>
              </a:rPr>
              <a:t>Shipping only notebooks and demos</a:t>
            </a:r>
            <a:endParaRPr lang="en-US" sz="1400" dirty="0"/>
          </a:p>
        </p:txBody>
      </p:sp>
      <p:sp>
        <p:nvSpPr>
          <p:cNvPr id="23" name="bullet dot"/>
          <p:cNvSpPr/>
          <p:nvPr/>
        </p:nvSpPr>
        <p:spPr>
          <a:xfrm>
            <a:off x="4937760" y="3392424"/>
            <a:ext cx="128016" cy="128016"/>
          </a:xfrm>
          <a:prstGeom prst="ellipse">
            <a:avLst/>
          </a:prstGeom>
          <a:solidFill>
            <a:schemeClr val="accent3"/>
          </a:solidFill>
          <a:ln w="12700">
            <a:solidFill>
              <a:schemeClr val="accent3"/>
            </a:solidFill>
            <a:prstDash val="solid"/>
          </a:ln>
        </p:spPr>
      </p:sp>
      <p:sp>
        <p:nvSpPr>
          <p:cNvPr id="24" name="Text 20"/>
          <p:cNvSpPr txBox="1"/>
          <p:nvPr/>
        </p:nvSpPr>
        <p:spPr>
          <a:xfrm>
            <a:off x="5212080" y="3255264"/>
            <a:ext cx="3291840" cy="457200"/>
          </a:xfrm>
          <a:prstGeom prst="rect">
            <a:avLst/>
          </a:prstGeom>
          <a:noFill/>
          <a:ln/>
        </p:spPr>
        <p:txBody>
          <a:bodyPr wrap="square" lIns="0" tIns="0" rIns="0" bIns="0" rtlCol="0" anchor="ctr"/>
          <a:lstStyle/>
          <a:p>
            <a:pPr indent="0" marL="0">
              <a:buNone/>
            </a:pPr>
            <a:r>
              <a:rPr lang="en-US" sz="1400" dirty="0">
                <a:solidFill>
                  <a:schemeClr val="tx1"/>
                </a:solidFill>
              </a:rPr>
              <a:t>Scoping too broadly: "automate everything"</a:t>
            </a:r>
            <a:endParaRPr lang="en-US" sz="1400" dirty="0"/>
          </a:p>
        </p:txBody>
      </p:sp>
      <p:sp>
        <p:nvSpPr>
          <p:cNvPr id="25" name="bullet dot"/>
          <p:cNvSpPr/>
          <p:nvPr/>
        </p:nvSpPr>
        <p:spPr>
          <a:xfrm>
            <a:off x="4937760" y="4014216"/>
            <a:ext cx="128016" cy="128016"/>
          </a:xfrm>
          <a:prstGeom prst="ellipse">
            <a:avLst/>
          </a:prstGeom>
          <a:solidFill>
            <a:schemeClr val="accent3"/>
          </a:solidFill>
          <a:ln w="12700">
            <a:solidFill>
              <a:schemeClr val="accent3"/>
            </a:solidFill>
            <a:prstDash val="solid"/>
          </a:ln>
        </p:spPr>
      </p:sp>
      <p:sp>
        <p:nvSpPr>
          <p:cNvPr id="26" name="Text 22"/>
          <p:cNvSpPr txBox="1"/>
          <p:nvPr/>
        </p:nvSpPr>
        <p:spPr>
          <a:xfrm>
            <a:off x="5212080" y="3877056"/>
            <a:ext cx="3291840" cy="457200"/>
          </a:xfrm>
          <a:prstGeom prst="rect">
            <a:avLst/>
          </a:prstGeom>
          <a:noFill/>
          <a:ln/>
        </p:spPr>
        <p:txBody>
          <a:bodyPr wrap="square" lIns="0" tIns="0" rIns="0" bIns="0" rtlCol="0" anchor="ctr"/>
          <a:lstStyle/>
          <a:p>
            <a:pPr indent="0" marL="0">
              <a:buNone/>
            </a:pPr>
            <a:r>
              <a:rPr lang="en-US" sz="1400" dirty="0">
                <a:solidFill>
                  <a:schemeClr val="tx1"/>
                </a:solidFill>
              </a:rPr>
              <a:t>Stopping at deployment, skipping handoff</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Your first 3 steps</a:t>
            </a:r>
            <a:endParaRPr lang="en-US" sz="3400" dirty="0"/>
          </a:p>
        </p:txBody>
      </p:sp>
      <p:sp>
        <p:nvSpPr>
          <p:cNvPr id="3" name="step card"/>
          <p:cNvSpPr/>
          <p:nvPr/>
        </p:nvSpPr>
        <p:spPr>
          <a:xfrm>
            <a:off x="457200" y="1371600"/>
            <a:ext cx="2560320" cy="2651760"/>
          </a:xfrm>
          <a:prstGeom prst="roundRect">
            <a:avLst>
              <a:gd name="adj" fmla="val 4286"/>
            </a:avLst>
          </a:prstGeom>
          <a:solidFill>
            <a:schemeClr val="tx2"/>
          </a:solidFill>
          <a:ln w="12700">
            <a:solidFill>
              <a:schemeClr val="tx2"/>
            </a:solidFill>
            <a:prstDash val="solid"/>
          </a:ln>
        </p:spPr>
      </p:sp>
      <p:sp>
        <p:nvSpPr>
          <p:cNvPr id="4" name="step icon"/>
          <p:cNvSpPr/>
          <p:nvPr/>
        </p:nvSpPr>
        <p:spPr>
          <a:xfrm>
            <a:off x="1325880" y="1600200"/>
            <a:ext cx="822960" cy="82296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1531620" y="1805940"/>
            <a:ext cx="411480" cy="411480"/>
          </a:xfrm>
          <a:prstGeom prst="rect">
            <a:avLst/>
          </a:prstGeom>
        </p:spPr>
      </p:pic>
      <p:sp>
        <p:nvSpPr>
          <p:cNvPr id="6" name="Text 3"/>
          <p:cNvSpPr txBox="1"/>
          <p:nvPr/>
        </p:nvSpPr>
        <p:spPr>
          <a:xfrm>
            <a:off x="640080" y="1508760"/>
            <a:ext cx="457200" cy="457200"/>
          </a:xfrm>
          <a:prstGeom prst="rect">
            <a:avLst/>
          </a:prstGeom>
          <a:noFill/>
          <a:ln/>
        </p:spPr>
        <p:txBody>
          <a:bodyPr wrap="square" lIns="0" tIns="0" rIns="0" bIns="0" rtlCol="0" anchor="ctr"/>
          <a:lstStyle/>
          <a:p>
            <a:pPr indent="0" marL="0">
              <a:buNone/>
            </a:pPr>
            <a:r>
              <a:rPr lang="en-US" sz="2800" b="1" dirty="0">
                <a:solidFill>
                  <a:schemeClr val="accent2"/>
                </a:solidFill>
              </a:rPr>
              <a:t>1</a:t>
            </a:r>
            <a:endParaRPr lang="en-US" sz="2800" dirty="0"/>
          </a:p>
        </p:txBody>
      </p:sp>
      <p:sp>
        <p:nvSpPr>
          <p:cNvPr id="7" name="Text 4"/>
          <p:cNvSpPr txBox="1"/>
          <p:nvPr/>
        </p:nvSpPr>
        <p:spPr>
          <a:xfrm>
            <a:off x="640080" y="2606040"/>
            <a:ext cx="2194560" cy="594360"/>
          </a:xfrm>
          <a:prstGeom prst="rect">
            <a:avLst/>
          </a:prstGeom>
          <a:noFill/>
          <a:ln/>
        </p:spPr>
        <p:txBody>
          <a:bodyPr wrap="square" lIns="0" tIns="0" rIns="0" bIns="0" rtlCol="0" anchor="ctr"/>
          <a:lstStyle/>
          <a:p>
            <a:pPr algn="ctr" indent="0" marL="0">
              <a:buNone/>
            </a:pPr>
            <a:r>
              <a:rPr lang="en-US" sz="1800" b="1" dirty="0">
                <a:solidFill>
                  <a:schemeClr val="bg1"/>
                </a:solidFill>
              </a:rPr>
              <a:t>Pick your starting stage</a:t>
            </a:r>
            <a:endParaRPr lang="en-US" sz="1800" dirty="0"/>
          </a:p>
        </p:txBody>
      </p:sp>
      <p:sp>
        <p:nvSpPr>
          <p:cNvPr id="8" name="Text 5"/>
          <p:cNvSpPr txBox="1"/>
          <p:nvPr/>
        </p:nvSpPr>
        <p:spPr>
          <a:xfrm>
            <a:off x="640080" y="3246120"/>
            <a:ext cx="2194560" cy="594360"/>
          </a:xfrm>
          <a:prstGeom prst="rect">
            <a:avLst/>
          </a:prstGeom>
          <a:noFill/>
          <a:ln/>
        </p:spPr>
        <p:txBody>
          <a:bodyPr wrap="square" lIns="0" tIns="0" rIns="0" bIns="0" rtlCol="0" anchor="t"/>
          <a:lstStyle/>
          <a:p>
            <a:pPr algn="ctr" indent="0" marL="0">
              <a:buNone/>
            </a:pPr>
            <a:r>
              <a:rPr lang="en-US" sz="1400" dirty="0">
                <a:solidFill>
                  <a:schemeClr val="bg2"/>
                </a:solidFill>
              </a:rPr>
              <a:t>Use the staircase to find your gap</a:t>
            </a:r>
            <a:endParaRPr lang="en-US" sz="1400" dirty="0"/>
          </a:p>
        </p:txBody>
      </p:sp>
      <p:sp>
        <p:nvSpPr>
          <p:cNvPr id="9" name="step card"/>
          <p:cNvSpPr/>
          <p:nvPr/>
        </p:nvSpPr>
        <p:spPr>
          <a:xfrm>
            <a:off x="3291840" y="1371600"/>
            <a:ext cx="2560320" cy="2651760"/>
          </a:xfrm>
          <a:prstGeom prst="roundRect">
            <a:avLst>
              <a:gd name="adj" fmla="val 4286"/>
            </a:avLst>
          </a:prstGeom>
          <a:solidFill>
            <a:schemeClr val="tx2"/>
          </a:solidFill>
          <a:ln w="12700">
            <a:solidFill>
              <a:schemeClr val="tx2"/>
            </a:solidFill>
            <a:prstDash val="solid"/>
          </a:ln>
        </p:spPr>
      </p:sp>
      <p:sp>
        <p:nvSpPr>
          <p:cNvPr id="10" name="step icon"/>
          <p:cNvSpPr/>
          <p:nvPr/>
        </p:nvSpPr>
        <p:spPr>
          <a:xfrm>
            <a:off x="4160520" y="1600200"/>
            <a:ext cx="822960" cy="822960"/>
          </a:xfrm>
          <a:prstGeom prst="ellipse">
            <a:avLst/>
          </a:prstGeom>
          <a:solidFill>
            <a:schemeClr val="accent4"/>
          </a:solidFill>
          <a:ln w="12700">
            <a:solidFill>
              <a:schemeClr val="accent4"/>
            </a:solidFill>
            <a:prstDash val="solid"/>
          </a:ln>
        </p:spPr>
      </p:sp>
      <p:pic>
        <p:nvPicPr>
          <p:cNvPr id="11" name="Image 1" descr="icon">    </p:cNvPr>
          <p:cNvPicPr>
            <a:picLocks noChangeAspect="1"/>
          </p:cNvPicPr>
          <p:nvPr/>
        </p:nvPicPr>
        <p:blipFill>
          <a:blip r:embed="rId2"/>
          <a:stretch>
            <a:fillRect/>
          </a:stretch>
        </p:blipFill>
        <p:spPr>
          <a:xfrm>
            <a:off x="4366260" y="1805940"/>
            <a:ext cx="411480" cy="411480"/>
          </a:xfrm>
          <a:prstGeom prst="rect">
            <a:avLst/>
          </a:prstGeom>
        </p:spPr>
      </p:pic>
      <p:sp>
        <p:nvSpPr>
          <p:cNvPr id="12" name="Text 8"/>
          <p:cNvSpPr txBox="1"/>
          <p:nvPr/>
        </p:nvSpPr>
        <p:spPr>
          <a:xfrm>
            <a:off x="3474720" y="1508760"/>
            <a:ext cx="457200" cy="457200"/>
          </a:xfrm>
          <a:prstGeom prst="rect">
            <a:avLst/>
          </a:prstGeom>
          <a:noFill/>
          <a:ln/>
        </p:spPr>
        <p:txBody>
          <a:bodyPr wrap="square" lIns="0" tIns="0" rIns="0" bIns="0" rtlCol="0" anchor="ctr"/>
          <a:lstStyle/>
          <a:p>
            <a:pPr indent="0" marL="0">
              <a:buNone/>
            </a:pPr>
            <a:r>
              <a:rPr lang="en-US" sz="2800" b="1" dirty="0">
                <a:solidFill>
                  <a:schemeClr val="accent2"/>
                </a:solidFill>
              </a:rPr>
              <a:t>2</a:t>
            </a:r>
            <a:endParaRPr lang="en-US" sz="2800" dirty="0"/>
          </a:p>
        </p:txBody>
      </p:sp>
      <p:sp>
        <p:nvSpPr>
          <p:cNvPr id="13" name="Text 9"/>
          <p:cNvSpPr txBox="1"/>
          <p:nvPr/>
        </p:nvSpPr>
        <p:spPr>
          <a:xfrm>
            <a:off x="3474720" y="2606040"/>
            <a:ext cx="2194560" cy="594360"/>
          </a:xfrm>
          <a:prstGeom prst="rect">
            <a:avLst/>
          </a:prstGeom>
          <a:noFill/>
          <a:ln/>
        </p:spPr>
        <p:txBody>
          <a:bodyPr wrap="square" lIns="0" tIns="0" rIns="0" bIns="0" rtlCol="0" anchor="ctr"/>
          <a:lstStyle/>
          <a:p>
            <a:pPr algn="ctr" indent="0" marL="0">
              <a:buNone/>
            </a:pPr>
            <a:r>
              <a:rPr lang="en-US" sz="1800" b="1" dirty="0">
                <a:solidFill>
                  <a:schemeClr val="bg1"/>
                </a:solidFill>
              </a:rPr>
              <a:t>Build one end-to-end project</a:t>
            </a:r>
            <a:endParaRPr lang="en-US" sz="1800" dirty="0"/>
          </a:p>
        </p:txBody>
      </p:sp>
      <p:sp>
        <p:nvSpPr>
          <p:cNvPr id="14" name="Text 10"/>
          <p:cNvSpPr txBox="1"/>
          <p:nvPr/>
        </p:nvSpPr>
        <p:spPr>
          <a:xfrm>
            <a:off x="3474720" y="3246120"/>
            <a:ext cx="2194560" cy="594360"/>
          </a:xfrm>
          <a:prstGeom prst="rect">
            <a:avLst/>
          </a:prstGeom>
          <a:noFill/>
          <a:ln/>
        </p:spPr>
        <p:txBody>
          <a:bodyPr wrap="square" lIns="0" tIns="0" rIns="0" bIns="0" rtlCol="0" anchor="t"/>
          <a:lstStyle/>
          <a:p>
            <a:pPr algn="ctr" indent="0" marL="0">
              <a:buNone/>
            </a:pPr>
            <a:r>
              <a:rPr lang="en-US" sz="1400" dirty="0">
                <a:solidFill>
                  <a:schemeClr val="bg2"/>
                </a:solidFill>
              </a:rPr>
              <a:t>Ship it with tests, deployment and docs</a:t>
            </a:r>
            <a:endParaRPr lang="en-US" sz="1400" dirty="0"/>
          </a:p>
        </p:txBody>
      </p:sp>
      <p:sp>
        <p:nvSpPr>
          <p:cNvPr id="15" name="step card"/>
          <p:cNvSpPr/>
          <p:nvPr/>
        </p:nvSpPr>
        <p:spPr>
          <a:xfrm>
            <a:off x="6126480" y="1371600"/>
            <a:ext cx="2560320" cy="2651760"/>
          </a:xfrm>
          <a:prstGeom prst="roundRect">
            <a:avLst>
              <a:gd name="adj" fmla="val 4286"/>
            </a:avLst>
          </a:prstGeom>
          <a:solidFill>
            <a:schemeClr val="tx2"/>
          </a:solidFill>
          <a:ln w="12700">
            <a:solidFill>
              <a:schemeClr val="tx2"/>
            </a:solidFill>
            <a:prstDash val="solid"/>
          </a:ln>
        </p:spPr>
      </p:sp>
      <p:sp>
        <p:nvSpPr>
          <p:cNvPr id="16" name="step icon"/>
          <p:cNvSpPr/>
          <p:nvPr/>
        </p:nvSpPr>
        <p:spPr>
          <a:xfrm>
            <a:off x="6995160" y="1600200"/>
            <a:ext cx="822960" cy="822960"/>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7200900" y="1805940"/>
            <a:ext cx="411480" cy="411480"/>
          </a:xfrm>
          <a:prstGeom prst="rect">
            <a:avLst/>
          </a:prstGeom>
        </p:spPr>
      </p:pic>
      <p:sp>
        <p:nvSpPr>
          <p:cNvPr id="18" name="Text 13"/>
          <p:cNvSpPr txBox="1"/>
          <p:nvPr/>
        </p:nvSpPr>
        <p:spPr>
          <a:xfrm>
            <a:off x="6309360" y="1508760"/>
            <a:ext cx="457200" cy="457200"/>
          </a:xfrm>
          <a:prstGeom prst="rect">
            <a:avLst/>
          </a:prstGeom>
          <a:noFill/>
          <a:ln/>
        </p:spPr>
        <p:txBody>
          <a:bodyPr wrap="square" lIns="0" tIns="0" rIns="0" bIns="0" rtlCol="0" anchor="ctr"/>
          <a:lstStyle/>
          <a:p>
            <a:pPr indent="0" marL="0">
              <a:buNone/>
            </a:pPr>
            <a:r>
              <a:rPr lang="en-US" sz="2800" b="1" dirty="0">
                <a:solidFill>
                  <a:schemeClr val="accent2"/>
                </a:solidFill>
              </a:rPr>
              <a:t>3</a:t>
            </a:r>
            <a:endParaRPr lang="en-US" sz="2800" dirty="0"/>
          </a:p>
        </p:txBody>
      </p:sp>
      <p:sp>
        <p:nvSpPr>
          <p:cNvPr id="19" name="Text 14"/>
          <p:cNvSpPr txBox="1"/>
          <p:nvPr/>
        </p:nvSpPr>
        <p:spPr>
          <a:xfrm>
            <a:off x="6309360" y="2606040"/>
            <a:ext cx="2194560" cy="594360"/>
          </a:xfrm>
          <a:prstGeom prst="rect">
            <a:avLst/>
          </a:prstGeom>
          <a:noFill/>
          <a:ln/>
        </p:spPr>
        <p:txBody>
          <a:bodyPr wrap="square" lIns="0" tIns="0" rIns="0" bIns="0" rtlCol="0" anchor="ctr"/>
          <a:lstStyle/>
          <a:p>
            <a:pPr algn="ctr" indent="0" marL="0">
              <a:buNone/>
            </a:pPr>
            <a:r>
              <a:rPr lang="en-US" sz="1800" b="1" dirty="0">
                <a:solidFill>
                  <a:schemeClr val="bg1"/>
                </a:solidFill>
              </a:rPr>
              <a:t>Write a one-page case study</a:t>
            </a:r>
            <a:endParaRPr lang="en-US" sz="1800" dirty="0"/>
          </a:p>
        </p:txBody>
      </p:sp>
      <p:sp>
        <p:nvSpPr>
          <p:cNvPr id="20" name="Text 15"/>
          <p:cNvSpPr txBox="1"/>
          <p:nvPr/>
        </p:nvSpPr>
        <p:spPr>
          <a:xfrm>
            <a:off x="6309360" y="3246120"/>
            <a:ext cx="2194560" cy="594360"/>
          </a:xfrm>
          <a:prstGeom prst="rect">
            <a:avLst/>
          </a:prstGeom>
          <a:noFill/>
          <a:ln/>
        </p:spPr>
        <p:txBody>
          <a:bodyPr wrap="square" lIns="0" tIns="0" rIns="0" bIns="0" rtlCol="0" anchor="t"/>
          <a:lstStyle/>
          <a:p>
            <a:pPr algn="ctr" indent="0" marL="0">
              <a:buNone/>
            </a:pPr>
            <a:r>
              <a:rPr lang="en-US" sz="1400" dirty="0">
                <a:solidFill>
                  <a:schemeClr val="bg2"/>
                </a:solidFill>
              </a:rPr>
              <a:t>Problem, architecture, business outcome</a:t>
            </a:r>
            <a:endParaRPr lang="en-US" sz="1400" dirty="0"/>
          </a:p>
        </p:txBody>
      </p:sp>
      <p:sp>
        <p:nvSpPr>
          <p:cNvPr id="21" name="Text 16"/>
          <p:cNvSpPr txBox="1"/>
          <p:nvPr/>
        </p:nvSpPr>
        <p:spPr>
          <a:xfrm>
            <a:off x="457200" y="4206240"/>
            <a:ext cx="8229600" cy="365760"/>
          </a:xfrm>
          <a:prstGeom prst="rect">
            <a:avLst/>
          </a:prstGeom>
          <a:noFill/>
          <a:ln/>
        </p:spPr>
        <p:txBody>
          <a:bodyPr wrap="square" lIns="0" tIns="0" rIns="0" bIns="0" rtlCol="0" anchor="ctr"/>
          <a:lstStyle/>
          <a:p>
            <a:pPr algn="ctr" indent="0" marL="0">
              <a:buNone/>
            </a:pPr>
            <a:r>
              <a:rPr lang="en-US" sz="1800" b="1" dirty="0">
                <a:solidFill>
                  <a:schemeClr val="accent2"/>
                </a:solidFill>
              </a:rPr>
              <a:t>Ship it. Measure it. Hand it off.</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Sources</a:t>
            </a:r>
            <a:endParaRPr lang="en-US" sz="3400" dirty="0"/>
          </a:p>
        </p:txBody>
      </p:sp>
      <p:sp>
        <p:nvSpPr>
          <p:cNvPr id="3" name="source icon"/>
          <p:cNvSpPr/>
          <p:nvPr/>
        </p:nvSpPr>
        <p:spPr>
          <a:xfrm>
            <a:off x="457200" y="1325880"/>
            <a:ext cx="384048" cy="384048"/>
          </a:xfrm>
          <a:prstGeom prst="ellipse">
            <a:avLst/>
          </a:prstGeom>
          <a:solidFill>
            <a:schemeClr val="accent1"/>
          </a:solidFill>
          <a:ln w="12700">
            <a:solidFill>
              <a:schemeClr val="accent1"/>
            </a:solidFill>
            <a:prstDash val="solid"/>
          </a:ln>
        </p:spPr>
      </p:sp>
      <p:pic>
        <p:nvPicPr>
          <p:cNvPr id="4" name="Image 0" descr="icon">    </p:cNvPr>
          <p:cNvPicPr>
            <a:picLocks noChangeAspect="1"/>
          </p:cNvPicPr>
          <p:nvPr/>
        </p:nvPicPr>
        <p:blipFill>
          <a:blip r:embed="rId1"/>
          <a:stretch>
            <a:fillRect/>
          </a:stretch>
        </p:blipFill>
        <p:spPr>
          <a:xfrm>
            <a:off x="553212" y="1421892"/>
            <a:ext cx="192024" cy="192024"/>
          </a:xfrm>
          <a:prstGeom prst="rect">
            <a:avLst/>
          </a:prstGeom>
        </p:spPr>
      </p:pic>
      <p:sp>
        <p:nvSpPr>
          <p:cNvPr id="5" name="Text 2"/>
          <p:cNvSpPr txBox="1"/>
          <p:nvPr/>
        </p:nvSpPr>
        <p:spPr>
          <a:xfrm>
            <a:off x="1005840" y="1325880"/>
            <a:ext cx="7680960" cy="384048"/>
          </a:xfrm>
          <a:prstGeom prst="rect">
            <a:avLst/>
          </a:prstGeom>
          <a:noFill/>
          <a:ln/>
        </p:spPr>
        <p:txBody>
          <a:bodyPr wrap="square" lIns="0" tIns="0" rIns="0" bIns="0" rtlCol="0" anchor="ctr"/>
          <a:lstStyle/>
          <a:p>
            <a:pPr indent="0" marL="0">
              <a:buNone/>
            </a:pPr>
            <a:r>
              <a:rPr lang="en-US" sz="1400" dirty="0">
                <a:solidFill>
                  <a:schemeClr val="tx1"/>
                </a:solidFill>
              </a:rPr>
              <a:t>School of Core AI: Forward Deployed Engineer Roadmap (schoolofcoreai.com)</a:t>
            </a:r>
            <a:endParaRPr lang="en-US" sz="1400" dirty="0"/>
          </a:p>
        </p:txBody>
      </p:sp>
      <p:sp>
        <p:nvSpPr>
          <p:cNvPr id="6" name="source icon"/>
          <p:cNvSpPr/>
          <p:nvPr/>
        </p:nvSpPr>
        <p:spPr>
          <a:xfrm>
            <a:off x="457200" y="1892808"/>
            <a:ext cx="384048" cy="384048"/>
          </a:xfrm>
          <a:prstGeom prst="ellipse">
            <a:avLst/>
          </a:prstGeom>
          <a:solidFill>
            <a:schemeClr val="accent1"/>
          </a:solidFill>
          <a:ln w="12700">
            <a:solidFill>
              <a:schemeClr val="accent1"/>
            </a:solidFill>
            <a:prstDash val="solid"/>
          </a:ln>
        </p:spPr>
      </p:sp>
      <p:pic>
        <p:nvPicPr>
          <p:cNvPr id="7" name="Image 1" descr="icon">    </p:cNvPr>
          <p:cNvPicPr>
            <a:picLocks noChangeAspect="1"/>
          </p:cNvPicPr>
          <p:nvPr/>
        </p:nvPicPr>
        <p:blipFill>
          <a:blip r:embed="rId2"/>
          <a:stretch>
            <a:fillRect/>
          </a:stretch>
        </p:blipFill>
        <p:spPr>
          <a:xfrm>
            <a:off x="553212" y="1988820"/>
            <a:ext cx="192024" cy="192024"/>
          </a:xfrm>
          <a:prstGeom prst="rect">
            <a:avLst/>
          </a:prstGeom>
        </p:spPr>
      </p:pic>
      <p:sp>
        <p:nvSpPr>
          <p:cNvPr id="8" name="Text 4"/>
          <p:cNvSpPr txBox="1"/>
          <p:nvPr/>
        </p:nvSpPr>
        <p:spPr>
          <a:xfrm>
            <a:off x="1005840" y="1892808"/>
            <a:ext cx="7680960" cy="384048"/>
          </a:xfrm>
          <a:prstGeom prst="rect">
            <a:avLst/>
          </a:prstGeom>
          <a:noFill/>
          <a:ln/>
        </p:spPr>
        <p:txBody>
          <a:bodyPr wrap="square" lIns="0" tIns="0" rIns="0" bIns="0" rtlCol="0" anchor="ctr"/>
          <a:lstStyle/>
          <a:p>
            <a:pPr indent="0" marL="0">
              <a:buNone/>
            </a:pPr>
            <a:r>
              <a:rPr lang="en-US" sz="1400" dirty="0">
                <a:solidFill>
                  <a:schemeClr val="tx1"/>
                </a:solidFill>
              </a:rPr>
              <a:t>Kizzy Consulting: FDE Guide 2026, roadmap, stack and salary (kizzyconsulting.com)</a:t>
            </a:r>
            <a:endParaRPr lang="en-US" sz="1400" dirty="0"/>
          </a:p>
        </p:txBody>
      </p:sp>
      <p:sp>
        <p:nvSpPr>
          <p:cNvPr id="9" name="source icon"/>
          <p:cNvSpPr/>
          <p:nvPr/>
        </p:nvSpPr>
        <p:spPr>
          <a:xfrm>
            <a:off x="457200" y="2459736"/>
            <a:ext cx="384048" cy="384048"/>
          </a:xfrm>
          <a:prstGeom prst="ellipse">
            <a:avLst/>
          </a:prstGeom>
          <a:solidFill>
            <a:schemeClr val="accent1"/>
          </a:solidFill>
          <a:ln w="12700">
            <a:solidFill>
              <a:schemeClr val="accent1"/>
            </a:solidFill>
            <a:prstDash val="solid"/>
          </a:ln>
        </p:spPr>
      </p:sp>
      <p:pic>
        <p:nvPicPr>
          <p:cNvPr id="10" name="Image 2" descr="icon">    </p:cNvPr>
          <p:cNvPicPr>
            <a:picLocks noChangeAspect="1"/>
          </p:cNvPicPr>
          <p:nvPr/>
        </p:nvPicPr>
        <p:blipFill>
          <a:blip r:embed="rId3"/>
          <a:stretch>
            <a:fillRect/>
          </a:stretch>
        </p:blipFill>
        <p:spPr>
          <a:xfrm>
            <a:off x="553212" y="2555748"/>
            <a:ext cx="192024" cy="192024"/>
          </a:xfrm>
          <a:prstGeom prst="rect">
            <a:avLst/>
          </a:prstGeom>
        </p:spPr>
      </p:pic>
      <p:sp>
        <p:nvSpPr>
          <p:cNvPr id="11" name="Text 6"/>
          <p:cNvSpPr txBox="1"/>
          <p:nvPr/>
        </p:nvSpPr>
        <p:spPr>
          <a:xfrm>
            <a:off x="1005840" y="2459736"/>
            <a:ext cx="7680960" cy="384048"/>
          </a:xfrm>
          <a:prstGeom prst="rect">
            <a:avLst/>
          </a:prstGeom>
          <a:noFill/>
          <a:ln/>
        </p:spPr>
        <p:txBody>
          <a:bodyPr wrap="square" lIns="0" tIns="0" rIns="0" bIns="0" rtlCol="0" anchor="ctr"/>
          <a:lstStyle/>
          <a:p>
            <a:pPr indent="0" marL="0">
              <a:buNone/>
            </a:pPr>
            <a:r>
              <a:rPr lang="en-US" sz="1400" dirty="0">
                <a:solidFill>
                  <a:schemeClr val="tx1"/>
                </a:solidFill>
              </a:rPr>
              <a:t>GitHub: thecoder8890/forward-deployed-engineer-roadmap</a:t>
            </a:r>
            <a:endParaRPr lang="en-US" sz="1400" dirty="0"/>
          </a:p>
        </p:txBody>
      </p:sp>
      <p:sp>
        <p:nvSpPr>
          <p:cNvPr id="12" name="source icon"/>
          <p:cNvSpPr/>
          <p:nvPr/>
        </p:nvSpPr>
        <p:spPr>
          <a:xfrm>
            <a:off x="457200" y="3026664"/>
            <a:ext cx="384048" cy="384048"/>
          </a:xfrm>
          <a:prstGeom prst="ellipse">
            <a:avLst/>
          </a:prstGeom>
          <a:solidFill>
            <a:schemeClr val="accent1"/>
          </a:solidFill>
          <a:ln w="12700">
            <a:solidFill>
              <a:schemeClr val="accent1"/>
            </a:solidFill>
            <a:prstDash val="solid"/>
          </a:ln>
        </p:spPr>
      </p:sp>
      <p:pic>
        <p:nvPicPr>
          <p:cNvPr id="13" name="Image 3" descr="icon">    </p:cNvPr>
          <p:cNvPicPr>
            <a:picLocks noChangeAspect="1"/>
          </p:cNvPicPr>
          <p:nvPr/>
        </p:nvPicPr>
        <p:blipFill>
          <a:blip r:embed="rId4"/>
          <a:stretch>
            <a:fillRect/>
          </a:stretch>
        </p:blipFill>
        <p:spPr>
          <a:xfrm>
            <a:off x="553212" y="3122676"/>
            <a:ext cx="192024" cy="192024"/>
          </a:xfrm>
          <a:prstGeom prst="rect">
            <a:avLst/>
          </a:prstGeom>
        </p:spPr>
      </p:pic>
      <p:sp>
        <p:nvSpPr>
          <p:cNvPr id="14" name="Text 8"/>
          <p:cNvSpPr txBox="1"/>
          <p:nvPr/>
        </p:nvSpPr>
        <p:spPr>
          <a:xfrm>
            <a:off x="1005840" y="3026664"/>
            <a:ext cx="7680960" cy="384048"/>
          </a:xfrm>
          <a:prstGeom prst="rect">
            <a:avLst/>
          </a:prstGeom>
          <a:noFill/>
          <a:ln/>
        </p:spPr>
        <p:txBody>
          <a:bodyPr wrap="square" lIns="0" tIns="0" rIns="0" bIns="0" rtlCol="0" anchor="ctr"/>
          <a:lstStyle/>
          <a:p>
            <a:pPr indent="0" marL="0">
              <a:buNone/>
            </a:pPr>
            <a:r>
              <a:rPr lang="en-US" sz="1400" dirty="0">
                <a:solidFill>
                  <a:schemeClr val="tx1"/>
                </a:solidFill>
              </a:rPr>
              <a:t>Netguru, Technically, Paraform, Okoone and cloud-authority: role origin and comparisons</a:t>
            </a:r>
            <a:endParaRPr lang="en-US" sz="1400" dirty="0"/>
          </a:p>
        </p:txBody>
      </p:sp>
      <p:sp>
        <p:nvSpPr>
          <p:cNvPr id="15" name="source icon"/>
          <p:cNvSpPr/>
          <p:nvPr/>
        </p:nvSpPr>
        <p:spPr>
          <a:xfrm>
            <a:off x="457200" y="3593592"/>
            <a:ext cx="384048" cy="384048"/>
          </a:xfrm>
          <a:prstGeom prst="ellipse">
            <a:avLst/>
          </a:prstGeom>
          <a:solidFill>
            <a:schemeClr val="accent1"/>
          </a:solidFill>
          <a:ln w="12700">
            <a:solidFill>
              <a:schemeClr val="accent1"/>
            </a:solidFill>
            <a:prstDash val="solid"/>
          </a:ln>
        </p:spPr>
      </p:sp>
      <p:pic>
        <p:nvPicPr>
          <p:cNvPr id="16" name="Image 4" descr="icon">    </p:cNvPr>
          <p:cNvPicPr>
            <a:picLocks noChangeAspect="1"/>
          </p:cNvPicPr>
          <p:nvPr/>
        </p:nvPicPr>
        <p:blipFill>
          <a:blip r:embed="rId5"/>
          <a:stretch>
            <a:fillRect/>
          </a:stretch>
        </p:blipFill>
        <p:spPr>
          <a:xfrm>
            <a:off x="553212" y="3689604"/>
            <a:ext cx="192024" cy="192024"/>
          </a:xfrm>
          <a:prstGeom prst="rect">
            <a:avLst/>
          </a:prstGeom>
        </p:spPr>
      </p:pic>
      <p:sp>
        <p:nvSpPr>
          <p:cNvPr id="17" name="Text 10"/>
          <p:cNvSpPr txBox="1"/>
          <p:nvPr/>
        </p:nvSpPr>
        <p:spPr>
          <a:xfrm>
            <a:off x="1005840" y="3593592"/>
            <a:ext cx="7680960" cy="384048"/>
          </a:xfrm>
          <a:prstGeom prst="rect">
            <a:avLst/>
          </a:prstGeom>
          <a:noFill/>
          <a:ln/>
        </p:spPr>
        <p:txBody>
          <a:bodyPr wrap="square" lIns="0" tIns="0" rIns="0" bIns="0" rtlCol="0" anchor="ctr"/>
          <a:lstStyle/>
          <a:p>
            <a:pPr indent="0" marL="0">
              <a:buNone/>
            </a:pPr>
            <a:r>
              <a:rPr lang="en-US" sz="1400" dirty="0">
                <a:solidFill>
                  <a:schemeClr val="tx1"/>
                </a:solidFill>
              </a:rPr>
              <a:t>Levels.fyi compensation data as quoted by Kizzy Consulting (Oct 2026)</a:t>
            </a:r>
            <a:endParaRPr lang="en-US" sz="1400" dirty="0"/>
          </a:p>
        </p:txBody>
      </p:sp>
      <p:sp>
        <p:nvSpPr>
          <p:cNvPr id="18" name="Text 11"/>
          <p:cNvSpPr txBox="1"/>
          <p:nvPr/>
        </p:nvSpPr>
        <p:spPr>
          <a:xfrm>
            <a:off x="457200" y="4251960"/>
            <a:ext cx="7863840" cy="411480"/>
          </a:xfrm>
          <a:prstGeom prst="rect">
            <a:avLst/>
          </a:prstGeom>
          <a:noFill/>
          <a:ln/>
        </p:spPr>
        <p:txBody>
          <a:bodyPr wrap="square" lIns="0" tIns="0" rIns="0" bIns="0" rtlCol="0" anchor="t"/>
          <a:lstStyle/>
          <a:p>
            <a:pPr indent="0" marL="0">
              <a:buNone/>
            </a:pPr>
            <a:r>
              <a:rPr lang="en-US" sz="1200" i="1" dirty="0">
                <a:solidFill>
                  <a:schemeClr val="tx2"/>
                </a:solidFill>
              </a:rPr>
              <a:t>The three SlideShare links and the YouTube Short could not be opened (blocked pages), so other public sources were used instead.</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FDE Roadmap">
  <a:themeElements>
    <a:clrScheme name="FDE Roadmap">
      <a:dk1>
        <a:srgbClr val="10222B"/>
      </a:dk1>
      <a:lt1>
        <a:srgbClr val="FFFFFF"/>
      </a:lt1>
      <a:dk2>
        <a:srgbClr val="1B4150"/>
      </a:dk2>
      <a:lt2>
        <a:srgbClr val="EDF4F2"/>
      </a:lt2>
      <a:accent1>
        <a:srgbClr val="12877B"/>
      </a:accent1>
      <a:accent2>
        <a:srgbClr val="FFB020"/>
      </a:accent2>
      <a:accent3>
        <a:srgbClr val="F2655A"/>
      </a:accent3>
      <a:accent4>
        <a:srgbClr val="6C63D9"/>
      </a:accent4>
      <a:accent5>
        <a:srgbClr val="3C8DDE"/>
      </a:accent5>
      <a:accent6>
        <a:srgbClr val="5FB65A"/>
      </a:accent6>
      <a:hlink>
        <a:srgbClr val="12877B"/>
      </a:hlink>
      <a:folHlink>
        <a:srgbClr val="6C63D9"/>
      </a:folHlink>
    </a:clrScheme>
    <a:fontScheme name="FDE Roadm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Forward Deployed Engineer: Roadmap from Zero</dc:title>
  <dc:subject>PptxGenJS Presentation</dc:subject>
  <dc:creator>PptxGenJS</dc:creator>
  <cp:lastModifiedBy>PptxGenJS</cp:lastModifiedBy>
  <cp:revision>1</cp:revision>
  <dcterms:created xsi:type="dcterms:W3CDTF">2026-10-30T02:49:20Z</dcterms:created>
  <dcterms:modified xsi:type="dcterms:W3CDTF">2026-10-30T02:49:20Z</dcterms:modified>
</cp:coreProperties>
</file>